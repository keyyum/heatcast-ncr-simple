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3ee896f-aa68-b3d4-e357-76b9dc7d1c0b}">
          <p14:sldIdLst>
            <p14:sldId id="256"/>
            <p14:sldId id="257"/>
            <p14:sldId id="258"/>
            <p14:sldId id="259"/>
          </p14:sldIdLst>
        </p14:section>
        <p14:section name="Data" id="{642d9082-6aac-3bbe-fb1a-e9c7fcdd40b4}">
          <p14:sldIdLst>
            <p14:sldId id="260"/>
          </p14:sldIdLst>
        </p14:section>
        <p14:section name="Method" id="{0495b958-324b-85dc-21a3-edbbef41bb53}">
          <p14:sldIdLst>
            <p14:sldId id="261"/>
            <p14:sldId id="262"/>
            <p14:sldId id="263"/>
          </p14:sldIdLst>
        </p14:section>
        <p14:section name="Results" id="{e35a4aea-8052-c222-ffb4-a01745e82e29}">
          <p14:sldIdLst>
            <p14:sldId id="264"/>
            <p14:sldId id="265"/>
            <p14:sldId id="266"/>
          </p14:sldIdLst>
        </p14:section>
        <p14:section name="Conclusion" id="{d96605fd-4073-b8b5-5faf-dfb3b0683aea}">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1406"/>
                </a:solidFill>
                <a:latin typeface="+mn-lt"/>
              </a:defRPr>
            </a:pPr>
            <a:r>
              <a:rPr sz="1400" b="0" i="0" u="none" strike="noStrike">
                <a:solidFill>
                  <a:srgbClr val="2E1406"/>
                </a:solidFill>
                <a:latin typeface="+mn-lt"/>
              </a:rPr>
              <a:t>Share of each level by month (2021 to 2024)</a:t>
            </a:r>
          </a:p>
        </c:rich>
      </c:tx>
      <c:layout/>
      <c:overlay val="0"/>
    </c:title>
    <c:autoTitleDeleted val="0"/>
    <c:plotArea>
      <c:layout/>
      <c:barChart>
        <c:barDir val="col"/>
        <c:grouping val="percentStacked"/>
        <c:varyColors val="0"/>
        <c:ser>
          <c:idx val="0"/>
          <c:order val="0"/>
          <c:tx>
            <c:strRef>
              <c:f>Sheet1!$B$1</c:f>
              <c:strCache>
                <c:ptCount val="1"/>
                <c:pt idx="0">
                  <c:v>Not Hazardous</c:v>
                </c:pt>
              </c:strCache>
            </c:strRef>
          </c:tx>
          <c:spPr>
            <a:solidFill>
              <a:srgbClr val="4C9B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0.5</c:v>
                </c:pt>
                <c:pt idx="1">
                  <c:v>0.6</c:v>
                </c:pt>
                <c:pt idx="2">
                  <c:v>0</c:v>
                </c:pt>
                <c:pt idx="3">
                  <c:v>0</c:v>
                </c:pt>
                <c:pt idx="4">
                  <c:v>0</c:v>
                </c:pt>
                <c:pt idx="5">
                  <c:v>0</c:v>
                </c:pt>
                <c:pt idx="6">
                  <c:v>0</c:v>
                </c:pt>
                <c:pt idx="7">
                  <c:v>0</c:v>
                </c:pt>
                <c:pt idx="8">
                  <c:v>0</c:v>
                </c:pt>
                <c:pt idx="9">
                  <c:v>0</c:v>
                </c:pt>
                <c:pt idx="10">
                  <c:v>0</c:v>
                </c:pt>
                <c:pt idx="11">
                  <c:v>1</c:v>
                </c:pt>
              </c:numCache>
            </c:numRef>
          </c:val>
        </c:ser>
        <c:ser>
          <c:idx val="1"/>
          <c:order val="1"/>
          <c:tx>
            <c:strRef>
              <c:f>Sheet1!$C$1</c:f>
              <c:strCache>
                <c:ptCount val="1"/>
                <c:pt idx="0">
                  <c:v>Caution</c:v>
                </c:pt>
              </c:strCache>
            </c:strRef>
          </c:tx>
          <c:spPr>
            <a:solidFill>
              <a:srgbClr val="F2C14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62</c:v>
                </c:pt>
                <c:pt idx="1">
                  <c:v>29.3</c:v>
                </c:pt>
                <c:pt idx="2">
                  <c:v>13.5</c:v>
                </c:pt>
                <c:pt idx="3">
                  <c:v>1.9</c:v>
                </c:pt>
                <c:pt idx="4">
                  <c:v>0</c:v>
                </c:pt>
                <c:pt idx="5">
                  <c:v>0</c:v>
                </c:pt>
                <c:pt idx="6">
                  <c:v>6.3</c:v>
                </c:pt>
                <c:pt idx="7">
                  <c:v>2.8</c:v>
                </c:pt>
                <c:pt idx="8">
                  <c:v>6.3</c:v>
                </c:pt>
                <c:pt idx="9">
                  <c:v>3.2</c:v>
                </c:pt>
                <c:pt idx="10">
                  <c:v>2.2</c:v>
                </c:pt>
                <c:pt idx="11">
                  <c:v>34.6</c:v>
                </c:pt>
              </c:numCache>
            </c:numRef>
          </c:val>
        </c:ser>
        <c:ser>
          <c:idx val="2"/>
          <c:order val="2"/>
          <c:tx>
            <c:strRef>
              <c:f>Sheet1!$D$1</c:f>
              <c:strCache>
                <c:ptCount val="1"/>
                <c:pt idx="0">
                  <c:v>Extreme Caution</c:v>
                </c:pt>
              </c:strCache>
            </c:strRef>
          </c:tx>
          <c:spPr>
            <a:solidFill>
              <a:srgbClr val="F28C2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Sheet1!$D$2:$D$13</c:f>
              <c:numCache>
                <c:formatCode>General</c:formatCode>
                <c:ptCount val="12"/>
                <c:pt idx="0">
                  <c:v>37.5</c:v>
                </c:pt>
                <c:pt idx="1">
                  <c:v>70.1</c:v>
                </c:pt>
                <c:pt idx="2">
                  <c:v>83.6</c:v>
                </c:pt>
                <c:pt idx="3">
                  <c:v>86</c:v>
                </c:pt>
                <c:pt idx="4">
                  <c:v>68.9</c:v>
                </c:pt>
                <c:pt idx="5">
                  <c:v>78.1</c:v>
                </c:pt>
                <c:pt idx="6">
                  <c:v>84.8</c:v>
                </c:pt>
                <c:pt idx="7">
                  <c:v>89.9</c:v>
                </c:pt>
                <c:pt idx="8">
                  <c:v>86.9</c:v>
                </c:pt>
                <c:pt idx="9">
                  <c:v>96.1</c:v>
                </c:pt>
                <c:pt idx="10">
                  <c:v>95.8</c:v>
                </c:pt>
                <c:pt idx="11">
                  <c:v>64.4</c:v>
                </c:pt>
              </c:numCache>
            </c:numRef>
          </c:val>
        </c:ser>
        <c:ser>
          <c:idx val="3"/>
          <c:order val="3"/>
          <c:tx>
            <c:strRef>
              <c:f>Sheet1!$E$1</c:f>
              <c:strCache>
                <c:ptCount val="1"/>
                <c:pt idx="0">
                  <c:v>Danger</c:v>
                </c:pt>
              </c:strCache>
            </c:strRef>
          </c:tx>
          <c:spPr>
            <a:solidFill>
              <a:srgbClr val="C039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Sheet1!$E$2:$E$13</c:f>
              <c:numCache>
                <c:formatCode>General</c:formatCode>
                <c:ptCount val="12"/>
                <c:pt idx="0">
                  <c:v>0</c:v>
                </c:pt>
                <c:pt idx="1">
                  <c:v>0</c:v>
                </c:pt>
                <c:pt idx="2">
                  <c:v>2.9</c:v>
                </c:pt>
                <c:pt idx="3">
                  <c:v>12.1</c:v>
                </c:pt>
                <c:pt idx="4">
                  <c:v>31.1</c:v>
                </c:pt>
                <c:pt idx="5">
                  <c:v>21.9</c:v>
                </c:pt>
                <c:pt idx="6">
                  <c:v>8.9</c:v>
                </c:pt>
                <c:pt idx="7">
                  <c:v>7.3</c:v>
                </c:pt>
                <c:pt idx="8">
                  <c:v>6.8</c:v>
                </c:pt>
                <c:pt idx="9">
                  <c:v>0.8</c:v>
                </c:pt>
                <c:pt idx="10">
                  <c:v>2</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5C51"/>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9D9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F5C5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E140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E1406"/>
                </a:solidFill>
                <a:latin typeface="+mn-lt"/>
              </a:defRPr>
            </a:pPr>
            <a:r>
              <a:rPr sz="1500" b="0" i="0" u="none" strike="noStrike">
                <a:solidFill>
                  <a:srgbClr val="2E1406"/>
                </a:solidFill>
                <a:latin typeface="+mn-lt"/>
              </a:rPr>
              <a:t>Score (0 to 1, higher is better)</a:t>
            </a:r>
          </a:p>
        </c:rich>
      </c:tx>
      <c:layout/>
      <c:overlay val="0"/>
    </c:title>
    <c:autoTitleDeleted val="0"/>
    <c:plotArea>
      <c:layout/>
      <c:barChart>
        <c:barDir val="bar"/>
        <c:grouping val="clustered"/>
        <c:varyColors val="0"/>
        <c:ser>
          <c:idx val="0"/>
          <c:order val="0"/>
          <c:tx>
            <c:strRef>
              <c:f>Sheet1!$B$1</c:f>
              <c:strCache>
                <c:ptCount val="1"/>
                <c:pt idx="0">
                  <c:v>Score</c:v>
                </c:pt>
              </c:strCache>
            </c:strRef>
          </c:tx>
          <c:spPr>
            <a:solidFill>
              <a:srgbClr val="E9A26B"/>
            </a:solidFill>
            <a:effectLst/>
          </c:spPr>
          <c:invertIfNegative val="0"/>
          <c:dLbls>
            <c:numFmt formatCode="0.000" sourceLinked="0"/>
            <c:txPr>
              <a:bodyPr/>
              <a:lstStyle/>
              <a:p>
                <a:pPr>
                  <a:defRPr b="0" i="0" strike="noStrike" sz="1300" u="none">
                    <a:solidFill>
                      <a:srgbClr val="2E1406"/>
                    </a:solidFill>
                    <a:latin typeface="+mn-lt"/>
                  </a:defRPr>
                </a:pPr>
              </a:p>
            </c:txPr>
            <c:showLegendKey val="0"/>
            <c:showVal val="1"/>
            <c:showCatName val="0"/>
            <c:showSerName val="0"/>
            <c:showPercent val="0"/>
            <c:showBubbleSize val="0"/>
            <c:showLeaderLines val="0"/>
          </c:dLbls>
          <c:cat>
            <c:multiLvlStrRef>
              <c:f>Sheet1!$A$2:$A$5</c:f>
              <c:multiLvlStrCache>
                <c:ptCount val="4"/>
                <c:lvl>
                  <c:pt idx="0">
                    <c:v>Copy-today rule</c:v>
                  </c:pt>
                  <c:pt idx="1">
                    <c:v>Logistic Regression</c:v>
                  </c:pt>
                  <c:pt idx="2">
                    <c:v>Random Forest</c:v>
                  </c:pt>
                  <c:pt idx="3">
                    <c:v>Gradient Boosting</c:v>
                  </c:pt>
                </c:lvl>
              </c:multiLvlStrCache>
            </c:multiLvlStrRef>
          </c:cat>
          <c:val>
            <c:numRef>
              <c:f>Sheet1!$B$2:$B$5</c:f>
              <c:numCache>
                <c:formatCode>General</c:formatCode>
                <c:ptCount val="4"/>
                <c:pt idx="0">
                  <c:v>0.679</c:v>
                </c:pt>
                <c:pt idx="1">
                  <c:v>0.632</c:v>
                </c:pt>
                <c:pt idx="2">
                  <c:v>0.653</c:v>
                </c:pt>
                <c:pt idx="3">
                  <c:v>0.643</c:v>
                </c:pt>
              </c:numCache>
            </c:numRef>
          </c:val>
        </c:ser>
        <c:dLbls>
          <c:numFmt formatCode="0.000" sourceLinked="0"/>
          <c:txPr>
            <a:bodyPr/>
            <a:lstStyle/>
            <a:p>
              <a:pPr>
                <a:defRPr b="0" i="0" strike="noStrike" sz="1300" u="none">
                  <a:solidFill>
                    <a:srgbClr val="2E140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E1406"/>
                </a:solidFill>
                <a:latin typeface="+mn-lt"/>
              </a:defRPr>
            </a:pPr>
            <a:endParaRPr lang="en-US"/>
          </a:p>
        </c:txPr>
        <c:crossAx val="2094734552"/>
        <c:crosses val="autoZero"/>
        <c:auto val="1"/>
        <c:lblAlgn val="ctr"/>
        <c:noMultiLvlLbl val="1"/>
      </c:catAx>
      <c:valAx>
        <c:axId val="2094734552"/>
        <c:scaling>
          <c:orientation val="minMax"/>
          <c:max val="0.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E1406"/>
                </a:solidFill>
                <a:latin typeface="+mn-lt"/>
              </a:defRPr>
            </a:pPr>
            <a:r>
              <a:rPr sz="1500" b="0" i="0" u="none" strike="noStrike">
                <a:solidFill>
                  <a:srgbClr val="2E1406"/>
                </a:solidFill>
                <a:latin typeface="+mn-lt"/>
              </a:rPr>
              <a:t>Danger days caught</a:t>
            </a:r>
          </a:p>
        </c:rich>
      </c:tx>
      <c:layout/>
      <c:overlay val="0"/>
    </c:title>
    <c:autoTitleDeleted val="0"/>
    <c:plotArea>
      <c:layout/>
      <c:barChart>
        <c:barDir val="bar"/>
        <c:grouping val="clustered"/>
        <c:varyColors val="0"/>
        <c:ser>
          <c:idx val="0"/>
          <c:order val="0"/>
          <c:tx>
            <c:strRef>
              <c:f>Sheet1!$B$1</c:f>
              <c:strCache>
                <c:ptCount val="1"/>
                <c:pt idx="0">
                  <c:v>Danger days caught</c:v>
                </c:pt>
              </c:strCache>
            </c:strRef>
          </c:tx>
          <c:spPr>
            <a:solidFill>
              <a:srgbClr val="A63A0C"/>
            </a:solidFill>
            <a:effectLst/>
          </c:spPr>
          <c:invertIfNegative val="0"/>
          <c:dLbls>
            <c:numFmt formatCode="0%" sourceLinked="0"/>
            <c:txPr>
              <a:bodyPr/>
              <a:lstStyle/>
              <a:p>
                <a:pPr>
                  <a:defRPr b="0" i="0" strike="noStrike" sz="1300" u="none">
                    <a:solidFill>
                      <a:srgbClr val="2E1406"/>
                    </a:solidFill>
                    <a:latin typeface="+mn-lt"/>
                  </a:defRPr>
                </a:pPr>
              </a:p>
            </c:txPr>
            <c:showLegendKey val="0"/>
            <c:showVal val="1"/>
            <c:showCatName val="0"/>
            <c:showSerName val="0"/>
            <c:showPercent val="0"/>
            <c:showBubbleSize val="0"/>
            <c:showLeaderLines val="0"/>
          </c:dLbls>
          <c:cat>
            <c:multiLvlStrRef>
              <c:f>Sheet1!$A$2:$A$5</c:f>
              <c:multiLvlStrCache>
                <c:ptCount val="4"/>
                <c:lvl>
                  <c:pt idx="0">
                    <c:v>Copy-today rule</c:v>
                  </c:pt>
                  <c:pt idx="1">
                    <c:v>Logistic Regression</c:v>
                  </c:pt>
                  <c:pt idx="2">
                    <c:v>Random Forest</c:v>
                  </c:pt>
                  <c:pt idx="3">
                    <c:v>Gradient Boosting</c:v>
                  </c:pt>
                </c:lvl>
              </c:multiLvlStrCache>
            </c:multiLvlStrRef>
          </c:cat>
          <c:val>
            <c:numRef>
              <c:f>Sheet1!$B$2:$B$5</c:f>
              <c:numCache>
                <c:formatCode>General</c:formatCode>
                <c:ptCount val="4"/>
                <c:pt idx="0">
                  <c:v>0.518</c:v>
                </c:pt>
                <c:pt idx="1">
                  <c:v>0.276</c:v>
                </c:pt>
                <c:pt idx="2">
                  <c:v>0.672</c:v>
                </c:pt>
                <c:pt idx="3">
                  <c:v>0.67</c:v>
                </c:pt>
              </c:numCache>
            </c:numRef>
          </c:val>
        </c:ser>
        <c:dLbls>
          <c:numFmt formatCode="0%" sourceLinked="0"/>
          <c:txPr>
            <a:bodyPr/>
            <a:lstStyle/>
            <a:p>
              <a:pPr>
                <a:defRPr b="0" i="0" strike="noStrike" sz="1300" u="none">
                  <a:solidFill>
                    <a:srgbClr val="2E140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2E1406"/>
                </a:solidFill>
                <a:latin typeface="+mn-lt"/>
              </a:defRPr>
            </a:pPr>
            <a:endParaRPr lang="en-US"/>
          </a:p>
        </c:txPr>
        <c:crossAx val="2094734552"/>
        <c:crosses val="autoZero"/>
        <c:auto val="1"/>
        <c:lblAlgn val="ctr"/>
        <c:noMultiLvlLbl val="1"/>
      </c:catAx>
      <c:valAx>
        <c:axId val="2094734552"/>
        <c:scaling>
          <c:orientation val="minMax"/>
          <c:max val="0.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EDRIAN (20 seconds)
Good morning. We are Edrian, Harry and Marc, and this is HeatCast NCR. Our question: can machine learning predict tomorrow's heat level in Metro Manila better than just copying today's level? Let's start with a simple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EDRIAN (30 seconds)
Here is our question as an example. Today Manila's heat index reached 44 degrees, which is Danger. Tomorrow can go three ways: hotter, Extreme Danger; the same level, Danger again; or cooler. HeatCast NCR has to pick one of these, for each of the 16 cities, every day. So which one happens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EDRIAN (20 seconds)
Most often, the same level. Each square here is one percent of the city-days in 2025. In 82 out of every 100, tomorrow's level was the same as today's. So the simplest forecast, copy today, is already right most of the time. We call it the copy-today rule, and the real question of our project is whether machine learning can beat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HARRY (50 seconds)
Thanks, Edrian. The heat index is how hot it feels when you combine temperature and humidity. PAGASA groups it into five levels; Danger starts at 42 degrees. Schools, employers of outdoor workers and city offices need to know a day ahead whether tomorrow will reach Danger. Our data covers the 16 cities of Metro Manila from 2021 to 2025: 29,168 rows, one per city per day. Each row has five weather readings about today, and the answer is tomorrow's level in the same city. The weather comes from Open-Meteo's hourly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 (1 minute)
Before building models, we explored the data, using only the training years. Three findings changed our decisions. One: Danger is rare, 8% of city-days, while 78.5% are Extreme Caution. So a lazy model that always says Extreme Caution is already 78% correct. That is why we do not judge the models by percent correct. Two, in the chart: the red part is Danger. It peaks from April to June, nearly one in three May days, and it never happens from December to February. So we split the data by time, the way a real forecast works. Three: cities are different. Malabon, Navotas and Valenzuela have Danger on 17% of days, Muntinlupa and San Juan on only 2%. So each city keeps its own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HARRY (1 minute)
To compare the models fairly, think of an exam. All three models studied the same days, 2021 to 2024, and took the same final exam, 2025, which we opened only once at the very end. While choosing settings, each model took five practice quizzes: it studies earlier days and is quizzed on the days right after, never the other way around, because we cannot use the future to predict the past. The score counts Caution, Extreme Caution and Danger equally, from 0 to 1. Our rule, fixed before the final exam: first, a model must catch more Danger days than the copy-today rule; then the best score wins. Technically this is a chronological split with time-series cross-validation, and the score is macro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 (40 seconds)
Every forecast is sometimes wrong, and it can be wrong in two ways. One: it misses a real Danger day, so nobody prepares, students play outside at 44 degrees, and someone may get sick. Two: a false alarm, so activities are moved indoors on a day that was not that hot. We decided the first mistake is worse: a missed Danger day can hurt people, while a false alarm only costs a change of plans. That is why our rule asks a model to catch more Danger days first. Keep this in mind for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HARRY, EDRIAN, MARC (1 minute 15 (about 25 seconds each))
HARRY: Here are the practice-quiz results. Top chart: the score. Bottom chart: the share of Danger days each one caught. Look at the copy-today rule at the top: its score, 0.679, is the highest. None of our models beat it on score. My model, Logistic Regression, draws straight dividing lines between levels. It was careful, but it caught only 28% of Danger days, even fewer than copying today.
EDRIAN: Random Forest is 500 decision trees that vote. We told it that Danger days matter more, and it caught 67% of them, more than copy-today, with the best score of our three. By our rule, it was selected.
MARC: Gradient Boosting builds trees one after another, each fixing the last one's mistakes. It was almost tied with Random Forest, 0.643 against 0.653, so either would have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 (25 seconds)
Now the final exam, 2025, which we opened only once. There were 347 Danger days across the 16 cities. Copying today warned about 207 of them, 60%. Our Random Forest warned about 293, 84%. That is 86 more Danger days with a warning the day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 (50 seconds)
Here is the full picture. Catching 293 Danger days has a price: when it warned Danger, it was right only 36% of the time, about two false alarms for every real Danger day. And its overall score, 0.61, is below copy-today's 0.68. Remember our choice: we said missing a Danger day is worse than a false alarm. So it is not a better all-round forecaster, but it is a good early warning. Edrian will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EDRIAN (1 minute 45)
BEFORE THE TALK: open heatcast-ncr.streamlit.app; the first load can take about a minute. If the internet fails, show this screenshot, or run it locally with: streamlit run app/streamlit_app.py.
Let's try it with Manila. (Choose it at the top; the city lights up blue on the map.) Say today was very hot there: heat index 45.5, lowest temperature 29, rain 0, pressure 1008, sunshine 7000. Click the button. It predicts the level for tomorrow with the probability of each level, and the city takes that level's colour on the map. It also reminds users it is a decision aid, not a PAGASA advisory. Now a mistake on purpose: rain of minus 5. The app refuses it and shows the accepted range. And if we clear the form and click, it names every missing value instead of guessing. This is the same saved model that took the final exam, and the input checks are covered by 51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HARRY (50 seconds)
So, our answer: no, none of our models beat simply copying today's level on overall score. Tomorrow's heat is mostly today's heat. But machine learning adds something specific: when we told the Random Forest that Danger days matter more, it caught 84% of them in 2025, so we deployed it as an early warning. Its limits: the weather values are estimates, not station readings, and we used only five years. Next we would add the month and the previous days, a weather forecast for tomorrow, and more years.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(Q&amp;A)
Thank you. We are happy to take questions. The next slide is a backup with plain meanings of the technical words, in case a question 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IF ASKED (only during Q&amp;A)
Use this slide only if a question needs it. Likely questions: Why not percent correct? Because Danger is rare; always saying Extreme Caution is already 78% correct. Why split by time? Because we forecast the future; a random split would let a model peek at the same days. Why Random Forest over Gradient Boosting? Our rule picked the best score among the models that catch more Danger days; the two were almost tied. Why did no model beat copy-today? Tomorrow's level is the same as today's on most days, and the models only see today's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347472"/>
            <a:ext cx="11368735" cy="6163056"/>
          </a:xfrm>
          <a:prstGeom prst="rect">
            <a:avLst/>
          </a:prstGeom>
          <a:ln w="22225">
            <a:solidFill>
              <a:srgbClr val="FFFFFF"/>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
    <p:bg>
      <p:bgPr>
        <a:solidFill>
          <a:srgbClr val="2E1406"/>
        </a:solidFill>
      </p:bgPr>
    </p:bg>
    <p:spTree>
      <p:nvGrpSpPr>
        <p:cNvPr id="1" name=""/>
        <p:cNvGrpSpPr/>
        <p:nvPr/>
      </p:nvGrpSpPr>
      <p:grpSpPr>
        <a:xfrm>
          <a:off x="0" y="0"/>
          <a:ext cx="0" cy="0"/>
          <a:chOff x="0" y="0"/>
          <a:chExt cx="0" cy="0"/>
        </a:xfrm>
      </p:grpSpPr>
      <p:sp>
        <p:nvSpPr>
          <p:cNvPr id="2" name="Shape 0"/>
          <p:cNvSpPr/>
          <p:nvPr/>
        </p:nvSpPr>
        <p:spPr>
          <a:xfrm>
            <a:off x="411480" y="347472"/>
            <a:ext cx="11368735" cy="6163056"/>
          </a:xfrm>
          <a:prstGeom prst="rect">
            <a:avLst/>
          </a:prstGeom>
          <a:ln w="9525">
            <a:solidFill>
              <a:srgbClr val="F6C9A0"/>
            </a:solidFill>
            <a:prstDash val="solid"/>
          </a:ln>
        </p:spPr>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6C9A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4EC"/>
        </a:solidFill>
      </p:bgPr>
    </p:bg>
    <p:spTree>
      <p:nvGrpSpPr>
        <p:cNvPr id="1" name=""/>
        <p:cNvGrpSpPr/>
        <p:nvPr/>
      </p:nvGrpSpPr>
      <p:grpSpPr>
        <a:xfrm>
          <a:off x="0" y="0"/>
          <a:ext cx="0" cy="0"/>
          <a:chOff x="0" y="0"/>
          <a:chExt cx="0" cy="0"/>
        </a:xfrm>
      </p:grpSpPr>
      <p:sp>
        <p:nvSpPr>
          <p:cNvPr id="2" name="Shape 0"/>
          <p:cNvSpPr/>
          <p:nvPr/>
        </p:nvSpPr>
        <p:spPr>
          <a:xfrm>
            <a:off x="411480" y="347472"/>
            <a:ext cx="11368735" cy="6163056"/>
          </a:xfrm>
          <a:prstGeom prst="rect">
            <a:avLst/>
          </a:prstGeom>
          <a:ln w="9525">
            <a:solidFill>
              <a:srgbClr val="2E1406"/>
            </a:solidFill>
            <a:prstDash val="solid"/>
          </a:ln>
        </p:spPr>
      </p:sp>
      <p:sp>
        <p:nvSpPr>
          <p:cNvPr id="3" name="Text 1"/>
          <p:cNvSpPr/>
          <p:nvPr>
            <p:ph idx="101" type="title" hasCustomPrompt="1"/>
          </p:nvPr>
        </p:nvSpPr>
        <p:spPr>
          <a:xfrm>
            <a:off x="868680" y="640080"/>
            <a:ext cx="10469880" cy="685800"/>
          </a:xfrm>
          <a:prstGeom prst="rect">
            <a:avLst/>
          </a:prstGeom>
          <a:noFill/>
          <a:ln/>
        </p:spPr>
        <p:txBody>
          <a:bodyPr wrap="square" rtlCol="0"/>
          <a:lstStyle>
            <a:lvl1pPr algn="ctr" indent="0" marL="0">
              <a:buNone/>
              <a:defRPr lang="en-US" sz="3400" spc="500" kern="0" dirty="0">
                <a:solidFill>
                  <a:schemeClr val="tx1"/>
                </a:solidFill>
                <a:latin typeface="Cambria" pitchFamily="34" charset="0"/>
                <a:ea typeface="Cambria" pitchFamily="34" charset="-122"/>
                <a:cs typeface="Cambria" pitchFamily="34" charset="-120"/>
              </a:defRPr>
            </a:lvl1pPr>
          </a:lstStyle>
          <a:p>
            <a:pPr algn="ctr" indent="0" marL="0">
              <a:buNone/>
            </a:pPr>
            <a:endParaRPr lang="en-US" sz="34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6C9A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uthors"/>
          <p:cNvSpPr txBox="1"/>
          <p:nvPr/>
        </p:nvSpPr>
        <p:spPr>
          <a:xfrm>
            <a:off x="2804008" y="960120"/>
            <a:ext cx="6583680" cy="411480"/>
          </a:xfrm>
          <a:prstGeom prst="roundRect">
            <a:avLst>
              <a:gd name="adj" fmla="val 17778"/>
            </a:avLst>
          </a:prstGeom>
          <a:solidFill>
            <a:srgbClr val="FFFFFF"/>
          </a:solidFill>
          <a:ln/>
        </p:spPr>
        <p:txBody>
          <a:bodyPr wrap="square" rtlCol="0" anchor="ctr"/>
          <a:lstStyle/>
          <a:p>
            <a:pPr algn="ctr" indent="0" marL="0">
              <a:buNone/>
            </a:pPr>
            <a:r>
              <a:rPr lang="en-US" sz="1500" dirty="0">
                <a:solidFill>
                  <a:schemeClr val="tx1"/>
                </a:solidFill>
              </a:rPr>
              <a:t>Edrian Tala   ·   Harry Verdeflor   ·   Marc Lawrence David</a:t>
            </a:r>
            <a:endParaRPr lang="en-US" sz="1500" dirty="0"/>
          </a:p>
        </p:txBody>
      </p:sp>
      <p:sp>
        <p:nvSpPr>
          <p:cNvPr id="3" name="Title"/>
          <p:cNvSpPr txBox="1"/>
          <p:nvPr/>
        </p:nvSpPr>
        <p:spPr>
          <a:xfrm>
            <a:off x="822960" y="2240280"/>
            <a:ext cx="10545775" cy="1097280"/>
          </a:xfrm>
          <a:prstGeom prst="rect">
            <a:avLst/>
          </a:prstGeom>
          <a:noFill/>
          <a:ln/>
        </p:spPr>
        <p:txBody>
          <a:bodyPr wrap="square" rtlCol="0" anchor="ctr"/>
          <a:lstStyle/>
          <a:p>
            <a:pPr algn="ctr" indent="0" marL="0">
              <a:buNone/>
            </a:pPr>
            <a:r>
              <a:rPr lang="en-US" sz="6600" spc="1600" kern="0" dirty="0">
                <a:solidFill>
                  <a:schemeClr val="tx1"/>
                </a:solidFill>
                <a:latin typeface="Cambria" pitchFamily="34" charset="0"/>
                <a:ea typeface="Cambria" pitchFamily="34" charset="-122"/>
                <a:cs typeface="Cambria" pitchFamily="34" charset="-120"/>
              </a:rPr>
              <a:t>HEATCAST NCR</a:t>
            </a:r>
            <a:endParaRPr lang="en-US" sz="6600" dirty="0"/>
          </a:p>
        </p:txBody>
      </p:sp>
      <p:sp>
        <p:nvSpPr>
          <p:cNvPr id="4" name="Question"/>
          <p:cNvSpPr txBox="1"/>
          <p:nvPr/>
        </p:nvSpPr>
        <p:spPr>
          <a:xfrm>
            <a:off x="1463040" y="3429000"/>
            <a:ext cx="9265615" cy="822960"/>
          </a:xfrm>
          <a:prstGeom prst="rect">
            <a:avLst/>
          </a:prstGeom>
          <a:noFill/>
          <a:ln/>
        </p:spPr>
        <p:txBody>
          <a:bodyPr wrap="square" rtlCol="0" anchor="t"/>
          <a:lstStyle/>
          <a:p>
            <a:pPr algn="ctr" indent="0" marL="0">
              <a:buNone/>
            </a:pPr>
            <a:r>
              <a:rPr lang="en-US" sz="2400" i="1" dirty="0">
                <a:solidFill>
                  <a:srgbClr val="A63A0C"/>
                </a:solidFill>
                <a:latin typeface="Cambria" pitchFamily="34" charset="0"/>
                <a:ea typeface="Cambria" pitchFamily="34" charset="-122"/>
                <a:cs typeface="Cambria" pitchFamily="34" charset="-120"/>
              </a:rPr>
              <a:t>Can machine learning predict tomorrow's heat level in Metro Manila better than just copying today's?</a:t>
            </a:r>
            <a:endParaRPr lang="en-US" sz="2400" dirty="0"/>
          </a:p>
        </p:txBody>
      </p:sp>
      <p:sp>
        <p:nvSpPr>
          <p:cNvPr id="5" name="Course"/>
          <p:cNvSpPr txBox="1"/>
          <p:nvPr/>
        </p:nvSpPr>
        <p:spPr>
          <a:xfrm>
            <a:off x="1371600" y="5577840"/>
            <a:ext cx="9448495" cy="365760"/>
          </a:xfrm>
          <a:prstGeom prst="rect">
            <a:avLst/>
          </a:prstGeom>
          <a:noFill/>
          <a:ln/>
        </p:spPr>
        <p:txBody>
          <a:bodyPr wrap="square" rtlCol="0" anchor="ctr"/>
          <a:lstStyle/>
          <a:p>
            <a:pPr algn="ctr" indent="0" marL="0">
              <a:buNone/>
            </a:pPr>
            <a:r>
              <a:rPr lang="en-US" sz="1400" dirty="0">
                <a:solidFill>
                  <a:schemeClr val="tx1"/>
                </a:solidFill>
              </a:rPr>
              <a:t>CCMACLRL Introduction to Machine Learning  ·  COM241ML  ·  Dr. Armida P. Salazar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OUR QUESTION</a:t>
            </a:r>
            <a:endParaRPr lang="en-US" sz="3400" dirty="0"/>
          </a:p>
        </p:txBody>
      </p:sp>
      <p:sp>
        <p:nvSpPr>
          <p:cNvPr id="3" name="Subtitle pill"/>
          <p:cNvSpPr txBox="1"/>
          <p:nvPr/>
        </p:nvSpPr>
        <p:spPr>
          <a:xfrm>
            <a:off x="4449928" y="1417320"/>
            <a:ext cx="3291840" cy="420624"/>
          </a:xfrm>
          <a:prstGeom prst="rect">
            <a:avLst/>
          </a:prstGeom>
          <a:solidFill>
            <a:srgbClr val="F6C9A0"/>
          </a:solidFill>
          <a:ln/>
        </p:spPr>
        <p:txBody>
          <a:bodyPr wrap="square" lIns="50800" tIns="50800" rIns="50800" bIns="50800" rtlCol="0" anchor="ctr"/>
          <a:lstStyle/>
          <a:p>
            <a:pPr algn="ctr" indent="0" marL="0">
              <a:buNone/>
            </a:pPr>
            <a:r>
              <a:rPr lang="en-US" sz="1500" spc="100" kern="0" dirty="0">
                <a:solidFill>
                  <a:srgbClr val="2E1406"/>
                </a:solidFill>
              </a:rPr>
              <a:t>One city, one day ahead</a:t>
            </a:r>
            <a:endParaRPr lang="en-US" sz="1500" dirty="0"/>
          </a:p>
        </p:txBody>
      </p:sp>
      <p:sp>
        <p:nvSpPr>
          <p:cNvPr id="4" name="Example"/>
          <p:cNvSpPr txBox="1"/>
          <p:nvPr/>
        </p:nvSpPr>
        <p:spPr>
          <a:xfrm>
            <a:off x="1097280" y="1965960"/>
            <a:ext cx="9997135" cy="914400"/>
          </a:xfrm>
          <a:prstGeom prst="rect">
            <a:avLst/>
          </a:prstGeom>
          <a:noFill/>
          <a:ln/>
        </p:spPr>
        <p:txBody>
          <a:bodyPr wrap="square" rtlCol="0" anchor="ctr"/>
          <a:lstStyle/>
          <a:p>
            <a:pPr algn="ctr" indent="0" marL="0">
              <a:buNone/>
            </a:pPr>
            <a:r>
              <a:rPr lang="en-US" sz="2800" dirty="0">
                <a:solidFill>
                  <a:srgbClr val="2E1406"/>
                </a:solidFill>
                <a:latin typeface="Cambria" pitchFamily="34" charset="0"/>
                <a:ea typeface="Cambria" pitchFamily="34" charset="-122"/>
                <a:cs typeface="Cambria" pitchFamily="34" charset="-120"/>
              </a:rPr>
              <a:t>Today, Manila's heat index reached 44 °C, which is Danger. Tomorrow can go one of three ways:</a:t>
            </a:r>
            <a:endParaRPr lang="en-US" sz="2800" dirty="0"/>
          </a:p>
        </p:txBody>
      </p:sp>
      <p:sp>
        <p:nvSpPr>
          <p:cNvPr id="5" name="Outcome Hotter"/>
          <p:cNvSpPr/>
          <p:nvPr/>
        </p:nvSpPr>
        <p:spPr>
          <a:xfrm>
            <a:off x="868680" y="3063240"/>
            <a:ext cx="3374136" cy="2377440"/>
          </a:xfrm>
          <a:prstGeom prst="rect">
            <a:avLst/>
          </a:prstGeom>
          <a:solidFill>
            <a:srgbClr val="FDEBDC"/>
          </a:solidFill>
          <a:ln/>
        </p:spPr>
      </p:sp>
      <p:pic>
        <p:nvPicPr>
          <p:cNvPr id="6" name="Outcome icon 1" descr="Hotter">    </p:cNvPr>
          <p:cNvPicPr>
            <a:picLocks noChangeAspect="1"/>
          </p:cNvPicPr>
          <p:nvPr/>
        </p:nvPicPr>
        <p:blipFill>
          <a:blip r:embed="rId1"/>
          <a:stretch>
            <a:fillRect/>
          </a:stretch>
        </p:blipFill>
        <p:spPr>
          <a:xfrm>
            <a:off x="1143000" y="3337560"/>
            <a:ext cx="731520" cy="731520"/>
          </a:xfrm>
          <a:prstGeom prst="rect">
            <a:avLst/>
          </a:prstGeom>
        </p:spPr>
      </p:pic>
      <p:sp>
        <p:nvSpPr>
          <p:cNvPr id="7" name="Outcome head 1"/>
          <p:cNvSpPr txBox="1"/>
          <p:nvPr/>
        </p:nvSpPr>
        <p:spPr>
          <a:xfrm>
            <a:off x="2057400" y="3337560"/>
            <a:ext cx="1911096" cy="731520"/>
          </a:xfrm>
          <a:prstGeom prst="rect">
            <a:avLst/>
          </a:prstGeom>
          <a:noFill/>
          <a:ln/>
        </p:spPr>
        <p:txBody>
          <a:bodyPr wrap="square" lIns="0" tIns="0" rIns="0" bIns="0" rtlCol="0" anchor="ctr"/>
          <a:lstStyle/>
          <a:p>
            <a:pPr indent="0" marL="0">
              <a:buNone/>
            </a:pPr>
            <a:r>
              <a:rPr lang="en-US" sz="2600" dirty="0">
                <a:solidFill>
                  <a:srgbClr val="2E1406"/>
                </a:solidFill>
                <a:latin typeface="Cambria" pitchFamily="34" charset="0"/>
                <a:ea typeface="Cambria" pitchFamily="34" charset="-122"/>
                <a:cs typeface="Cambria" pitchFamily="34" charset="-120"/>
              </a:rPr>
              <a:t>Hotter</a:t>
            </a:r>
            <a:endParaRPr lang="en-US" sz="2600" dirty="0"/>
          </a:p>
        </p:txBody>
      </p:sp>
      <p:sp>
        <p:nvSpPr>
          <p:cNvPr id="8" name="Outcome level 1"/>
          <p:cNvSpPr txBox="1"/>
          <p:nvPr/>
        </p:nvSpPr>
        <p:spPr>
          <a:xfrm>
            <a:off x="1143000" y="4343400"/>
            <a:ext cx="2825496" cy="822960"/>
          </a:xfrm>
          <a:prstGeom prst="rect">
            <a:avLst/>
          </a:prstGeom>
          <a:solidFill>
            <a:srgbClr val="6E0000"/>
          </a:solidFill>
          <a:ln/>
        </p:spPr>
        <p:txBody>
          <a:bodyPr wrap="square" lIns="50800" tIns="50800" rIns="50800" bIns="50800" rtlCol="0" anchor="ctr"/>
          <a:lstStyle/>
          <a:p>
            <a:pPr algn="ctr" indent="0" marL="0">
              <a:buNone/>
            </a:pPr>
            <a:r>
              <a:rPr lang="en-US" sz="1700" b="1" dirty="0">
                <a:solidFill>
                  <a:srgbClr val="FFFFFF"/>
                </a:solidFill>
              </a:rPr>
              <a:t>Extreme Danger</a:t>
            </a:r>
            <a:endParaRPr lang="en-US" sz="1700" dirty="0"/>
          </a:p>
          <a:p>
            <a:pPr algn="ctr" indent="0" marL="0">
              <a:buNone/>
            </a:pPr>
            <a:r>
              <a:rPr lang="en-US" sz="1700" dirty="0">
                <a:solidFill>
                  <a:srgbClr val="FFFFFF"/>
                </a:solidFill>
              </a:rPr>
              <a:t>52 °C and up</a:t>
            </a:r>
            <a:endParaRPr lang="en-US" sz="1700" dirty="0"/>
          </a:p>
        </p:txBody>
      </p:sp>
      <p:sp>
        <p:nvSpPr>
          <p:cNvPr id="9" name="Outcome Same level"/>
          <p:cNvSpPr/>
          <p:nvPr/>
        </p:nvSpPr>
        <p:spPr>
          <a:xfrm>
            <a:off x="4416552" y="3063240"/>
            <a:ext cx="3374136" cy="2377440"/>
          </a:xfrm>
          <a:prstGeom prst="rect">
            <a:avLst/>
          </a:prstGeom>
          <a:solidFill>
            <a:srgbClr val="FDEBDC"/>
          </a:solidFill>
          <a:ln/>
        </p:spPr>
      </p:sp>
      <p:pic>
        <p:nvPicPr>
          <p:cNvPr id="10" name="Outcome icon 2" descr="Same level">    </p:cNvPr>
          <p:cNvPicPr>
            <a:picLocks noChangeAspect="1"/>
          </p:cNvPicPr>
          <p:nvPr/>
        </p:nvPicPr>
        <p:blipFill>
          <a:blip r:embed="rId2"/>
          <a:stretch>
            <a:fillRect/>
          </a:stretch>
        </p:blipFill>
        <p:spPr>
          <a:xfrm>
            <a:off x="4690872" y="3337560"/>
            <a:ext cx="731520" cy="731520"/>
          </a:xfrm>
          <a:prstGeom prst="rect">
            <a:avLst/>
          </a:prstGeom>
        </p:spPr>
      </p:pic>
      <p:sp>
        <p:nvSpPr>
          <p:cNvPr id="11" name="Outcome head 2"/>
          <p:cNvSpPr txBox="1"/>
          <p:nvPr/>
        </p:nvSpPr>
        <p:spPr>
          <a:xfrm>
            <a:off x="5605272" y="3337560"/>
            <a:ext cx="1911096" cy="731520"/>
          </a:xfrm>
          <a:prstGeom prst="rect">
            <a:avLst/>
          </a:prstGeom>
          <a:noFill/>
          <a:ln/>
        </p:spPr>
        <p:txBody>
          <a:bodyPr wrap="square" lIns="0" tIns="0" rIns="0" bIns="0" rtlCol="0" anchor="ctr"/>
          <a:lstStyle/>
          <a:p>
            <a:pPr indent="0" marL="0">
              <a:buNone/>
            </a:pPr>
            <a:r>
              <a:rPr lang="en-US" sz="2600" dirty="0">
                <a:solidFill>
                  <a:srgbClr val="2E1406"/>
                </a:solidFill>
                <a:latin typeface="Cambria" pitchFamily="34" charset="0"/>
                <a:ea typeface="Cambria" pitchFamily="34" charset="-122"/>
                <a:cs typeface="Cambria" pitchFamily="34" charset="-120"/>
              </a:rPr>
              <a:t>Same level</a:t>
            </a:r>
            <a:endParaRPr lang="en-US" sz="2600" dirty="0"/>
          </a:p>
        </p:txBody>
      </p:sp>
      <p:sp>
        <p:nvSpPr>
          <p:cNvPr id="12" name="Outcome level 2"/>
          <p:cNvSpPr txBox="1"/>
          <p:nvPr/>
        </p:nvSpPr>
        <p:spPr>
          <a:xfrm>
            <a:off x="4690872" y="4343400"/>
            <a:ext cx="2825496" cy="822960"/>
          </a:xfrm>
          <a:prstGeom prst="rect">
            <a:avLst/>
          </a:prstGeom>
          <a:solidFill>
            <a:srgbClr val="C0392B"/>
          </a:solidFill>
          <a:ln/>
        </p:spPr>
        <p:txBody>
          <a:bodyPr wrap="square" lIns="50800" tIns="50800" rIns="50800" bIns="50800" rtlCol="0" anchor="ctr"/>
          <a:lstStyle/>
          <a:p>
            <a:pPr algn="ctr" indent="0" marL="0">
              <a:buNone/>
            </a:pPr>
            <a:r>
              <a:rPr lang="en-US" sz="1700" b="1" dirty="0">
                <a:solidFill>
                  <a:srgbClr val="FFFFFF"/>
                </a:solidFill>
              </a:rPr>
              <a:t>Danger again</a:t>
            </a:r>
            <a:endParaRPr lang="en-US" sz="1700" dirty="0"/>
          </a:p>
          <a:p>
            <a:pPr algn="ctr" indent="0" marL="0">
              <a:buNone/>
            </a:pPr>
            <a:r>
              <a:rPr lang="en-US" sz="1700" dirty="0">
                <a:solidFill>
                  <a:srgbClr val="FFFFFF"/>
                </a:solidFill>
              </a:rPr>
              <a:t>42 to 51 °C</a:t>
            </a:r>
            <a:endParaRPr lang="en-US" sz="1700" dirty="0"/>
          </a:p>
        </p:txBody>
      </p:sp>
      <p:sp>
        <p:nvSpPr>
          <p:cNvPr id="13" name="Outcome Cooler"/>
          <p:cNvSpPr/>
          <p:nvPr/>
        </p:nvSpPr>
        <p:spPr>
          <a:xfrm>
            <a:off x="7964424" y="3063240"/>
            <a:ext cx="3374136" cy="2377440"/>
          </a:xfrm>
          <a:prstGeom prst="rect">
            <a:avLst/>
          </a:prstGeom>
          <a:solidFill>
            <a:srgbClr val="FDEBDC"/>
          </a:solidFill>
          <a:ln/>
        </p:spPr>
      </p:sp>
      <p:pic>
        <p:nvPicPr>
          <p:cNvPr id="14" name="Outcome icon 3" descr="Cooler">    </p:cNvPr>
          <p:cNvPicPr>
            <a:picLocks noChangeAspect="1"/>
          </p:cNvPicPr>
          <p:nvPr/>
        </p:nvPicPr>
        <p:blipFill>
          <a:blip r:embed="rId3"/>
          <a:stretch>
            <a:fillRect/>
          </a:stretch>
        </p:blipFill>
        <p:spPr>
          <a:xfrm>
            <a:off x="8238744" y="3337560"/>
            <a:ext cx="731520" cy="731520"/>
          </a:xfrm>
          <a:prstGeom prst="rect">
            <a:avLst/>
          </a:prstGeom>
        </p:spPr>
      </p:pic>
      <p:sp>
        <p:nvSpPr>
          <p:cNvPr id="15" name="Outcome head 3"/>
          <p:cNvSpPr txBox="1"/>
          <p:nvPr/>
        </p:nvSpPr>
        <p:spPr>
          <a:xfrm>
            <a:off x="9153144" y="3337560"/>
            <a:ext cx="1911096" cy="731520"/>
          </a:xfrm>
          <a:prstGeom prst="rect">
            <a:avLst/>
          </a:prstGeom>
          <a:noFill/>
          <a:ln/>
        </p:spPr>
        <p:txBody>
          <a:bodyPr wrap="square" lIns="0" tIns="0" rIns="0" bIns="0" rtlCol="0" anchor="ctr"/>
          <a:lstStyle/>
          <a:p>
            <a:pPr indent="0" marL="0">
              <a:buNone/>
            </a:pPr>
            <a:r>
              <a:rPr lang="en-US" sz="2600" dirty="0">
                <a:solidFill>
                  <a:srgbClr val="2E1406"/>
                </a:solidFill>
                <a:latin typeface="Cambria" pitchFamily="34" charset="0"/>
                <a:ea typeface="Cambria" pitchFamily="34" charset="-122"/>
                <a:cs typeface="Cambria" pitchFamily="34" charset="-120"/>
              </a:rPr>
              <a:t>Cooler</a:t>
            </a:r>
            <a:endParaRPr lang="en-US" sz="2600" dirty="0"/>
          </a:p>
        </p:txBody>
      </p:sp>
      <p:sp>
        <p:nvSpPr>
          <p:cNvPr id="16" name="Outcome level 3"/>
          <p:cNvSpPr txBox="1"/>
          <p:nvPr/>
        </p:nvSpPr>
        <p:spPr>
          <a:xfrm>
            <a:off x="8238744" y="4343400"/>
            <a:ext cx="2825496" cy="822960"/>
          </a:xfrm>
          <a:prstGeom prst="rect">
            <a:avLst/>
          </a:prstGeom>
          <a:solidFill>
            <a:srgbClr val="F28C28"/>
          </a:solidFill>
          <a:ln/>
        </p:spPr>
        <p:txBody>
          <a:bodyPr wrap="square" lIns="50800" tIns="50800" rIns="50800" bIns="50800" rtlCol="0" anchor="ctr"/>
          <a:lstStyle/>
          <a:p>
            <a:pPr algn="ctr" indent="0" marL="0">
              <a:buNone/>
            </a:pPr>
            <a:r>
              <a:rPr lang="en-US" sz="1700" b="1" dirty="0">
                <a:solidFill>
                  <a:srgbClr val="2E1406"/>
                </a:solidFill>
              </a:rPr>
              <a:t>Extreme Caution or lower</a:t>
            </a:r>
            <a:endParaRPr lang="en-US" sz="1700" dirty="0"/>
          </a:p>
          <a:p>
            <a:pPr algn="ctr" indent="0" marL="0">
              <a:buNone/>
            </a:pPr>
            <a:r>
              <a:rPr lang="en-US" sz="1700" dirty="0">
                <a:solidFill>
                  <a:srgbClr val="2E1406"/>
                </a:solidFill>
              </a:rPr>
              <a:t>below 42 °C</a:t>
            </a:r>
            <a:endParaRPr lang="en-US" sz="1700" dirty="0"/>
          </a:p>
        </p:txBody>
      </p:sp>
      <p:sp>
        <p:nvSpPr>
          <p:cNvPr id="17" name="Our job"/>
          <p:cNvSpPr txBox="1"/>
          <p:nvPr/>
        </p:nvSpPr>
        <p:spPr>
          <a:xfrm>
            <a:off x="868680" y="5577840"/>
            <a:ext cx="10469880" cy="411480"/>
          </a:xfrm>
          <a:prstGeom prst="rect">
            <a:avLst/>
          </a:prstGeom>
          <a:noFill/>
          <a:ln/>
        </p:spPr>
        <p:txBody>
          <a:bodyPr wrap="square" rtlCol="0" anchor="ctr"/>
          <a:lstStyle/>
          <a:p>
            <a:pPr algn="ctr" indent="0" marL="0">
              <a:buNone/>
            </a:pPr>
            <a:r>
              <a:rPr lang="en-US" sz="2000" i="1" dirty="0">
                <a:solidFill>
                  <a:srgbClr val="A63A0C"/>
                </a:solidFill>
                <a:latin typeface="Cambria" pitchFamily="34" charset="0"/>
                <a:ea typeface="Cambria" pitchFamily="34" charset="-122"/>
                <a:cs typeface="Cambria" pitchFamily="34" charset="-120"/>
              </a:rPr>
              <a:t>HeatCast NCR picks one of these for each of the 16 cities, every day.</a:t>
            </a:r>
            <a:endParaRPr lang="en-US" sz="20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ig number"/>
          <p:cNvSpPr txBox="1"/>
          <p:nvPr/>
        </p:nvSpPr>
        <p:spPr>
          <a:xfrm>
            <a:off x="914400" y="1097280"/>
            <a:ext cx="6035040" cy="1737360"/>
          </a:xfrm>
          <a:prstGeom prst="rect">
            <a:avLst/>
          </a:prstGeom>
          <a:noFill/>
          <a:ln/>
        </p:spPr>
        <p:txBody>
          <a:bodyPr wrap="square" lIns="0" tIns="0" rIns="0" bIns="0" rtlCol="0" anchor="ctr"/>
          <a:lstStyle/>
          <a:p>
            <a:pPr algn="l" indent="0" marL="0">
              <a:buNone/>
            </a:pPr>
            <a:r>
              <a:rPr lang="en-US" sz="13000" dirty="0">
                <a:solidFill>
                  <a:srgbClr val="F6C9A0"/>
                </a:solidFill>
                <a:latin typeface="Cambria" pitchFamily="34" charset="0"/>
                <a:ea typeface="Cambria" pitchFamily="34" charset="-122"/>
                <a:cs typeface="Cambria" pitchFamily="34" charset="-120"/>
              </a:rPr>
              <a:t>82%</a:t>
            </a:r>
            <a:endParaRPr lang="en-US" sz="13000" dirty="0"/>
          </a:p>
        </p:txBody>
      </p:sp>
      <p:sp>
        <p:nvSpPr>
          <p:cNvPr id="3" name="Statement"/>
          <p:cNvSpPr txBox="1"/>
          <p:nvPr/>
        </p:nvSpPr>
        <p:spPr>
          <a:xfrm>
            <a:off x="914400" y="2926080"/>
            <a:ext cx="5852160" cy="1188720"/>
          </a:xfrm>
          <a:prstGeom prst="rect">
            <a:avLst/>
          </a:prstGeom>
          <a:noFill/>
          <a:ln/>
        </p:spPr>
        <p:txBody>
          <a:bodyPr wrap="square" lIns="0" tIns="0" rIns="0" bIns="0" rtlCol="0" anchor="t"/>
          <a:lstStyle/>
          <a:p>
            <a:pPr algn="l" indent="0" marL="0">
              <a:buNone/>
            </a:pPr>
            <a:r>
              <a:rPr lang="en-US" sz="3000" dirty="0">
                <a:solidFill>
                  <a:srgbClr val="FBF4EC"/>
                </a:solidFill>
                <a:latin typeface="Cambria" pitchFamily="34" charset="0"/>
                <a:ea typeface="Cambria" pitchFamily="34" charset="-122"/>
                <a:cs typeface="Cambria" pitchFamily="34" charset="-120"/>
              </a:rPr>
              <a:t>of the time in 2025, tomorrow's heat level was the same as today's.</a:t>
            </a:r>
            <a:endParaRPr lang="en-US" sz="3000" dirty="0"/>
          </a:p>
        </p:txBody>
      </p:sp>
      <p:sp>
        <p:nvSpPr>
          <p:cNvPr id="4" name="So what"/>
          <p:cNvSpPr txBox="1"/>
          <p:nvPr/>
        </p:nvSpPr>
        <p:spPr>
          <a:xfrm>
            <a:off x="914400" y="4343400"/>
            <a:ext cx="5669280" cy="1188720"/>
          </a:xfrm>
          <a:prstGeom prst="rect">
            <a:avLst/>
          </a:prstGeom>
          <a:noFill/>
          <a:ln/>
        </p:spPr>
        <p:txBody>
          <a:bodyPr wrap="square" lIns="0" tIns="0" rIns="0" bIns="0" rtlCol="0" anchor="t"/>
          <a:lstStyle/>
          <a:p>
            <a:pPr algn="l" indent="0" marL="0">
              <a:buNone/>
            </a:pPr>
            <a:r>
              <a:rPr lang="en-US" sz="2000" dirty="0">
                <a:solidFill>
                  <a:srgbClr val="F6C9A0"/>
                </a:solidFill>
              </a:rPr>
              <a:t>So simply copying today's level is already a strong forecast. We call it the copy-today rule, and it is the rule our models had to beat.</a:t>
            </a:r>
            <a:endParaRPr lang="en-US" sz="2000" dirty="0"/>
          </a:p>
        </p:txBody>
      </p:sp>
      <p:sp>
        <p:nvSpPr>
          <p:cNvPr id="5" name="Square 1"/>
          <p:cNvSpPr/>
          <p:nvPr/>
        </p:nvSpPr>
        <p:spPr>
          <a:xfrm>
            <a:off x="7543800" y="1143000"/>
            <a:ext cx="310896" cy="310896"/>
          </a:xfrm>
          <a:prstGeom prst="rect">
            <a:avLst/>
          </a:prstGeom>
          <a:solidFill>
            <a:srgbClr val="F6C9A0"/>
          </a:solidFill>
          <a:ln/>
        </p:spPr>
      </p:sp>
      <p:sp>
        <p:nvSpPr>
          <p:cNvPr id="6" name="Square 2"/>
          <p:cNvSpPr/>
          <p:nvPr/>
        </p:nvSpPr>
        <p:spPr>
          <a:xfrm>
            <a:off x="7909560" y="1143000"/>
            <a:ext cx="310896" cy="310896"/>
          </a:xfrm>
          <a:prstGeom prst="rect">
            <a:avLst/>
          </a:prstGeom>
          <a:solidFill>
            <a:srgbClr val="F6C9A0"/>
          </a:solidFill>
          <a:ln/>
        </p:spPr>
      </p:sp>
      <p:sp>
        <p:nvSpPr>
          <p:cNvPr id="7" name="Square 3"/>
          <p:cNvSpPr/>
          <p:nvPr/>
        </p:nvSpPr>
        <p:spPr>
          <a:xfrm>
            <a:off x="8275320" y="1143000"/>
            <a:ext cx="310896" cy="310896"/>
          </a:xfrm>
          <a:prstGeom prst="rect">
            <a:avLst/>
          </a:prstGeom>
          <a:solidFill>
            <a:srgbClr val="F6C9A0"/>
          </a:solidFill>
          <a:ln/>
        </p:spPr>
      </p:sp>
      <p:sp>
        <p:nvSpPr>
          <p:cNvPr id="8" name="Square 4"/>
          <p:cNvSpPr/>
          <p:nvPr/>
        </p:nvSpPr>
        <p:spPr>
          <a:xfrm>
            <a:off x="8641080" y="1143000"/>
            <a:ext cx="310896" cy="310896"/>
          </a:xfrm>
          <a:prstGeom prst="rect">
            <a:avLst/>
          </a:prstGeom>
          <a:solidFill>
            <a:srgbClr val="F6C9A0"/>
          </a:solidFill>
          <a:ln/>
        </p:spPr>
      </p:sp>
      <p:sp>
        <p:nvSpPr>
          <p:cNvPr id="9" name="Square 5"/>
          <p:cNvSpPr/>
          <p:nvPr/>
        </p:nvSpPr>
        <p:spPr>
          <a:xfrm>
            <a:off x="9006840" y="1143000"/>
            <a:ext cx="310896" cy="310896"/>
          </a:xfrm>
          <a:prstGeom prst="rect">
            <a:avLst/>
          </a:prstGeom>
          <a:solidFill>
            <a:srgbClr val="F6C9A0"/>
          </a:solidFill>
          <a:ln/>
        </p:spPr>
      </p:sp>
      <p:sp>
        <p:nvSpPr>
          <p:cNvPr id="10" name="Square 6"/>
          <p:cNvSpPr/>
          <p:nvPr/>
        </p:nvSpPr>
        <p:spPr>
          <a:xfrm>
            <a:off x="9372600" y="1143000"/>
            <a:ext cx="310896" cy="310896"/>
          </a:xfrm>
          <a:prstGeom prst="rect">
            <a:avLst/>
          </a:prstGeom>
          <a:solidFill>
            <a:srgbClr val="F6C9A0"/>
          </a:solidFill>
          <a:ln/>
        </p:spPr>
      </p:sp>
      <p:sp>
        <p:nvSpPr>
          <p:cNvPr id="11" name="Square 7"/>
          <p:cNvSpPr/>
          <p:nvPr/>
        </p:nvSpPr>
        <p:spPr>
          <a:xfrm>
            <a:off x="9738360" y="1143000"/>
            <a:ext cx="310896" cy="310896"/>
          </a:xfrm>
          <a:prstGeom prst="rect">
            <a:avLst/>
          </a:prstGeom>
          <a:solidFill>
            <a:srgbClr val="F6C9A0"/>
          </a:solidFill>
          <a:ln/>
        </p:spPr>
      </p:sp>
      <p:sp>
        <p:nvSpPr>
          <p:cNvPr id="12" name="Square 8"/>
          <p:cNvSpPr/>
          <p:nvPr/>
        </p:nvSpPr>
        <p:spPr>
          <a:xfrm>
            <a:off x="10104120" y="1143000"/>
            <a:ext cx="310896" cy="310896"/>
          </a:xfrm>
          <a:prstGeom prst="rect">
            <a:avLst/>
          </a:prstGeom>
          <a:solidFill>
            <a:srgbClr val="F6C9A0"/>
          </a:solidFill>
          <a:ln/>
        </p:spPr>
      </p:sp>
      <p:sp>
        <p:nvSpPr>
          <p:cNvPr id="13" name="Square 9"/>
          <p:cNvSpPr/>
          <p:nvPr/>
        </p:nvSpPr>
        <p:spPr>
          <a:xfrm>
            <a:off x="10469880" y="1143000"/>
            <a:ext cx="310896" cy="310896"/>
          </a:xfrm>
          <a:prstGeom prst="rect">
            <a:avLst/>
          </a:prstGeom>
          <a:solidFill>
            <a:srgbClr val="F6C9A0"/>
          </a:solidFill>
          <a:ln/>
        </p:spPr>
      </p:sp>
      <p:sp>
        <p:nvSpPr>
          <p:cNvPr id="14" name="Square 10"/>
          <p:cNvSpPr/>
          <p:nvPr/>
        </p:nvSpPr>
        <p:spPr>
          <a:xfrm>
            <a:off x="10835640" y="1143000"/>
            <a:ext cx="310896" cy="310896"/>
          </a:xfrm>
          <a:prstGeom prst="rect">
            <a:avLst/>
          </a:prstGeom>
          <a:solidFill>
            <a:srgbClr val="F6C9A0"/>
          </a:solidFill>
          <a:ln/>
        </p:spPr>
      </p:sp>
      <p:sp>
        <p:nvSpPr>
          <p:cNvPr id="15" name="Square 11"/>
          <p:cNvSpPr/>
          <p:nvPr/>
        </p:nvSpPr>
        <p:spPr>
          <a:xfrm>
            <a:off x="7543800" y="1508760"/>
            <a:ext cx="310896" cy="310896"/>
          </a:xfrm>
          <a:prstGeom prst="rect">
            <a:avLst/>
          </a:prstGeom>
          <a:solidFill>
            <a:srgbClr val="F6C9A0"/>
          </a:solidFill>
          <a:ln/>
        </p:spPr>
      </p:sp>
      <p:sp>
        <p:nvSpPr>
          <p:cNvPr id="16" name="Square 12"/>
          <p:cNvSpPr/>
          <p:nvPr/>
        </p:nvSpPr>
        <p:spPr>
          <a:xfrm>
            <a:off x="7909560" y="1508760"/>
            <a:ext cx="310896" cy="310896"/>
          </a:xfrm>
          <a:prstGeom prst="rect">
            <a:avLst/>
          </a:prstGeom>
          <a:solidFill>
            <a:srgbClr val="F6C9A0"/>
          </a:solidFill>
          <a:ln/>
        </p:spPr>
      </p:sp>
      <p:sp>
        <p:nvSpPr>
          <p:cNvPr id="17" name="Square 13"/>
          <p:cNvSpPr/>
          <p:nvPr/>
        </p:nvSpPr>
        <p:spPr>
          <a:xfrm>
            <a:off x="8275320" y="1508760"/>
            <a:ext cx="310896" cy="310896"/>
          </a:xfrm>
          <a:prstGeom prst="rect">
            <a:avLst/>
          </a:prstGeom>
          <a:solidFill>
            <a:srgbClr val="F6C9A0"/>
          </a:solidFill>
          <a:ln/>
        </p:spPr>
      </p:sp>
      <p:sp>
        <p:nvSpPr>
          <p:cNvPr id="18" name="Square 14"/>
          <p:cNvSpPr/>
          <p:nvPr/>
        </p:nvSpPr>
        <p:spPr>
          <a:xfrm>
            <a:off x="8641080" y="1508760"/>
            <a:ext cx="310896" cy="310896"/>
          </a:xfrm>
          <a:prstGeom prst="rect">
            <a:avLst/>
          </a:prstGeom>
          <a:solidFill>
            <a:srgbClr val="F6C9A0"/>
          </a:solidFill>
          <a:ln/>
        </p:spPr>
      </p:sp>
      <p:sp>
        <p:nvSpPr>
          <p:cNvPr id="19" name="Square 15"/>
          <p:cNvSpPr/>
          <p:nvPr/>
        </p:nvSpPr>
        <p:spPr>
          <a:xfrm>
            <a:off x="9006840" y="1508760"/>
            <a:ext cx="310896" cy="310896"/>
          </a:xfrm>
          <a:prstGeom prst="rect">
            <a:avLst/>
          </a:prstGeom>
          <a:solidFill>
            <a:srgbClr val="F6C9A0"/>
          </a:solidFill>
          <a:ln/>
        </p:spPr>
      </p:sp>
      <p:sp>
        <p:nvSpPr>
          <p:cNvPr id="20" name="Square 16"/>
          <p:cNvSpPr/>
          <p:nvPr/>
        </p:nvSpPr>
        <p:spPr>
          <a:xfrm>
            <a:off x="9372600" y="1508760"/>
            <a:ext cx="310896" cy="310896"/>
          </a:xfrm>
          <a:prstGeom prst="rect">
            <a:avLst/>
          </a:prstGeom>
          <a:solidFill>
            <a:srgbClr val="F6C9A0"/>
          </a:solidFill>
          <a:ln/>
        </p:spPr>
      </p:sp>
      <p:sp>
        <p:nvSpPr>
          <p:cNvPr id="21" name="Square 17"/>
          <p:cNvSpPr/>
          <p:nvPr/>
        </p:nvSpPr>
        <p:spPr>
          <a:xfrm>
            <a:off x="9738360" y="1508760"/>
            <a:ext cx="310896" cy="310896"/>
          </a:xfrm>
          <a:prstGeom prst="rect">
            <a:avLst/>
          </a:prstGeom>
          <a:solidFill>
            <a:srgbClr val="F6C9A0"/>
          </a:solidFill>
          <a:ln/>
        </p:spPr>
      </p:sp>
      <p:sp>
        <p:nvSpPr>
          <p:cNvPr id="22" name="Square 18"/>
          <p:cNvSpPr/>
          <p:nvPr/>
        </p:nvSpPr>
        <p:spPr>
          <a:xfrm>
            <a:off x="10104120" y="1508760"/>
            <a:ext cx="310896" cy="310896"/>
          </a:xfrm>
          <a:prstGeom prst="rect">
            <a:avLst/>
          </a:prstGeom>
          <a:solidFill>
            <a:srgbClr val="F6C9A0"/>
          </a:solidFill>
          <a:ln/>
        </p:spPr>
      </p:sp>
      <p:sp>
        <p:nvSpPr>
          <p:cNvPr id="23" name="Square 19"/>
          <p:cNvSpPr/>
          <p:nvPr/>
        </p:nvSpPr>
        <p:spPr>
          <a:xfrm>
            <a:off x="10469880" y="1508760"/>
            <a:ext cx="310896" cy="310896"/>
          </a:xfrm>
          <a:prstGeom prst="rect">
            <a:avLst/>
          </a:prstGeom>
          <a:solidFill>
            <a:srgbClr val="F6C9A0"/>
          </a:solidFill>
          <a:ln/>
        </p:spPr>
      </p:sp>
      <p:sp>
        <p:nvSpPr>
          <p:cNvPr id="24" name="Square 20"/>
          <p:cNvSpPr/>
          <p:nvPr/>
        </p:nvSpPr>
        <p:spPr>
          <a:xfrm>
            <a:off x="10835640" y="1508760"/>
            <a:ext cx="310896" cy="310896"/>
          </a:xfrm>
          <a:prstGeom prst="rect">
            <a:avLst/>
          </a:prstGeom>
          <a:solidFill>
            <a:srgbClr val="F6C9A0"/>
          </a:solidFill>
          <a:ln/>
        </p:spPr>
      </p:sp>
      <p:sp>
        <p:nvSpPr>
          <p:cNvPr id="25" name="Square 21"/>
          <p:cNvSpPr/>
          <p:nvPr/>
        </p:nvSpPr>
        <p:spPr>
          <a:xfrm>
            <a:off x="7543800" y="1874520"/>
            <a:ext cx="310896" cy="310896"/>
          </a:xfrm>
          <a:prstGeom prst="rect">
            <a:avLst/>
          </a:prstGeom>
          <a:solidFill>
            <a:srgbClr val="F6C9A0"/>
          </a:solidFill>
          <a:ln/>
        </p:spPr>
      </p:sp>
      <p:sp>
        <p:nvSpPr>
          <p:cNvPr id="26" name="Square 22"/>
          <p:cNvSpPr/>
          <p:nvPr/>
        </p:nvSpPr>
        <p:spPr>
          <a:xfrm>
            <a:off x="7909560" y="1874520"/>
            <a:ext cx="310896" cy="310896"/>
          </a:xfrm>
          <a:prstGeom prst="rect">
            <a:avLst/>
          </a:prstGeom>
          <a:solidFill>
            <a:srgbClr val="F6C9A0"/>
          </a:solidFill>
          <a:ln/>
        </p:spPr>
      </p:sp>
      <p:sp>
        <p:nvSpPr>
          <p:cNvPr id="27" name="Square 23"/>
          <p:cNvSpPr/>
          <p:nvPr/>
        </p:nvSpPr>
        <p:spPr>
          <a:xfrm>
            <a:off x="8275320" y="1874520"/>
            <a:ext cx="310896" cy="310896"/>
          </a:xfrm>
          <a:prstGeom prst="rect">
            <a:avLst/>
          </a:prstGeom>
          <a:solidFill>
            <a:srgbClr val="F6C9A0"/>
          </a:solidFill>
          <a:ln/>
        </p:spPr>
      </p:sp>
      <p:sp>
        <p:nvSpPr>
          <p:cNvPr id="28" name="Square 24"/>
          <p:cNvSpPr/>
          <p:nvPr/>
        </p:nvSpPr>
        <p:spPr>
          <a:xfrm>
            <a:off x="8641080" y="1874520"/>
            <a:ext cx="310896" cy="310896"/>
          </a:xfrm>
          <a:prstGeom prst="rect">
            <a:avLst/>
          </a:prstGeom>
          <a:solidFill>
            <a:srgbClr val="F6C9A0"/>
          </a:solidFill>
          <a:ln/>
        </p:spPr>
      </p:sp>
      <p:sp>
        <p:nvSpPr>
          <p:cNvPr id="29" name="Square 25"/>
          <p:cNvSpPr/>
          <p:nvPr/>
        </p:nvSpPr>
        <p:spPr>
          <a:xfrm>
            <a:off x="9006840" y="1874520"/>
            <a:ext cx="310896" cy="310896"/>
          </a:xfrm>
          <a:prstGeom prst="rect">
            <a:avLst/>
          </a:prstGeom>
          <a:solidFill>
            <a:srgbClr val="F6C9A0"/>
          </a:solidFill>
          <a:ln/>
        </p:spPr>
      </p:sp>
      <p:sp>
        <p:nvSpPr>
          <p:cNvPr id="30" name="Square 26"/>
          <p:cNvSpPr/>
          <p:nvPr/>
        </p:nvSpPr>
        <p:spPr>
          <a:xfrm>
            <a:off x="9372600" y="1874520"/>
            <a:ext cx="310896" cy="310896"/>
          </a:xfrm>
          <a:prstGeom prst="rect">
            <a:avLst/>
          </a:prstGeom>
          <a:solidFill>
            <a:srgbClr val="F6C9A0"/>
          </a:solidFill>
          <a:ln/>
        </p:spPr>
      </p:sp>
      <p:sp>
        <p:nvSpPr>
          <p:cNvPr id="31" name="Square 27"/>
          <p:cNvSpPr/>
          <p:nvPr/>
        </p:nvSpPr>
        <p:spPr>
          <a:xfrm>
            <a:off x="9738360" y="1874520"/>
            <a:ext cx="310896" cy="310896"/>
          </a:xfrm>
          <a:prstGeom prst="rect">
            <a:avLst/>
          </a:prstGeom>
          <a:solidFill>
            <a:srgbClr val="F6C9A0"/>
          </a:solidFill>
          <a:ln/>
        </p:spPr>
      </p:sp>
      <p:sp>
        <p:nvSpPr>
          <p:cNvPr id="32" name="Square 28"/>
          <p:cNvSpPr/>
          <p:nvPr/>
        </p:nvSpPr>
        <p:spPr>
          <a:xfrm>
            <a:off x="10104120" y="1874520"/>
            <a:ext cx="310896" cy="310896"/>
          </a:xfrm>
          <a:prstGeom prst="rect">
            <a:avLst/>
          </a:prstGeom>
          <a:solidFill>
            <a:srgbClr val="F6C9A0"/>
          </a:solidFill>
          <a:ln/>
        </p:spPr>
      </p:sp>
      <p:sp>
        <p:nvSpPr>
          <p:cNvPr id="33" name="Square 29"/>
          <p:cNvSpPr/>
          <p:nvPr/>
        </p:nvSpPr>
        <p:spPr>
          <a:xfrm>
            <a:off x="10469880" y="1874520"/>
            <a:ext cx="310896" cy="310896"/>
          </a:xfrm>
          <a:prstGeom prst="rect">
            <a:avLst/>
          </a:prstGeom>
          <a:solidFill>
            <a:srgbClr val="F6C9A0"/>
          </a:solidFill>
          <a:ln/>
        </p:spPr>
      </p:sp>
      <p:sp>
        <p:nvSpPr>
          <p:cNvPr id="34" name="Square 30"/>
          <p:cNvSpPr/>
          <p:nvPr/>
        </p:nvSpPr>
        <p:spPr>
          <a:xfrm>
            <a:off x="10835640" y="1874520"/>
            <a:ext cx="310896" cy="310896"/>
          </a:xfrm>
          <a:prstGeom prst="rect">
            <a:avLst/>
          </a:prstGeom>
          <a:solidFill>
            <a:srgbClr val="F6C9A0"/>
          </a:solidFill>
          <a:ln/>
        </p:spPr>
      </p:sp>
      <p:sp>
        <p:nvSpPr>
          <p:cNvPr id="35" name="Square 31"/>
          <p:cNvSpPr/>
          <p:nvPr/>
        </p:nvSpPr>
        <p:spPr>
          <a:xfrm>
            <a:off x="7543800" y="2240280"/>
            <a:ext cx="310896" cy="310896"/>
          </a:xfrm>
          <a:prstGeom prst="rect">
            <a:avLst/>
          </a:prstGeom>
          <a:solidFill>
            <a:srgbClr val="F6C9A0"/>
          </a:solidFill>
          <a:ln/>
        </p:spPr>
      </p:sp>
      <p:sp>
        <p:nvSpPr>
          <p:cNvPr id="36" name="Square 32"/>
          <p:cNvSpPr/>
          <p:nvPr/>
        </p:nvSpPr>
        <p:spPr>
          <a:xfrm>
            <a:off x="7909560" y="2240280"/>
            <a:ext cx="310896" cy="310896"/>
          </a:xfrm>
          <a:prstGeom prst="rect">
            <a:avLst/>
          </a:prstGeom>
          <a:solidFill>
            <a:srgbClr val="F6C9A0"/>
          </a:solidFill>
          <a:ln/>
        </p:spPr>
      </p:sp>
      <p:sp>
        <p:nvSpPr>
          <p:cNvPr id="37" name="Square 33"/>
          <p:cNvSpPr/>
          <p:nvPr/>
        </p:nvSpPr>
        <p:spPr>
          <a:xfrm>
            <a:off x="8275320" y="2240280"/>
            <a:ext cx="310896" cy="310896"/>
          </a:xfrm>
          <a:prstGeom prst="rect">
            <a:avLst/>
          </a:prstGeom>
          <a:solidFill>
            <a:srgbClr val="F6C9A0"/>
          </a:solidFill>
          <a:ln/>
        </p:spPr>
      </p:sp>
      <p:sp>
        <p:nvSpPr>
          <p:cNvPr id="38" name="Square 34"/>
          <p:cNvSpPr/>
          <p:nvPr/>
        </p:nvSpPr>
        <p:spPr>
          <a:xfrm>
            <a:off x="8641080" y="2240280"/>
            <a:ext cx="310896" cy="310896"/>
          </a:xfrm>
          <a:prstGeom prst="rect">
            <a:avLst/>
          </a:prstGeom>
          <a:solidFill>
            <a:srgbClr val="F6C9A0"/>
          </a:solidFill>
          <a:ln/>
        </p:spPr>
      </p:sp>
      <p:sp>
        <p:nvSpPr>
          <p:cNvPr id="39" name="Square 35"/>
          <p:cNvSpPr/>
          <p:nvPr/>
        </p:nvSpPr>
        <p:spPr>
          <a:xfrm>
            <a:off x="9006840" y="2240280"/>
            <a:ext cx="310896" cy="310896"/>
          </a:xfrm>
          <a:prstGeom prst="rect">
            <a:avLst/>
          </a:prstGeom>
          <a:solidFill>
            <a:srgbClr val="F6C9A0"/>
          </a:solidFill>
          <a:ln/>
        </p:spPr>
      </p:sp>
      <p:sp>
        <p:nvSpPr>
          <p:cNvPr id="40" name="Square 36"/>
          <p:cNvSpPr/>
          <p:nvPr/>
        </p:nvSpPr>
        <p:spPr>
          <a:xfrm>
            <a:off x="9372600" y="2240280"/>
            <a:ext cx="310896" cy="310896"/>
          </a:xfrm>
          <a:prstGeom prst="rect">
            <a:avLst/>
          </a:prstGeom>
          <a:solidFill>
            <a:srgbClr val="F6C9A0"/>
          </a:solidFill>
          <a:ln/>
        </p:spPr>
      </p:sp>
      <p:sp>
        <p:nvSpPr>
          <p:cNvPr id="41" name="Square 37"/>
          <p:cNvSpPr/>
          <p:nvPr/>
        </p:nvSpPr>
        <p:spPr>
          <a:xfrm>
            <a:off x="9738360" y="2240280"/>
            <a:ext cx="310896" cy="310896"/>
          </a:xfrm>
          <a:prstGeom prst="rect">
            <a:avLst/>
          </a:prstGeom>
          <a:solidFill>
            <a:srgbClr val="F6C9A0"/>
          </a:solidFill>
          <a:ln/>
        </p:spPr>
      </p:sp>
      <p:sp>
        <p:nvSpPr>
          <p:cNvPr id="42" name="Square 38"/>
          <p:cNvSpPr/>
          <p:nvPr/>
        </p:nvSpPr>
        <p:spPr>
          <a:xfrm>
            <a:off x="10104120" y="2240280"/>
            <a:ext cx="310896" cy="310896"/>
          </a:xfrm>
          <a:prstGeom prst="rect">
            <a:avLst/>
          </a:prstGeom>
          <a:solidFill>
            <a:srgbClr val="F6C9A0"/>
          </a:solidFill>
          <a:ln/>
        </p:spPr>
      </p:sp>
      <p:sp>
        <p:nvSpPr>
          <p:cNvPr id="43" name="Square 39"/>
          <p:cNvSpPr/>
          <p:nvPr/>
        </p:nvSpPr>
        <p:spPr>
          <a:xfrm>
            <a:off x="10469880" y="2240280"/>
            <a:ext cx="310896" cy="310896"/>
          </a:xfrm>
          <a:prstGeom prst="rect">
            <a:avLst/>
          </a:prstGeom>
          <a:solidFill>
            <a:srgbClr val="F6C9A0"/>
          </a:solidFill>
          <a:ln/>
        </p:spPr>
      </p:sp>
      <p:sp>
        <p:nvSpPr>
          <p:cNvPr id="44" name="Square 40"/>
          <p:cNvSpPr/>
          <p:nvPr/>
        </p:nvSpPr>
        <p:spPr>
          <a:xfrm>
            <a:off x="10835640" y="2240280"/>
            <a:ext cx="310896" cy="310896"/>
          </a:xfrm>
          <a:prstGeom prst="rect">
            <a:avLst/>
          </a:prstGeom>
          <a:solidFill>
            <a:srgbClr val="F6C9A0"/>
          </a:solidFill>
          <a:ln/>
        </p:spPr>
      </p:sp>
      <p:sp>
        <p:nvSpPr>
          <p:cNvPr id="45" name="Square 41"/>
          <p:cNvSpPr/>
          <p:nvPr/>
        </p:nvSpPr>
        <p:spPr>
          <a:xfrm>
            <a:off x="7543800" y="2606040"/>
            <a:ext cx="310896" cy="310896"/>
          </a:xfrm>
          <a:prstGeom prst="rect">
            <a:avLst/>
          </a:prstGeom>
          <a:solidFill>
            <a:srgbClr val="F6C9A0"/>
          </a:solidFill>
          <a:ln/>
        </p:spPr>
      </p:sp>
      <p:sp>
        <p:nvSpPr>
          <p:cNvPr id="46" name="Square 42"/>
          <p:cNvSpPr/>
          <p:nvPr/>
        </p:nvSpPr>
        <p:spPr>
          <a:xfrm>
            <a:off x="7909560" y="2606040"/>
            <a:ext cx="310896" cy="310896"/>
          </a:xfrm>
          <a:prstGeom prst="rect">
            <a:avLst/>
          </a:prstGeom>
          <a:solidFill>
            <a:srgbClr val="F6C9A0"/>
          </a:solidFill>
          <a:ln/>
        </p:spPr>
      </p:sp>
      <p:sp>
        <p:nvSpPr>
          <p:cNvPr id="47" name="Square 43"/>
          <p:cNvSpPr/>
          <p:nvPr/>
        </p:nvSpPr>
        <p:spPr>
          <a:xfrm>
            <a:off x="8275320" y="2606040"/>
            <a:ext cx="310896" cy="310896"/>
          </a:xfrm>
          <a:prstGeom prst="rect">
            <a:avLst/>
          </a:prstGeom>
          <a:solidFill>
            <a:srgbClr val="F6C9A0"/>
          </a:solidFill>
          <a:ln/>
        </p:spPr>
      </p:sp>
      <p:sp>
        <p:nvSpPr>
          <p:cNvPr id="48" name="Square 44"/>
          <p:cNvSpPr/>
          <p:nvPr/>
        </p:nvSpPr>
        <p:spPr>
          <a:xfrm>
            <a:off x="8641080" y="2606040"/>
            <a:ext cx="310896" cy="310896"/>
          </a:xfrm>
          <a:prstGeom prst="rect">
            <a:avLst/>
          </a:prstGeom>
          <a:solidFill>
            <a:srgbClr val="F6C9A0"/>
          </a:solidFill>
          <a:ln/>
        </p:spPr>
      </p:sp>
      <p:sp>
        <p:nvSpPr>
          <p:cNvPr id="49" name="Square 45"/>
          <p:cNvSpPr/>
          <p:nvPr/>
        </p:nvSpPr>
        <p:spPr>
          <a:xfrm>
            <a:off x="9006840" y="2606040"/>
            <a:ext cx="310896" cy="310896"/>
          </a:xfrm>
          <a:prstGeom prst="rect">
            <a:avLst/>
          </a:prstGeom>
          <a:solidFill>
            <a:srgbClr val="F6C9A0"/>
          </a:solidFill>
          <a:ln/>
        </p:spPr>
      </p:sp>
      <p:sp>
        <p:nvSpPr>
          <p:cNvPr id="50" name="Square 46"/>
          <p:cNvSpPr/>
          <p:nvPr/>
        </p:nvSpPr>
        <p:spPr>
          <a:xfrm>
            <a:off x="9372600" y="2606040"/>
            <a:ext cx="310896" cy="310896"/>
          </a:xfrm>
          <a:prstGeom prst="rect">
            <a:avLst/>
          </a:prstGeom>
          <a:solidFill>
            <a:srgbClr val="F6C9A0"/>
          </a:solidFill>
          <a:ln/>
        </p:spPr>
      </p:sp>
      <p:sp>
        <p:nvSpPr>
          <p:cNvPr id="51" name="Square 47"/>
          <p:cNvSpPr/>
          <p:nvPr/>
        </p:nvSpPr>
        <p:spPr>
          <a:xfrm>
            <a:off x="9738360" y="2606040"/>
            <a:ext cx="310896" cy="310896"/>
          </a:xfrm>
          <a:prstGeom prst="rect">
            <a:avLst/>
          </a:prstGeom>
          <a:solidFill>
            <a:srgbClr val="F6C9A0"/>
          </a:solidFill>
          <a:ln/>
        </p:spPr>
      </p:sp>
      <p:sp>
        <p:nvSpPr>
          <p:cNvPr id="52" name="Square 48"/>
          <p:cNvSpPr/>
          <p:nvPr/>
        </p:nvSpPr>
        <p:spPr>
          <a:xfrm>
            <a:off x="10104120" y="2606040"/>
            <a:ext cx="310896" cy="310896"/>
          </a:xfrm>
          <a:prstGeom prst="rect">
            <a:avLst/>
          </a:prstGeom>
          <a:solidFill>
            <a:srgbClr val="F6C9A0"/>
          </a:solidFill>
          <a:ln/>
        </p:spPr>
      </p:sp>
      <p:sp>
        <p:nvSpPr>
          <p:cNvPr id="53" name="Square 49"/>
          <p:cNvSpPr/>
          <p:nvPr/>
        </p:nvSpPr>
        <p:spPr>
          <a:xfrm>
            <a:off x="10469880" y="2606040"/>
            <a:ext cx="310896" cy="310896"/>
          </a:xfrm>
          <a:prstGeom prst="rect">
            <a:avLst/>
          </a:prstGeom>
          <a:solidFill>
            <a:srgbClr val="F6C9A0"/>
          </a:solidFill>
          <a:ln/>
        </p:spPr>
      </p:sp>
      <p:sp>
        <p:nvSpPr>
          <p:cNvPr id="54" name="Square 50"/>
          <p:cNvSpPr/>
          <p:nvPr/>
        </p:nvSpPr>
        <p:spPr>
          <a:xfrm>
            <a:off x="10835640" y="2606040"/>
            <a:ext cx="310896" cy="310896"/>
          </a:xfrm>
          <a:prstGeom prst="rect">
            <a:avLst/>
          </a:prstGeom>
          <a:solidFill>
            <a:srgbClr val="F6C9A0"/>
          </a:solidFill>
          <a:ln/>
        </p:spPr>
      </p:sp>
      <p:sp>
        <p:nvSpPr>
          <p:cNvPr id="55" name="Square 51"/>
          <p:cNvSpPr/>
          <p:nvPr/>
        </p:nvSpPr>
        <p:spPr>
          <a:xfrm>
            <a:off x="7543800" y="2971800"/>
            <a:ext cx="310896" cy="310896"/>
          </a:xfrm>
          <a:prstGeom prst="rect">
            <a:avLst/>
          </a:prstGeom>
          <a:solidFill>
            <a:srgbClr val="F6C9A0"/>
          </a:solidFill>
          <a:ln/>
        </p:spPr>
      </p:sp>
      <p:sp>
        <p:nvSpPr>
          <p:cNvPr id="56" name="Square 52"/>
          <p:cNvSpPr/>
          <p:nvPr/>
        </p:nvSpPr>
        <p:spPr>
          <a:xfrm>
            <a:off x="7909560" y="2971800"/>
            <a:ext cx="310896" cy="310896"/>
          </a:xfrm>
          <a:prstGeom prst="rect">
            <a:avLst/>
          </a:prstGeom>
          <a:solidFill>
            <a:srgbClr val="F6C9A0"/>
          </a:solidFill>
          <a:ln/>
        </p:spPr>
      </p:sp>
      <p:sp>
        <p:nvSpPr>
          <p:cNvPr id="57" name="Square 53"/>
          <p:cNvSpPr/>
          <p:nvPr/>
        </p:nvSpPr>
        <p:spPr>
          <a:xfrm>
            <a:off x="8275320" y="2971800"/>
            <a:ext cx="310896" cy="310896"/>
          </a:xfrm>
          <a:prstGeom prst="rect">
            <a:avLst/>
          </a:prstGeom>
          <a:solidFill>
            <a:srgbClr val="F6C9A0"/>
          </a:solidFill>
          <a:ln/>
        </p:spPr>
      </p:sp>
      <p:sp>
        <p:nvSpPr>
          <p:cNvPr id="58" name="Square 54"/>
          <p:cNvSpPr/>
          <p:nvPr/>
        </p:nvSpPr>
        <p:spPr>
          <a:xfrm>
            <a:off x="8641080" y="2971800"/>
            <a:ext cx="310896" cy="310896"/>
          </a:xfrm>
          <a:prstGeom prst="rect">
            <a:avLst/>
          </a:prstGeom>
          <a:solidFill>
            <a:srgbClr val="F6C9A0"/>
          </a:solidFill>
          <a:ln/>
        </p:spPr>
      </p:sp>
      <p:sp>
        <p:nvSpPr>
          <p:cNvPr id="59" name="Square 55"/>
          <p:cNvSpPr/>
          <p:nvPr/>
        </p:nvSpPr>
        <p:spPr>
          <a:xfrm>
            <a:off x="9006840" y="2971800"/>
            <a:ext cx="310896" cy="310896"/>
          </a:xfrm>
          <a:prstGeom prst="rect">
            <a:avLst/>
          </a:prstGeom>
          <a:solidFill>
            <a:srgbClr val="F6C9A0"/>
          </a:solidFill>
          <a:ln/>
        </p:spPr>
      </p:sp>
      <p:sp>
        <p:nvSpPr>
          <p:cNvPr id="60" name="Square 56"/>
          <p:cNvSpPr/>
          <p:nvPr/>
        </p:nvSpPr>
        <p:spPr>
          <a:xfrm>
            <a:off x="9372600" y="2971800"/>
            <a:ext cx="310896" cy="310896"/>
          </a:xfrm>
          <a:prstGeom prst="rect">
            <a:avLst/>
          </a:prstGeom>
          <a:solidFill>
            <a:srgbClr val="F6C9A0"/>
          </a:solidFill>
          <a:ln/>
        </p:spPr>
      </p:sp>
      <p:sp>
        <p:nvSpPr>
          <p:cNvPr id="61" name="Square 57"/>
          <p:cNvSpPr/>
          <p:nvPr/>
        </p:nvSpPr>
        <p:spPr>
          <a:xfrm>
            <a:off x="9738360" y="2971800"/>
            <a:ext cx="310896" cy="310896"/>
          </a:xfrm>
          <a:prstGeom prst="rect">
            <a:avLst/>
          </a:prstGeom>
          <a:solidFill>
            <a:srgbClr val="F6C9A0"/>
          </a:solidFill>
          <a:ln/>
        </p:spPr>
      </p:sp>
      <p:sp>
        <p:nvSpPr>
          <p:cNvPr id="62" name="Square 58"/>
          <p:cNvSpPr/>
          <p:nvPr/>
        </p:nvSpPr>
        <p:spPr>
          <a:xfrm>
            <a:off x="10104120" y="2971800"/>
            <a:ext cx="310896" cy="310896"/>
          </a:xfrm>
          <a:prstGeom prst="rect">
            <a:avLst/>
          </a:prstGeom>
          <a:solidFill>
            <a:srgbClr val="F6C9A0"/>
          </a:solidFill>
          <a:ln/>
        </p:spPr>
      </p:sp>
      <p:sp>
        <p:nvSpPr>
          <p:cNvPr id="63" name="Square 59"/>
          <p:cNvSpPr/>
          <p:nvPr/>
        </p:nvSpPr>
        <p:spPr>
          <a:xfrm>
            <a:off x="10469880" y="2971800"/>
            <a:ext cx="310896" cy="310896"/>
          </a:xfrm>
          <a:prstGeom prst="rect">
            <a:avLst/>
          </a:prstGeom>
          <a:solidFill>
            <a:srgbClr val="F6C9A0"/>
          </a:solidFill>
          <a:ln/>
        </p:spPr>
      </p:sp>
      <p:sp>
        <p:nvSpPr>
          <p:cNvPr id="64" name="Square 60"/>
          <p:cNvSpPr/>
          <p:nvPr/>
        </p:nvSpPr>
        <p:spPr>
          <a:xfrm>
            <a:off x="10835640" y="2971800"/>
            <a:ext cx="310896" cy="310896"/>
          </a:xfrm>
          <a:prstGeom prst="rect">
            <a:avLst/>
          </a:prstGeom>
          <a:solidFill>
            <a:srgbClr val="F6C9A0"/>
          </a:solidFill>
          <a:ln/>
        </p:spPr>
      </p:sp>
      <p:sp>
        <p:nvSpPr>
          <p:cNvPr id="65" name="Square 61"/>
          <p:cNvSpPr/>
          <p:nvPr/>
        </p:nvSpPr>
        <p:spPr>
          <a:xfrm>
            <a:off x="7543800" y="3337560"/>
            <a:ext cx="310896" cy="310896"/>
          </a:xfrm>
          <a:prstGeom prst="rect">
            <a:avLst/>
          </a:prstGeom>
          <a:solidFill>
            <a:srgbClr val="F6C9A0"/>
          </a:solidFill>
          <a:ln/>
        </p:spPr>
      </p:sp>
      <p:sp>
        <p:nvSpPr>
          <p:cNvPr id="66" name="Square 62"/>
          <p:cNvSpPr/>
          <p:nvPr/>
        </p:nvSpPr>
        <p:spPr>
          <a:xfrm>
            <a:off x="7909560" y="3337560"/>
            <a:ext cx="310896" cy="310896"/>
          </a:xfrm>
          <a:prstGeom prst="rect">
            <a:avLst/>
          </a:prstGeom>
          <a:solidFill>
            <a:srgbClr val="F6C9A0"/>
          </a:solidFill>
          <a:ln/>
        </p:spPr>
      </p:sp>
      <p:sp>
        <p:nvSpPr>
          <p:cNvPr id="67" name="Square 63"/>
          <p:cNvSpPr/>
          <p:nvPr/>
        </p:nvSpPr>
        <p:spPr>
          <a:xfrm>
            <a:off x="8275320" y="3337560"/>
            <a:ext cx="310896" cy="310896"/>
          </a:xfrm>
          <a:prstGeom prst="rect">
            <a:avLst/>
          </a:prstGeom>
          <a:solidFill>
            <a:srgbClr val="F6C9A0"/>
          </a:solidFill>
          <a:ln/>
        </p:spPr>
      </p:sp>
      <p:sp>
        <p:nvSpPr>
          <p:cNvPr id="68" name="Square 64"/>
          <p:cNvSpPr/>
          <p:nvPr/>
        </p:nvSpPr>
        <p:spPr>
          <a:xfrm>
            <a:off x="8641080" y="3337560"/>
            <a:ext cx="310896" cy="310896"/>
          </a:xfrm>
          <a:prstGeom prst="rect">
            <a:avLst/>
          </a:prstGeom>
          <a:solidFill>
            <a:srgbClr val="F6C9A0"/>
          </a:solidFill>
          <a:ln/>
        </p:spPr>
      </p:sp>
      <p:sp>
        <p:nvSpPr>
          <p:cNvPr id="69" name="Square 65"/>
          <p:cNvSpPr/>
          <p:nvPr/>
        </p:nvSpPr>
        <p:spPr>
          <a:xfrm>
            <a:off x="9006840" y="3337560"/>
            <a:ext cx="310896" cy="310896"/>
          </a:xfrm>
          <a:prstGeom prst="rect">
            <a:avLst/>
          </a:prstGeom>
          <a:solidFill>
            <a:srgbClr val="F6C9A0"/>
          </a:solidFill>
          <a:ln/>
        </p:spPr>
      </p:sp>
      <p:sp>
        <p:nvSpPr>
          <p:cNvPr id="70" name="Square 66"/>
          <p:cNvSpPr/>
          <p:nvPr/>
        </p:nvSpPr>
        <p:spPr>
          <a:xfrm>
            <a:off x="9372600" y="3337560"/>
            <a:ext cx="310896" cy="310896"/>
          </a:xfrm>
          <a:prstGeom prst="rect">
            <a:avLst/>
          </a:prstGeom>
          <a:solidFill>
            <a:srgbClr val="F6C9A0"/>
          </a:solidFill>
          <a:ln/>
        </p:spPr>
      </p:sp>
      <p:sp>
        <p:nvSpPr>
          <p:cNvPr id="71" name="Square 67"/>
          <p:cNvSpPr/>
          <p:nvPr/>
        </p:nvSpPr>
        <p:spPr>
          <a:xfrm>
            <a:off x="9738360" y="3337560"/>
            <a:ext cx="310896" cy="310896"/>
          </a:xfrm>
          <a:prstGeom prst="rect">
            <a:avLst/>
          </a:prstGeom>
          <a:solidFill>
            <a:srgbClr val="F6C9A0"/>
          </a:solidFill>
          <a:ln/>
        </p:spPr>
      </p:sp>
      <p:sp>
        <p:nvSpPr>
          <p:cNvPr id="72" name="Square 68"/>
          <p:cNvSpPr/>
          <p:nvPr/>
        </p:nvSpPr>
        <p:spPr>
          <a:xfrm>
            <a:off x="10104120" y="3337560"/>
            <a:ext cx="310896" cy="310896"/>
          </a:xfrm>
          <a:prstGeom prst="rect">
            <a:avLst/>
          </a:prstGeom>
          <a:solidFill>
            <a:srgbClr val="F6C9A0"/>
          </a:solidFill>
          <a:ln/>
        </p:spPr>
      </p:sp>
      <p:sp>
        <p:nvSpPr>
          <p:cNvPr id="73" name="Square 69"/>
          <p:cNvSpPr/>
          <p:nvPr/>
        </p:nvSpPr>
        <p:spPr>
          <a:xfrm>
            <a:off x="10469880" y="3337560"/>
            <a:ext cx="310896" cy="310896"/>
          </a:xfrm>
          <a:prstGeom prst="rect">
            <a:avLst/>
          </a:prstGeom>
          <a:solidFill>
            <a:srgbClr val="F6C9A0"/>
          </a:solidFill>
          <a:ln/>
        </p:spPr>
      </p:sp>
      <p:sp>
        <p:nvSpPr>
          <p:cNvPr id="74" name="Square 70"/>
          <p:cNvSpPr/>
          <p:nvPr/>
        </p:nvSpPr>
        <p:spPr>
          <a:xfrm>
            <a:off x="10835640" y="3337560"/>
            <a:ext cx="310896" cy="310896"/>
          </a:xfrm>
          <a:prstGeom prst="rect">
            <a:avLst/>
          </a:prstGeom>
          <a:solidFill>
            <a:srgbClr val="F6C9A0"/>
          </a:solidFill>
          <a:ln/>
        </p:spPr>
      </p:sp>
      <p:sp>
        <p:nvSpPr>
          <p:cNvPr id="75" name="Square 71"/>
          <p:cNvSpPr/>
          <p:nvPr/>
        </p:nvSpPr>
        <p:spPr>
          <a:xfrm>
            <a:off x="7543800" y="3703320"/>
            <a:ext cx="310896" cy="310896"/>
          </a:xfrm>
          <a:prstGeom prst="rect">
            <a:avLst/>
          </a:prstGeom>
          <a:solidFill>
            <a:srgbClr val="F6C9A0"/>
          </a:solidFill>
          <a:ln/>
        </p:spPr>
      </p:sp>
      <p:sp>
        <p:nvSpPr>
          <p:cNvPr id="76" name="Square 72"/>
          <p:cNvSpPr/>
          <p:nvPr/>
        </p:nvSpPr>
        <p:spPr>
          <a:xfrm>
            <a:off x="7909560" y="3703320"/>
            <a:ext cx="310896" cy="310896"/>
          </a:xfrm>
          <a:prstGeom prst="rect">
            <a:avLst/>
          </a:prstGeom>
          <a:solidFill>
            <a:srgbClr val="F6C9A0"/>
          </a:solidFill>
          <a:ln/>
        </p:spPr>
      </p:sp>
      <p:sp>
        <p:nvSpPr>
          <p:cNvPr id="77" name="Square 73"/>
          <p:cNvSpPr/>
          <p:nvPr/>
        </p:nvSpPr>
        <p:spPr>
          <a:xfrm>
            <a:off x="8275320" y="3703320"/>
            <a:ext cx="310896" cy="310896"/>
          </a:xfrm>
          <a:prstGeom prst="rect">
            <a:avLst/>
          </a:prstGeom>
          <a:solidFill>
            <a:srgbClr val="F6C9A0"/>
          </a:solidFill>
          <a:ln/>
        </p:spPr>
      </p:sp>
      <p:sp>
        <p:nvSpPr>
          <p:cNvPr id="78" name="Square 74"/>
          <p:cNvSpPr/>
          <p:nvPr/>
        </p:nvSpPr>
        <p:spPr>
          <a:xfrm>
            <a:off x="8641080" y="3703320"/>
            <a:ext cx="310896" cy="310896"/>
          </a:xfrm>
          <a:prstGeom prst="rect">
            <a:avLst/>
          </a:prstGeom>
          <a:solidFill>
            <a:srgbClr val="F6C9A0"/>
          </a:solidFill>
          <a:ln/>
        </p:spPr>
      </p:sp>
      <p:sp>
        <p:nvSpPr>
          <p:cNvPr id="79" name="Square 75"/>
          <p:cNvSpPr/>
          <p:nvPr/>
        </p:nvSpPr>
        <p:spPr>
          <a:xfrm>
            <a:off x="9006840" y="3703320"/>
            <a:ext cx="310896" cy="310896"/>
          </a:xfrm>
          <a:prstGeom prst="rect">
            <a:avLst/>
          </a:prstGeom>
          <a:solidFill>
            <a:srgbClr val="F6C9A0"/>
          </a:solidFill>
          <a:ln/>
        </p:spPr>
      </p:sp>
      <p:sp>
        <p:nvSpPr>
          <p:cNvPr id="80" name="Square 76"/>
          <p:cNvSpPr/>
          <p:nvPr/>
        </p:nvSpPr>
        <p:spPr>
          <a:xfrm>
            <a:off x="9372600" y="3703320"/>
            <a:ext cx="310896" cy="310896"/>
          </a:xfrm>
          <a:prstGeom prst="rect">
            <a:avLst/>
          </a:prstGeom>
          <a:solidFill>
            <a:srgbClr val="F6C9A0"/>
          </a:solidFill>
          <a:ln/>
        </p:spPr>
      </p:sp>
      <p:sp>
        <p:nvSpPr>
          <p:cNvPr id="81" name="Square 77"/>
          <p:cNvSpPr/>
          <p:nvPr/>
        </p:nvSpPr>
        <p:spPr>
          <a:xfrm>
            <a:off x="9738360" y="3703320"/>
            <a:ext cx="310896" cy="310896"/>
          </a:xfrm>
          <a:prstGeom prst="rect">
            <a:avLst/>
          </a:prstGeom>
          <a:solidFill>
            <a:srgbClr val="F6C9A0"/>
          </a:solidFill>
          <a:ln/>
        </p:spPr>
      </p:sp>
      <p:sp>
        <p:nvSpPr>
          <p:cNvPr id="82" name="Square 78"/>
          <p:cNvSpPr/>
          <p:nvPr/>
        </p:nvSpPr>
        <p:spPr>
          <a:xfrm>
            <a:off x="10104120" y="3703320"/>
            <a:ext cx="310896" cy="310896"/>
          </a:xfrm>
          <a:prstGeom prst="rect">
            <a:avLst/>
          </a:prstGeom>
          <a:solidFill>
            <a:srgbClr val="F6C9A0"/>
          </a:solidFill>
          <a:ln/>
        </p:spPr>
      </p:sp>
      <p:sp>
        <p:nvSpPr>
          <p:cNvPr id="83" name="Square 79"/>
          <p:cNvSpPr/>
          <p:nvPr/>
        </p:nvSpPr>
        <p:spPr>
          <a:xfrm>
            <a:off x="10469880" y="3703320"/>
            <a:ext cx="310896" cy="310896"/>
          </a:xfrm>
          <a:prstGeom prst="rect">
            <a:avLst/>
          </a:prstGeom>
          <a:solidFill>
            <a:srgbClr val="F6C9A0"/>
          </a:solidFill>
          <a:ln/>
        </p:spPr>
      </p:sp>
      <p:sp>
        <p:nvSpPr>
          <p:cNvPr id="84" name="Square 80"/>
          <p:cNvSpPr/>
          <p:nvPr/>
        </p:nvSpPr>
        <p:spPr>
          <a:xfrm>
            <a:off x="10835640" y="3703320"/>
            <a:ext cx="310896" cy="310896"/>
          </a:xfrm>
          <a:prstGeom prst="rect">
            <a:avLst/>
          </a:prstGeom>
          <a:solidFill>
            <a:srgbClr val="F6C9A0"/>
          </a:solidFill>
          <a:ln/>
        </p:spPr>
      </p:sp>
      <p:sp>
        <p:nvSpPr>
          <p:cNvPr id="85" name="Square 81"/>
          <p:cNvSpPr/>
          <p:nvPr/>
        </p:nvSpPr>
        <p:spPr>
          <a:xfrm>
            <a:off x="7543800" y="4069080"/>
            <a:ext cx="310896" cy="310896"/>
          </a:xfrm>
          <a:prstGeom prst="rect">
            <a:avLst/>
          </a:prstGeom>
          <a:solidFill>
            <a:srgbClr val="F6C9A0"/>
          </a:solidFill>
          <a:ln/>
        </p:spPr>
      </p:sp>
      <p:sp>
        <p:nvSpPr>
          <p:cNvPr id="86" name="Square 82"/>
          <p:cNvSpPr/>
          <p:nvPr/>
        </p:nvSpPr>
        <p:spPr>
          <a:xfrm>
            <a:off x="7909560" y="4069080"/>
            <a:ext cx="310896" cy="310896"/>
          </a:xfrm>
          <a:prstGeom prst="rect">
            <a:avLst/>
          </a:prstGeom>
          <a:solidFill>
            <a:srgbClr val="F6C9A0"/>
          </a:solidFill>
          <a:ln/>
        </p:spPr>
      </p:sp>
      <p:sp>
        <p:nvSpPr>
          <p:cNvPr id="87" name="Square 83"/>
          <p:cNvSpPr/>
          <p:nvPr/>
        </p:nvSpPr>
        <p:spPr>
          <a:xfrm>
            <a:off x="8275320" y="4069080"/>
            <a:ext cx="310896" cy="310896"/>
          </a:xfrm>
          <a:prstGeom prst="rect">
            <a:avLst/>
          </a:prstGeom>
          <a:ln w="12700">
            <a:solidFill>
              <a:srgbClr val="F6C9A0"/>
            </a:solidFill>
            <a:prstDash val="solid"/>
          </a:ln>
        </p:spPr>
      </p:sp>
      <p:sp>
        <p:nvSpPr>
          <p:cNvPr id="88" name="Square 84"/>
          <p:cNvSpPr/>
          <p:nvPr/>
        </p:nvSpPr>
        <p:spPr>
          <a:xfrm>
            <a:off x="8641080" y="4069080"/>
            <a:ext cx="310896" cy="310896"/>
          </a:xfrm>
          <a:prstGeom prst="rect">
            <a:avLst/>
          </a:prstGeom>
          <a:ln w="12700">
            <a:solidFill>
              <a:srgbClr val="F6C9A0"/>
            </a:solidFill>
            <a:prstDash val="solid"/>
          </a:ln>
        </p:spPr>
      </p:sp>
      <p:sp>
        <p:nvSpPr>
          <p:cNvPr id="89" name="Square 85"/>
          <p:cNvSpPr/>
          <p:nvPr/>
        </p:nvSpPr>
        <p:spPr>
          <a:xfrm>
            <a:off x="9006840" y="4069080"/>
            <a:ext cx="310896" cy="310896"/>
          </a:xfrm>
          <a:prstGeom prst="rect">
            <a:avLst/>
          </a:prstGeom>
          <a:ln w="12700">
            <a:solidFill>
              <a:srgbClr val="F6C9A0"/>
            </a:solidFill>
            <a:prstDash val="solid"/>
          </a:ln>
        </p:spPr>
      </p:sp>
      <p:sp>
        <p:nvSpPr>
          <p:cNvPr id="90" name="Square 86"/>
          <p:cNvSpPr/>
          <p:nvPr/>
        </p:nvSpPr>
        <p:spPr>
          <a:xfrm>
            <a:off x="9372600" y="4069080"/>
            <a:ext cx="310896" cy="310896"/>
          </a:xfrm>
          <a:prstGeom prst="rect">
            <a:avLst/>
          </a:prstGeom>
          <a:ln w="12700">
            <a:solidFill>
              <a:srgbClr val="F6C9A0"/>
            </a:solidFill>
            <a:prstDash val="solid"/>
          </a:ln>
        </p:spPr>
      </p:sp>
      <p:sp>
        <p:nvSpPr>
          <p:cNvPr id="91" name="Square 87"/>
          <p:cNvSpPr/>
          <p:nvPr/>
        </p:nvSpPr>
        <p:spPr>
          <a:xfrm>
            <a:off x="9738360" y="4069080"/>
            <a:ext cx="310896" cy="310896"/>
          </a:xfrm>
          <a:prstGeom prst="rect">
            <a:avLst/>
          </a:prstGeom>
          <a:ln w="12700">
            <a:solidFill>
              <a:srgbClr val="F6C9A0"/>
            </a:solidFill>
            <a:prstDash val="solid"/>
          </a:ln>
        </p:spPr>
      </p:sp>
      <p:sp>
        <p:nvSpPr>
          <p:cNvPr id="92" name="Square 88"/>
          <p:cNvSpPr/>
          <p:nvPr/>
        </p:nvSpPr>
        <p:spPr>
          <a:xfrm>
            <a:off x="10104120" y="4069080"/>
            <a:ext cx="310896" cy="310896"/>
          </a:xfrm>
          <a:prstGeom prst="rect">
            <a:avLst/>
          </a:prstGeom>
          <a:ln w="12700">
            <a:solidFill>
              <a:srgbClr val="F6C9A0"/>
            </a:solidFill>
            <a:prstDash val="solid"/>
          </a:ln>
        </p:spPr>
      </p:sp>
      <p:sp>
        <p:nvSpPr>
          <p:cNvPr id="93" name="Square 89"/>
          <p:cNvSpPr/>
          <p:nvPr/>
        </p:nvSpPr>
        <p:spPr>
          <a:xfrm>
            <a:off x="10469880" y="4069080"/>
            <a:ext cx="310896" cy="310896"/>
          </a:xfrm>
          <a:prstGeom prst="rect">
            <a:avLst/>
          </a:prstGeom>
          <a:ln w="12700">
            <a:solidFill>
              <a:srgbClr val="F6C9A0"/>
            </a:solidFill>
            <a:prstDash val="solid"/>
          </a:ln>
        </p:spPr>
      </p:sp>
      <p:sp>
        <p:nvSpPr>
          <p:cNvPr id="94" name="Square 90"/>
          <p:cNvSpPr/>
          <p:nvPr/>
        </p:nvSpPr>
        <p:spPr>
          <a:xfrm>
            <a:off x="10835640" y="4069080"/>
            <a:ext cx="310896" cy="310896"/>
          </a:xfrm>
          <a:prstGeom prst="rect">
            <a:avLst/>
          </a:prstGeom>
          <a:ln w="12700">
            <a:solidFill>
              <a:srgbClr val="F6C9A0"/>
            </a:solidFill>
            <a:prstDash val="solid"/>
          </a:ln>
        </p:spPr>
      </p:sp>
      <p:sp>
        <p:nvSpPr>
          <p:cNvPr id="95" name="Square 91"/>
          <p:cNvSpPr/>
          <p:nvPr/>
        </p:nvSpPr>
        <p:spPr>
          <a:xfrm>
            <a:off x="7543800" y="4434840"/>
            <a:ext cx="310896" cy="310896"/>
          </a:xfrm>
          <a:prstGeom prst="rect">
            <a:avLst/>
          </a:prstGeom>
          <a:ln w="12700">
            <a:solidFill>
              <a:srgbClr val="F6C9A0"/>
            </a:solidFill>
            <a:prstDash val="solid"/>
          </a:ln>
        </p:spPr>
      </p:sp>
      <p:sp>
        <p:nvSpPr>
          <p:cNvPr id="96" name="Square 92"/>
          <p:cNvSpPr/>
          <p:nvPr/>
        </p:nvSpPr>
        <p:spPr>
          <a:xfrm>
            <a:off x="7909560" y="4434840"/>
            <a:ext cx="310896" cy="310896"/>
          </a:xfrm>
          <a:prstGeom prst="rect">
            <a:avLst/>
          </a:prstGeom>
          <a:ln w="12700">
            <a:solidFill>
              <a:srgbClr val="F6C9A0"/>
            </a:solidFill>
            <a:prstDash val="solid"/>
          </a:ln>
        </p:spPr>
      </p:sp>
      <p:sp>
        <p:nvSpPr>
          <p:cNvPr id="97" name="Square 93"/>
          <p:cNvSpPr/>
          <p:nvPr/>
        </p:nvSpPr>
        <p:spPr>
          <a:xfrm>
            <a:off x="8275320" y="4434840"/>
            <a:ext cx="310896" cy="310896"/>
          </a:xfrm>
          <a:prstGeom prst="rect">
            <a:avLst/>
          </a:prstGeom>
          <a:ln w="12700">
            <a:solidFill>
              <a:srgbClr val="F6C9A0"/>
            </a:solidFill>
            <a:prstDash val="solid"/>
          </a:ln>
        </p:spPr>
      </p:sp>
      <p:sp>
        <p:nvSpPr>
          <p:cNvPr id="98" name="Square 94"/>
          <p:cNvSpPr/>
          <p:nvPr/>
        </p:nvSpPr>
        <p:spPr>
          <a:xfrm>
            <a:off x="8641080" y="4434840"/>
            <a:ext cx="310896" cy="310896"/>
          </a:xfrm>
          <a:prstGeom prst="rect">
            <a:avLst/>
          </a:prstGeom>
          <a:ln w="12700">
            <a:solidFill>
              <a:srgbClr val="F6C9A0"/>
            </a:solidFill>
            <a:prstDash val="solid"/>
          </a:ln>
        </p:spPr>
      </p:sp>
      <p:sp>
        <p:nvSpPr>
          <p:cNvPr id="99" name="Square 95"/>
          <p:cNvSpPr/>
          <p:nvPr/>
        </p:nvSpPr>
        <p:spPr>
          <a:xfrm>
            <a:off x="9006840" y="4434840"/>
            <a:ext cx="310896" cy="310896"/>
          </a:xfrm>
          <a:prstGeom prst="rect">
            <a:avLst/>
          </a:prstGeom>
          <a:ln w="12700">
            <a:solidFill>
              <a:srgbClr val="F6C9A0"/>
            </a:solidFill>
            <a:prstDash val="solid"/>
          </a:ln>
        </p:spPr>
      </p:sp>
      <p:sp>
        <p:nvSpPr>
          <p:cNvPr id="100" name="Square 96"/>
          <p:cNvSpPr/>
          <p:nvPr/>
        </p:nvSpPr>
        <p:spPr>
          <a:xfrm>
            <a:off x="9372600" y="4434840"/>
            <a:ext cx="310896" cy="310896"/>
          </a:xfrm>
          <a:prstGeom prst="rect">
            <a:avLst/>
          </a:prstGeom>
          <a:ln w="12700">
            <a:solidFill>
              <a:srgbClr val="F6C9A0"/>
            </a:solidFill>
            <a:prstDash val="solid"/>
          </a:ln>
        </p:spPr>
      </p:sp>
      <p:sp>
        <p:nvSpPr>
          <p:cNvPr id="101" name="Square 97"/>
          <p:cNvSpPr/>
          <p:nvPr/>
        </p:nvSpPr>
        <p:spPr>
          <a:xfrm>
            <a:off x="9738360" y="4434840"/>
            <a:ext cx="310896" cy="310896"/>
          </a:xfrm>
          <a:prstGeom prst="rect">
            <a:avLst/>
          </a:prstGeom>
          <a:ln w="12700">
            <a:solidFill>
              <a:srgbClr val="F6C9A0"/>
            </a:solidFill>
            <a:prstDash val="solid"/>
          </a:ln>
        </p:spPr>
      </p:sp>
      <p:sp>
        <p:nvSpPr>
          <p:cNvPr id="102" name="Square 98"/>
          <p:cNvSpPr/>
          <p:nvPr/>
        </p:nvSpPr>
        <p:spPr>
          <a:xfrm>
            <a:off x="10104120" y="4434840"/>
            <a:ext cx="310896" cy="310896"/>
          </a:xfrm>
          <a:prstGeom prst="rect">
            <a:avLst/>
          </a:prstGeom>
          <a:ln w="12700">
            <a:solidFill>
              <a:srgbClr val="F6C9A0"/>
            </a:solidFill>
            <a:prstDash val="solid"/>
          </a:ln>
        </p:spPr>
      </p:sp>
      <p:sp>
        <p:nvSpPr>
          <p:cNvPr id="103" name="Square 99"/>
          <p:cNvSpPr/>
          <p:nvPr/>
        </p:nvSpPr>
        <p:spPr>
          <a:xfrm>
            <a:off x="10469880" y="4434840"/>
            <a:ext cx="310896" cy="310896"/>
          </a:xfrm>
          <a:prstGeom prst="rect">
            <a:avLst/>
          </a:prstGeom>
          <a:ln w="12700">
            <a:solidFill>
              <a:srgbClr val="F6C9A0"/>
            </a:solidFill>
            <a:prstDash val="solid"/>
          </a:ln>
        </p:spPr>
      </p:sp>
      <p:sp>
        <p:nvSpPr>
          <p:cNvPr id="104" name="Square 100"/>
          <p:cNvSpPr/>
          <p:nvPr/>
        </p:nvSpPr>
        <p:spPr>
          <a:xfrm>
            <a:off x="10835640" y="4434840"/>
            <a:ext cx="310896" cy="310896"/>
          </a:xfrm>
          <a:prstGeom prst="rect">
            <a:avLst/>
          </a:prstGeom>
          <a:ln w="12700">
            <a:solidFill>
              <a:srgbClr val="F6C9A0"/>
            </a:solidFill>
            <a:prstDash val="solid"/>
          </a:ln>
        </p:spPr>
      </p:sp>
      <p:sp>
        <p:nvSpPr>
          <p:cNvPr id="105" name="Grid key"/>
          <p:cNvSpPr txBox="1"/>
          <p:nvPr/>
        </p:nvSpPr>
        <p:spPr>
          <a:xfrm>
            <a:off x="7543800" y="4937760"/>
            <a:ext cx="3657600" cy="594360"/>
          </a:xfrm>
          <a:prstGeom prst="rect">
            <a:avLst/>
          </a:prstGeom>
          <a:noFill/>
          <a:ln/>
        </p:spPr>
        <p:txBody>
          <a:bodyPr wrap="square" lIns="0" tIns="0" rIns="0" bIns="0" rtlCol="0" anchor="t"/>
          <a:lstStyle/>
          <a:p>
            <a:pPr indent="0" marL="0">
              <a:buNone/>
            </a:pPr>
            <a:r>
              <a:rPr lang="en-US" sz="1400" dirty="0">
                <a:solidFill>
                  <a:srgbClr val="F6C9A0"/>
                </a:solidFill>
              </a:rPr>
              <a:t>Filled: same level as the day before</a:t>
            </a:r>
            <a:endParaRPr lang="en-US" sz="1400" dirty="0"/>
          </a:p>
          <a:p>
            <a:pPr indent="0" marL="0">
              <a:buNone/>
            </a:pPr>
            <a:r>
              <a:rPr lang="en-US" sz="1400" dirty="0">
                <a:solidFill>
                  <a:srgbClr val="F6C9A0"/>
                </a:solidFill>
              </a:rPr>
              <a:t>Empty: the level changed</a:t>
            </a:r>
            <a:endParaRPr lang="en-US" sz="14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6C9A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THE PROBLEM AND THE DATA</a:t>
            </a:r>
            <a:endParaRPr lang="en-US" sz="3400" dirty="0"/>
          </a:p>
        </p:txBody>
      </p:sp>
      <p:sp>
        <p:nvSpPr>
          <p:cNvPr id="3" name="Subtitle pill"/>
          <p:cNvSpPr txBox="1"/>
          <p:nvPr/>
        </p:nvSpPr>
        <p:spPr>
          <a:xfrm>
            <a:off x="3078328" y="1417320"/>
            <a:ext cx="6035040" cy="420624"/>
          </a:xfrm>
          <a:prstGeom prst="rect">
            <a:avLst/>
          </a:prstGeom>
          <a:solidFill>
            <a:srgbClr val="F6C9A0"/>
          </a:solidFill>
          <a:ln/>
        </p:spPr>
        <p:txBody>
          <a:bodyPr wrap="square" lIns="50800" tIns="50800" rIns="50800" bIns="50800" rtlCol="0" anchor="ctr"/>
          <a:lstStyle/>
          <a:p>
            <a:pPr algn="ctr" indent="0" marL="0">
              <a:buNone/>
            </a:pPr>
            <a:r>
              <a:rPr lang="en-US" sz="1500" spc="100" kern="0" dirty="0">
                <a:solidFill>
                  <a:srgbClr val="2E1406"/>
                </a:solidFill>
              </a:rPr>
              <a:t>Who needs a one-day heat warning, and what we used</a:t>
            </a:r>
            <a:endParaRPr lang="en-US" sz="1500" dirty="0"/>
          </a:p>
        </p:txBody>
      </p:sp>
      <p:sp>
        <p:nvSpPr>
          <p:cNvPr id="4" name="Problem text"/>
          <p:cNvSpPr txBox="1"/>
          <p:nvPr/>
        </p:nvSpPr>
        <p:spPr>
          <a:xfrm>
            <a:off x="868680" y="2103120"/>
            <a:ext cx="4846320" cy="2514600"/>
          </a:xfrm>
          <a:prstGeom prst="rect">
            <a:avLst/>
          </a:prstGeom>
          <a:noFill/>
          <a:ln/>
        </p:spPr>
        <p:txBody>
          <a:bodyPr wrap="square" lIns="0" tIns="0" rIns="0" bIns="0" rtlCol="0" anchor="t"/>
          <a:lstStyle/>
          <a:p>
            <a:pPr indent="0" marL="0">
              <a:buNone/>
            </a:pPr>
            <a:r>
              <a:rPr lang="en-US" sz="2000" dirty="0">
                <a:solidFill>
                  <a:srgbClr val="A63A0C"/>
                </a:solidFill>
                <a:latin typeface="Cambria" pitchFamily="34" charset="0"/>
                <a:ea typeface="Cambria" pitchFamily="34" charset="-122"/>
                <a:cs typeface="Cambria" pitchFamily="34" charset="-120"/>
              </a:rPr>
              <a:t>Who needs it</a:t>
            </a:r>
            <a:endParaRPr lang="en-US" sz="2000" dirty="0"/>
          </a:p>
          <a:p>
            <a:pPr indent="0" marL="0">
              <a:spcAft>
                <a:spcPts val="1400"/>
              </a:spcAft>
              <a:buNone/>
            </a:pPr>
            <a:r>
              <a:rPr lang="en-US" sz="1700" dirty="0">
                <a:solidFill>
                  <a:srgbClr val="2E1406"/>
                </a:solidFill>
              </a:rPr>
              <a:t>Schools, employers of outdoor workers and city offices. A day ahead, they decide to move activities, prepare water and cooling, or warn residents.</a:t>
            </a:r>
            <a:endParaRPr lang="en-US" sz="2000" dirty="0"/>
          </a:p>
          <a:p>
            <a:pPr indent="0" marL="0">
              <a:buNone/>
            </a:pPr>
            <a:r>
              <a:rPr lang="en-US" sz="2000" dirty="0">
                <a:solidFill>
                  <a:srgbClr val="A63A0C"/>
                </a:solidFill>
                <a:latin typeface="Cambria" pitchFamily="34" charset="0"/>
                <a:ea typeface="Cambria" pitchFamily="34" charset="-122"/>
                <a:cs typeface="Cambria" pitchFamily="34" charset="-120"/>
              </a:rPr>
              <a:t>Our task</a:t>
            </a:r>
            <a:endParaRPr lang="en-US" sz="2000" dirty="0"/>
          </a:p>
          <a:p>
            <a:pPr indent="0" marL="0">
              <a:buNone/>
            </a:pPr>
            <a:r>
              <a:rPr lang="en-US" sz="1700" dirty="0">
                <a:solidFill>
                  <a:srgbClr val="2E1406"/>
                </a:solidFill>
              </a:rPr>
              <a:t>Predict tomorrow's PAGASA heat level for each city, using only today's weather in that city.</a:t>
            </a:r>
            <a:endParaRPr lang="en-US" sz="2000" dirty="0"/>
          </a:p>
        </p:txBody>
      </p:sp>
      <p:sp>
        <p:nvSpPr>
          <p:cNvPr id="5" name="Levels label"/>
          <p:cNvSpPr txBox="1"/>
          <p:nvPr/>
        </p:nvSpPr>
        <p:spPr>
          <a:xfrm>
            <a:off x="868680" y="4681728"/>
            <a:ext cx="5120640" cy="274320"/>
          </a:xfrm>
          <a:prstGeom prst="rect">
            <a:avLst/>
          </a:prstGeom>
          <a:noFill/>
          <a:ln/>
        </p:spPr>
        <p:txBody>
          <a:bodyPr wrap="square" lIns="0" tIns="0" rIns="0" bIns="0" rtlCol="0" anchor="ctr"/>
          <a:lstStyle/>
          <a:p>
            <a:pPr indent="0" marL="0">
              <a:buNone/>
            </a:pPr>
            <a:r>
              <a:rPr lang="en-US" sz="1200" dirty="0">
                <a:solidFill>
                  <a:srgbClr val="6F5C51"/>
                </a:solidFill>
              </a:rPr>
              <a:t>The PAGASA heat index levels (the heat index is how hot it feels)</a:t>
            </a:r>
            <a:endParaRPr lang="en-US" sz="1200" dirty="0"/>
          </a:p>
        </p:txBody>
      </p:sp>
      <p:sp>
        <p:nvSpPr>
          <p:cNvPr id="6" name="Level Not Hazardous"/>
          <p:cNvSpPr txBox="1"/>
          <p:nvPr/>
        </p:nvSpPr>
        <p:spPr>
          <a:xfrm>
            <a:off x="868680" y="4983480"/>
            <a:ext cx="923544" cy="713232"/>
          </a:xfrm>
          <a:prstGeom prst="rect">
            <a:avLst/>
          </a:prstGeom>
          <a:solidFill>
            <a:srgbClr val="4C9BE8"/>
          </a:solidFill>
          <a:ln/>
        </p:spPr>
        <p:txBody>
          <a:bodyPr wrap="square" lIns="25400" tIns="25400" rIns="25400" bIns="25400" rtlCol="0" anchor="ctr"/>
          <a:lstStyle/>
          <a:p>
            <a:pPr algn="ctr" indent="0" marL="0">
              <a:buNone/>
            </a:pPr>
            <a:r>
              <a:rPr lang="en-US" sz="1200" b="1" dirty="0">
                <a:solidFill>
                  <a:srgbClr val="FFFFFF"/>
                </a:solidFill>
              </a:rPr>
              <a:t>Not Hazardous</a:t>
            </a:r>
            <a:endParaRPr lang="en-US" sz="1200" dirty="0"/>
          </a:p>
          <a:p>
            <a:pPr algn="ctr" indent="0" marL="0">
              <a:buNone/>
            </a:pPr>
            <a:r>
              <a:rPr lang="en-US" sz="1200" dirty="0">
                <a:solidFill>
                  <a:srgbClr val="FFFFFF"/>
                </a:solidFill>
              </a:rPr>
              <a:t>below 27 °C</a:t>
            </a:r>
            <a:endParaRPr lang="en-US" sz="1200" dirty="0"/>
          </a:p>
        </p:txBody>
      </p:sp>
      <p:sp>
        <p:nvSpPr>
          <p:cNvPr id="7" name="Level Caution"/>
          <p:cNvSpPr txBox="1"/>
          <p:nvPr/>
        </p:nvSpPr>
        <p:spPr>
          <a:xfrm>
            <a:off x="1847088" y="4983480"/>
            <a:ext cx="923544" cy="713232"/>
          </a:xfrm>
          <a:prstGeom prst="rect">
            <a:avLst/>
          </a:prstGeom>
          <a:solidFill>
            <a:srgbClr val="F2C14E"/>
          </a:solidFill>
          <a:ln/>
        </p:spPr>
        <p:txBody>
          <a:bodyPr wrap="square" lIns="25400" tIns="25400" rIns="25400" bIns="25400" rtlCol="0" anchor="ctr"/>
          <a:lstStyle/>
          <a:p>
            <a:pPr algn="ctr" indent="0" marL="0">
              <a:buNone/>
            </a:pPr>
            <a:r>
              <a:rPr lang="en-US" sz="1200" b="1" dirty="0">
                <a:solidFill>
                  <a:srgbClr val="2E1406"/>
                </a:solidFill>
              </a:rPr>
              <a:t>Caution</a:t>
            </a:r>
            <a:endParaRPr lang="en-US" sz="1200" dirty="0"/>
          </a:p>
          <a:p>
            <a:pPr algn="ctr" indent="0" marL="0">
              <a:buNone/>
            </a:pPr>
            <a:r>
              <a:rPr lang="en-US" sz="1200" dirty="0">
                <a:solidFill>
                  <a:srgbClr val="2E1406"/>
                </a:solidFill>
              </a:rPr>
              <a:t>27–32 °C</a:t>
            </a:r>
            <a:endParaRPr lang="en-US" sz="1200" dirty="0"/>
          </a:p>
        </p:txBody>
      </p:sp>
      <p:sp>
        <p:nvSpPr>
          <p:cNvPr id="8" name="Level Extreme Caution"/>
          <p:cNvSpPr txBox="1"/>
          <p:nvPr/>
        </p:nvSpPr>
        <p:spPr>
          <a:xfrm>
            <a:off x="2825496" y="4983480"/>
            <a:ext cx="923544" cy="713232"/>
          </a:xfrm>
          <a:prstGeom prst="rect">
            <a:avLst/>
          </a:prstGeom>
          <a:solidFill>
            <a:srgbClr val="F28C28"/>
          </a:solidFill>
          <a:ln/>
        </p:spPr>
        <p:txBody>
          <a:bodyPr wrap="square" lIns="25400" tIns="25400" rIns="25400" bIns="25400" rtlCol="0" anchor="ctr"/>
          <a:lstStyle/>
          <a:p>
            <a:pPr algn="ctr" indent="0" marL="0">
              <a:buNone/>
            </a:pPr>
            <a:r>
              <a:rPr lang="en-US" sz="1200" b="1" dirty="0">
                <a:solidFill>
                  <a:srgbClr val="2E1406"/>
                </a:solidFill>
              </a:rPr>
              <a:t>Extreme Caution</a:t>
            </a:r>
            <a:endParaRPr lang="en-US" sz="1200" dirty="0"/>
          </a:p>
          <a:p>
            <a:pPr algn="ctr" indent="0" marL="0">
              <a:buNone/>
            </a:pPr>
            <a:r>
              <a:rPr lang="en-US" sz="1200" dirty="0">
                <a:solidFill>
                  <a:srgbClr val="2E1406"/>
                </a:solidFill>
              </a:rPr>
              <a:t>33–41 °C</a:t>
            </a:r>
            <a:endParaRPr lang="en-US" sz="1200" dirty="0"/>
          </a:p>
        </p:txBody>
      </p:sp>
      <p:sp>
        <p:nvSpPr>
          <p:cNvPr id="9" name="Level Danger"/>
          <p:cNvSpPr txBox="1"/>
          <p:nvPr/>
        </p:nvSpPr>
        <p:spPr>
          <a:xfrm>
            <a:off x="3803904" y="4983480"/>
            <a:ext cx="923544" cy="713232"/>
          </a:xfrm>
          <a:prstGeom prst="rect">
            <a:avLst/>
          </a:prstGeom>
          <a:solidFill>
            <a:srgbClr val="C0392B"/>
          </a:solidFill>
          <a:ln/>
        </p:spPr>
        <p:txBody>
          <a:bodyPr wrap="square" lIns="25400" tIns="25400" rIns="25400" bIns="25400" rtlCol="0" anchor="ctr"/>
          <a:lstStyle/>
          <a:p>
            <a:pPr algn="ctr" indent="0" marL="0">
              <a:buNone/>
            </a:pPr>
            <a:r>
              <a:rPr lang="en-US" sz="1200" b="1" dirty="0">
                <a:solidFill>
                  <a:srgbClr val="FFFFFF"/>
                </a:solidFill>
              </a:rPr>
              <a:t>Danger</a:t>
            </a:r>
            <a:endParaRPr lang="en-US" sz="1200" dirty="0"/>
          </a:p>
          <a:p>
            <a:pPr algn="ctr" indent="0" marL="0">
              <a:buNone/>
            </a:pPr>
            <a:r>
              <a:rPr lang="en-US" sz="1200" dirty="0">
                <a:solidFill>
                  <a:srgbClr val="FFFFFF"/>
                </a:solidFill>
              </a:rPr>
              <a:t>42–51 °C</a:t>
            </a:r>
            <a:endParaRPr lang="en-US" sz="1200" dirty="0"/>
          </a:p>
        </p:txBody>
      </p:sp>
      <p:sp>
        <p:nvSpPr>
          <p:cNvPr id="10" name="Level Extreme Danger"/>
          <p:cNvSpPr txBox="1"/>
          <p:nvPr/>
        </p:nvSpPr>
        <p:spPr>
          <a:xfrm>
            <a:off x="4782312" y="4983480"/>
            <a:ext cx="923544" cy="713232"/>
          </a:xfrm>
          <a:prstGeom prst="rect">
            <a:avLst/>
          </a:prstGeom>
          <a:solidFill>
            <a:srgbClr val="6E0000"/>
          </a:solidFill>
          <a:ln/>
        </p:spPr>
        <p:txBody>
          <a:bodyPr wrap="square" lIns="25400" tIns="25400" rIns="25400" bIns="25400" rtlCol="0" anchor="ctr"/>
          <a:lstStyle/>
          <a:p>
            <a:pPr algn="ctr" indent="0" marL="0">
              <a:buNone/>
            </a:pPr>
            <a:r>
              <a:rPr lang="en-US" sz="1200" b="1" dirty="0">
                <a:solidFill>
                  <a:srgbClr val="FFFFFF"/>
                </a:solidFill>
              </a:rPr>
              <a:t>Extreme Danger</a:t>
            </a:r>
            <a:endParaRPr lang="en-US" sz="1200" dirty="0"/>
          </a:p>
          <a:p>
            <a:pPr algn="ctr" indent="0" marL="0">
              <a:buNone/>
            </a:pPr>
            <a:r>
              <a:rPr lang="en-US" sz="1200" dirty="0">
                <a:solidFill>
                  <a:srgbClr val="FFFFFF"/>
                </a:solidFill>
              </a:rPr>
              <a:t>52 °C and up</a:t>
            </a:r>
            <a:endParaRPr lang="en-US" sz="1200" dirty="0"/>
          </a:p>
        </p:txBody>
      </p:sp>
      <p:sp>
        <p:nvSpPr>
          <p:cNvPr id="11" name="Tile 16"/>
          <p:cNvSpPr/>
          <p:nvPr/>
        </p:nvSpPr>
        <p:spPr>
          <a:xfrm>
            <a:off x="6172200" y="2103120"/>
            <a:ext cx="2514600" cy="1691640"/>
          </a:xfrm>
          <a:prstGeom prst="rect">
            <a:avLst/>
          </a:prstGeom>
          <a:solidFill>
            <a:srgbClr val="FDEBDC"/>
          </a:solidFill>
          <a:ln/>
        </p:spPr>
      </p:sp>
      <p:sp>
        <p:nvSpPr>
          <p:cNvPr id="12" name="Text 10"/>
          <p:cNvSpPr txBox="1"/>
          <p:nvPr/>
        </p:nvSpPr>
        <p:spPr>
          <a:xfrm>
            <a:off x="6355080" y="2240280"/>
            <a:ext cx="2148840" cy="640080"/>
          </a:xfrm>
          <a:prstGeom prst="rect">
            <a:avLst/>
          </a:prstGeom>
          <a:noFill/>
          <a:ln/>
        </p:spPr>
        <p:txBody>
          <a:bodyPr wrap="square" lIns="0" tIns="0" rIns="0" bIns="0" rtlCol="0" anchor="ctr"/>
          <a:lstStyle/>
          <a:p>
            <a:pPr indent="0" marL="0">
              <a:buNone/>
            </a:pPr>
            <a:r>
              <a:rPr lang="en-US" sz="4000" dirty="0">
                <a:solidFill>
                  <a:srgbClr val="A63A0C"/>
                </a:solidFill>
                <a:latin typeface="Cambria" pitchFamily="34" charset="0"/>
                <a:ea typeface="Cambria" pitchFamily="34" charset="-122"/>
                <a:cs typeface="Cambria" pitchFamily="34" charset="-120"/>
              </a:rPr>
              <a:t>16</a:t>
            </a:r>
            <a:endParaRPr lang="en-US" sz="4000" dirty="0"/>
          </a:p>
        </p:txBody>
      </p:sp>
      <p:sp>
        <p:nvSpPr>
          <p:cNvPr id="13" name="Text 11"/>
          <p:cNvSpPr txBox="1"/>
          <p:nvPr/>
        </p:nvSpPr>
        <p:spPr>
          <a:xfrm>
            <a:off x="6355080" y="2926080"/>
            <a:ext cx="2148840" cy="777240"/>
          </a:xfrm>
          <a:prstGeom prst="rect">
            <a:avLst/>
          </a:prstGeom>
          <a:noFill/>
          <a:ln/>
        </p:spPr>
        <p:txBody>
          <a:bodyPr wrap="square" lIns="0" tIns="0" rIns="0" bIns="0" rtlCol="0" anchor="t"/>
          <a:lstStyle/>
          <a:p>
            <a:pPr indent="0" marL="0">
              <a:buNone/>
            </a:pPr>
            <a:r>
              <a:rPr lang="en-US" sz="1400" dirty="0">
                <a:solidFill>
                  <a:schemeClr val="tx1"/>
                </a:solidFill>
              </a:rPr>
              <a:t>cities of Metro Manila (NCR)</a:t>
            </a:r>
            <a:endParaRPr lang="en-US" sz="1400" dirty="0"/>
          </a:p>
        </p:txBody>
      </p:sp>
      <p:sp>
        <p:nvSpPr>
          <p:cNvPr id="14" name="Tile 29,168"/>
          <p:cNvSpPr/>
          <p:nvPr/>
        </p:nvSpPr>
        <p:spPr>
          <a:xfrm>
            <a:off x="8823960" y="2103120"/>
            <a:ext cx="2514600" cy="1691640"/>
          </a:xfrm>
          <a:prstGeom prst="rect">
            <a:avLst/>
          </a:prstGeom>
          <a:solidFill>
            <a:srgbClr val="FDEBDC"/>
          </a:solidFill>
          <a:ln/>
        </p:spPr>
      </p:sp>
      <p:sp>
        <p:nvSpPr>
          <p:cNvPr id="15" name="Text 13"/>
          <p:cNvSpPr txBox="1"/>
          <p:nvPr/>
        </p:nvSpPr>
        <p:spPr>
          <a:xfrm>
            <a:off x="9006840" y="2240280"/>
            <a:ext cx="2148840" cy="640080"/>
          </a:xfrm>
          <a:prstGeom prst="rect">
            <a:avLst/>
          </a:prstGeom>
          <a:noFill/>
          <a:ln/>
        </p:spPr>
        <p:txBody>
          <a:bodyPr wrap="square" lIns="0" tIns="0" rIns="0" bIns="0" rtlCol="0" anchor="ctr"/>
          <a:lstStyle/>
          <a:p>
            <a:pPr indent="0" marL="0">
              <a:buNone/>
            </a:pPr>
            <a:r>
              <a:rPr lang="en-US" sz="4000" dirty="0">
                <a:solidFill>
                  <a:srgbClr val="A63A0C"/>
                </a:solidFill>
                <a:latin typeface="Cambria" pitchFamily="34" charset="0"/>
                <a:ea typeface="Cambria" pitchFamily="34" charset="-122"/>
                <a:cs typeface="Cambria" pitchFamily="34" charset="-120"/>
              </a:rPr>
              <a:t>29,168</a:t>
            </a:r>
            <a:endParaRPr lang="en-US" sz="4000" dirty="0"/>
          </a:p>
        </p:txBody>
      </p:sp>
      <p:sp>
        <p:nvSpPr>
          <p:cNvPr id="16" name="Text 14"/>
          <p:cNvSpPr txBox="1"/>
          <p:nvPr/>
        </p:nvSpPr>
        <p:spPr>
          <a:xfrm>
            <a:off x="9006840" y="2926080"/>
            <a:ext cx="2148840" cy="777240"/>
          </a:xfrm>
          <a:prstGeom prst="rect">
            <a:avLst/>
          </a:prstGeom>
          <a:noFill/>
          <a:ln/>
        </p:spPr>
        <p:txBody>
          <a:bodyPr wrap="square" lIns="0" tIns="0" rIns="0" bIns="0" rtlCol="0" anchor="t"/>
          <a:lstStyle/>
          <a:p>
            <a:pPr indent="0" marL="0">
              <a:buNone/>
            </a:pPr>
            <a:r>
              <a:rPr lang="en-US" sz="1400" dirty="0">
                <a:solidFill>
                  <a:schemeClr val="tx1"/>
                </a:solidFill>
              </a:rPr>
              <a:t>rows: one per city per day, 2021 to 2025</a:t>
            </a:r>
            <a:endParaRPr lang="en-US" sz="1400" dirty="0"/>
          </a:p>
        </p:txBody>
      </p:sp>
      <p:sp>
        <p:nvSpPr>
          <p:cNvPr id="17" name="Tile 5"/>
          <p:cNvSpPr/>
          <p:nvPr/>
        </p:nvSpPr>
        <p:spPr>
          <a:xfrm>
            <a:off x="6172200" y="3931920"/>
            <a:ext cx="2514600" cy="1691640"/>
          </a:xfrm>
          <a:prstGeom prst="rect">
            <a:avLst/>
          </a:prstGeom>
          <a:solidFill>
            <a:srgbClr val="FDEBDC"/>
          </a:solidFill>
          <a:ln/>
        </p:spPr>
      </p:sp>
      <p:sp>
        <p:nvSpPr>
          <p:cNvPr id="18" name="Text 16"/>
          <p:cNvSpPr txBox="1"/>
          <p:nvPr/>
        </p:nvSpPr>
        <p:spPr>
          <a:xfrm>
            <a:off x="6355080" y="4069080"/>
            <a:ext cx="2148840" cy="640080"/>
          </a:xfrm>
          <a:prstGeom prst="rect">
            <a:avLst/>
          </a:prstGeom>
          <a:noFill/>
          <a:ln/>
        </p:spPr>
        <p:txBody>
          <a:bodyPr wrap="square" lIns="0" tIns="0" rIns="0" bIns="0" rtlCol="0" anchor="ctr"/>
          <a:lstStyle/>
          <a:p>
            <a:pPr indent="0" marL="0">
              <a:buNone/>
            </a:pPr>
            <a:r>
              <a:rPr lang="en-US" sz="4000" dirty="0">
                <a:solidFill>
                  <a:srgbClr val="A63A0C"/>
                </a:solidFill>
                <a:latin typeface="Cambria" pitchFamily="34" charset="0"/>
                <a:ea typeface="Cambria" pitchFamily="34" charset="-122"/>
                <a:cs typeface="Cambria" pitchFamily="34" charset="-120"/>
              </a:rPr>
              <a:t>5</a:t>
            </a:r>
            <a:endParaRPr lang="en-US" sz="4000" dirty="0"/>
          </a:p>
        </p:txBody>
      </p:sp>
      <p:sp>
        <p:nvSpPr>
          <p:cNvPr id="19" name="Text 17"/>
          <p:cNvSpPr txBox="1"/>
          <p:nvPr/>
        </p:nvSpPr>
        <p:spPr>
          <a:xfrm>
            <a:off x="6355080" y="4754880"/>
            <a:ext cx="2148840" cy="777240"/>
          </a:xfrm>
          <a:prstGeom prst="rect">
            <a:avLst/>
          </a:prstGeom>
          <a:noFill/>
          <a:ln/>
        </p:spPr>
        <p:txBody>
          <a:bodyPr wrap="square" lIns="0" tIns="0" rIns="0" bIns="0" rtlCol="0" anchor="t"/>
          <a:lstStyle/>
          <a:p>
            <a:pPr indent="0" marL="0">
              <a:buNone/>
            </a:pPr>
            <a:r>
              <a:rPr lang="en-US" sz="1400" dirty="0">
                <a:solidFill>
                  <a:schemeClr val="tx1"/>
                </a:solidFill>
              </a:rPr>
              <a:t>weather readings about today: heat index, lowest temperature, rain, air pressure, sunshine</a:t>
            </a:r>
            <a:endParaRPr lang="en-US" sz="1400" dirty="0"/>
          </a:p>
        </p:txBody>
      </p:sp>
      <p:sp>
        <p:nvSpPr>
          <p:cNvPr id="20" name="Tile 1 day"/>
          <p:cNvSpPr/>
          <p:nvPr/>
        </p:nvSpPr>
        <p:spPr>
          <a:xfrm>
            <a:off x="8823960" y="3931920"/>
            <a:ext cx="2514600" cy="1691640"/>
          </a:xfrm>
          <a:prstGeom prst="rect">
            <a:avLst/>
          </a:prstGeom>
          <a:solidFill>
            <a:srgbClr val="FDEBDC"/>
          </a:solidFill>
          <a:ln/>
        </p:spPr>
      </p:sp>
      <p:sp>
        <p:nvSpPr>
          <p:cNvPr id="21" name="Text 19"/>
          <p:cNvSpPr txBox="1"/>
          <p:nvPr/>
        </p:nvSpPr>
        <p:spPr>
          <a:xfrm>
            <a:off x="9006840" y="4069080"/>
            <a:ext cx="2148840" cy="640080"/>
          </a:xfrm>
          <a:prstGeom prst="rect">
            <a:avLst/>
          </a:prstGeom>
          <a:noFill/>
          <a:ln/>
        </p:spPr>
        <p:txBody>
          <a:bodyPr wrap="square" lIns="0" tIns="0" rIns="0" bIns="0" rtlCol="0" anchor="ctr"/>
          <a:lstStyle/>
          <a:p>
            <a:pPr indent="0" marL="0">
              <a:buNone/>
            </a:pPr>
            <a:r>
              <a:rPr lang="en-US" sz="4000" dirty="0">
                <a:solidFill>
                  <a:srgbClr val="A63A0C"/>
                </a:solidFill>
                <a:latin typeface="Cambria" pitchFamily="34" charset="0"/>
                <a:ea typeface="Cambria" pitchFamily="34" charset="-122"/>
                <a:cs typeface="Cambria" pitchFamily="34" charset="-120"/>
              </a:rPr>
              <a:t>1 day</a:t>
            </a:r>
            <a:endParaRPr lang="en-US" sz="4000" dirty="0"/>
          </a:p>
        </p:txBody>
      </p:sp>
      <p:sp>
        <p:nvSpPr>
          <p:cNvPr id="22" name="Text 20"/>
          <p:cNvSpPr txBox="1"/>
          <p:nvPr/>
        </p:nvSpPr>
        <p:spPr>
          <a:xfrm>
            <a:off x="9006840" y="4754880"/>
            <a:ext cx="2148840" cy="777240"/>
          </a:xfrm>
          <a:prstGeom prst="rect">
            <a:avLst/>
          </a:prstGeom>
          <a:noFill/>
          <a:ln/>
        </p:spPr>
        <p:txBody>
          <a:bodyPr wrap="square" lIns="0" tIns="0" rIns="0" bIns="0" rtlCol="0" anchor="t"/>
          <a:lstStyle/>
          <a:p>
            <a:pPr indent="0" marL="0">
              <a:buNone/>
            </a:pPr>
            <a:r>
              <a:rPr lang="en-US" sz="1400" dirty="0">
                <a:solidFill>
                  <a:schemeClr val="tx1"/>
                </a:solidFill>
              </a:rPr>
              <a:t>ahead: we predict tomorrow's level in the same city</a:t>
            </a:r>
            <a:endParaRPr lang="en-US" sz="1400" dirty="0"/>
          </a:p>
        </p:txBody>
      </p:sp>
      <p:sp>
        <p:nvSpPr>
          <p:cNvPr id="23" name="Text 21"/>
          <p:cNvSpPr txBox="1"/>
          <p:nvPr/>
        </p:nvSpPr>
        <p:spPr>
          <a:xfrm>
            <a:off x="6172200" y="5779008"/>
            <a:ext cx="5166360" cy="256032"/>
          </a:xfrm>
          <a:prstGeom prst="rect">
            <a:avLst/>
          </a:prstGeom>
          <a:noFill/>
          <a:ln/>
        </p:spPr>
        <p:txBody>
          <a:bodyPr wrap="square" lIns="0" tIns="0" rIns="0" bIns="0" rtlCol="0" anchor="ctr"/>
          <a:lstStyle/>
          <a:p>
            <a:pPr indent="0" marL="0">
              <a:buNone/>
            </a:pPr>
            <a:r>
              <a:rPr lang="en-US" sz="1100" dirty="0">
                <a:solidFill>
                  <a:srgbClr val="6F5C51"/>
                </a:solidFill>
              </a:rPr>
              <a:t>Weather: hourly estimates from Open-Meteo (ERA5)</a:t>
            </a:r>
            <a:endParaRPr lang="en-US" sz="11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WHAT THE DATA SHOWED</a:t>
            </a:r>
            <a:endParaRPr lang="en-US" sz="3400" dirty="0"/>
          </a:p>
        </p:txBody>
      </p:sp>
      <p:sp>
        <p:nvSpPr>
          <p:cNvPr id="3" name="Subtitle pill"/>
          <p:cNvSpPr txBox="1"/>
          <p:nvPr/>
        </p:nvSpPr>
        <p:spPr>
          <a:xfrm>
            <a:off x="3535528" y="1417320"/>
            <a:ext cx="5120640" cy="420624"/>
          </a:xfrm>
          <a:prstGeom prst="rect">
            <a:avLst/>
          </a:prstGeom>
          <a:solidFill>
            <a:srgbClr val="F6C9A0"/>
          </a:solidFill>
          <a:ln/>
        </p:spPr>
        <p:txBody>
          <a:bodyPr wrap="square" lIns="50800" tIns="50800" rIns="50800" bIns="50800" rtlCol="0" anchor="ctr"/>
          <a:lstStyle/>
          <a:p>
            <a:pPr algn="ctr" indent="0" marL="0">
              <a:buNone/>
            </a:pPr>
            <a:r>
              <a:rPr lang="en-US" sz="1500" spc="100" kern="0" dirty="0">
                <a:solidFill>
                  <a:srgbClr val="2E1406"/>
                </a:solidFill>
              </a:rPr>
              <a:t>Three findings, and what each one changed</a:t>
            </a:r>
            <a:endParaRPr lang="en-US" sz="1500" dirty="0"/>
          </a:p>
        </p:txBody>
      </p:sp>
      <p:sp>
        <p:nvSpPr>
          <p:cNvPr id="4" name="Finding number 1"/>
          <p:cNvSpPr txBox="1"/>
          <p:nvPr/>
        </p:nvSpPr>
        <p:spPr>
          <a:xfrm>
            <a:off x="868680" y="2103120"/>
            <a:ext cx="1874520" cy="685800"/>
          </a:xfrm>
          <a:prstGeom prst="rect">
            <a:avLst/>
          </a:prstGeom>
          <a:noFill/>
          <a:ln/>
        </p:spPr>
        <p:txBody>
          <a:bodyPr wrap="square" lIns="0" tIns="0" rIns="0" bIns="0" rtlCol="0" anchor="t"/>
          <a:lstStyle/>
          <a:p>
            <a:pPr indent="0" marL="0">
              <a:buNone/>
            </a:pPr>
            <a:r>
              <a:rPr lang="en-US" sz="3200" dirty="0">
                <a:solidFill>
                  <a:srgbClr val="A63A0C"/>
                </a:solidFill>
                <a:latin typeface="Cambria" pitchFamily="34" charset="0"/>
                <a:ea typeface="Cambria" pitchFamily="34" charset="-122"/>
                <a:cs typeface="Cambria" pitchFamily="34" charset="-120"/>
              </a:rPr>
              <a:t>8%</a:t>
            </a:r>
            <a:endParaRPr lang="en-US" sz="3200" dirty="0"/>
          </a:p>
        </p:txBody>
      </p:sp>
      <p:sp>
        <p:nvSpPr>
          <p:cNvPr id="5" name="Finding text 1"/>
          <p:cNvSpPr txBox="1"/>
          <p:nvPr/>
        </p:nvSpPr>
        <p:spPr>
          <a:xfrm>
            <a:off x="2788920" y="2103120"/>
            <a:ext cx="3246120" cy="12344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of city-days were Danger, and 78.5% were Extreme Caution</a:t>
            </a:r>
            <a:endParaRPr lang="en-US" sz="1400" dirty="0"/>
          </a:p>
          <a:p>
            <a:pPr indent="0" marL="0">
              <a:spcAft>
                <a:spcPts val="400"/>
              </a:spcAft>
              <a:buNone/>
            </a:pPr>
            <a:r>
              <a:rPr lang="en-US" sz="1400" dirty="0">
                <a:solidFill>
                  <a:srgbClr val="6F5C51"/>
                </a:solidFill>
              </a:rPr>
              <a:t>So "percent correct" misleads: always guessing Extreme Caution is already 78% right.</a:t>
            </a:r>
            <a:endParaRPr lang="en-US" sz="1400" dirty="0"/>
          </a:p>
        </p:txBody>
      </p:sp>
      <p:sp>
        <p:nvSpPr>
          <p:cNvPr id="6" name="Finding number 2"/>
          <p:cNvSpPr txBox="1"/>
          <p:nvPr/>
        </p:nvSpPr>
        <p:spPr>
          <a:xfrm>
            <a:off x="868680" y="3429000"/>
            <a:ext cx="1874520" cy="685800"/>
          </a:xfrm>
          <a:prstGeom prst="rect">
            <a:avLst/>
          </a:prstGeom>
          <a:noFill/>
          <a:ln/>
        </p:spPr>
        <p:txBody>
          <a:bodyPr wrap="square" lIns="0" tIns="0" rIns="0" bIns="0" rtlCol="0" anchor="t"/>
          <a:lstStyle/>
          <a:p>
            <a:pPr indent="0" marL="0">
              <a:buNone/>
            </a:pPr>
            <a:r>
              <a:rPr lang="en-US" sz="3200" dirty="0">
                <a:solidFill>
                  <a:srgbClr val="A63A0C"/>
                </a:solidFill>
                <a:latin typeface="Cambria" pitchFamily="34" charset="0"/>
                <a:ea typeface="Cambria" pitchFamily="34" charset="-122"/>
                <a:cs typeface="Cambria" pitchFamily="34" charset="-120"/>
              </a:rPr>
              <a:t>May</a:t>
            </a:r>
            <a:endParaRPr lang="en-US" sz="3200" dirty="0"/>
          </a:p>
        </p:txBody>
      </p:sp>
      <p:sp>
        <p:nvSpPr>
          <p:cNvPr id="7" name="Finding text 2"/>
          <p:cNvSpPr txBox="1"/>
          <p:nvPr/>
        </p:nvSpPr>
        <p:spPr>
          <a:xfrm>
            <a:off x="2788920" y="3429000"/>
            <a:ext cx="3246120" cy="12344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Danger peaks in April to June (nearly 1 in 3 May days) and never happens December to February</a:t>
            </a:r>
            <a:endParaRPr lang="en-US" sz="1400" dirty="0"/>
          </a:p>
          <a:p>
            <a:pPr indent="0" marL="0">
              <a:spcAft>
                <a:spcPts val="400"/>
              </a:spcAft>
              <a:buNone/>
            </a:pPr>
            <a:r>
              <a:rPr lang="en-US" sz="1400" dirty="0">
                <a:solidFill>
                  <a:srgbClr val="6F5C51"/>
                </a:solidFill>
              </a:rPr>
              <a:t>So we split the data by time, like real forecasting.</a:t>
            </a:r>
            <a:endParaRPr lang="en-US" sz="1400" dirty="0"/>
          </a:p>
        </p:txBody>
      </p:sp>
      <p:sp>
        <p:nvSpPr>
          <p:cNvPr id="8" name="Finding number 3"/>
          <p:cNvSpPr txBox="1"/>
          <p:nvPr/>
        </p:nvSpPr>
        <p:spPr>
          <a:xfrm>
            <a:off x="868680" y="4754880"/>
            <a:ext cx="1874520" cy="685800"/>
          </a:xfrm>
          <a:prstGeom prst="rect">
            <a:avLst/>
          </a:prstGeom>
          <a:noFill/>
          <a:ln/>
        </p:spPr>
        <p:txBody>
          <a:bodyPr wrap="square" lIns="0" tIns="0" rIns="0" bIns="0" rtlCol="0" anchor="t"/>
          <a:lstStyle/>
          <a:p>
            <a:pPr indent="0" marL="0">
              <a:buNone/>
            </a:pPr>
            <a:r>
              <a:rPr lang="en-US" sz="3200" dirty="0">
                <a:solidFill>
                  <a:srgbClr val="A63A0C"/>
                </a:solidFill>
                <a:latin typeface="Cambria" pitchFamily="34" charset="0"/>
                <a:ea typeface="Cambria" pitchFamily="34" charset="-122"/>
                <a:cs typeface="Cambria" pitchFamily="34" charset="-120"/>
              </a:rPr>
              <a:t>17% vs 2%</a:t>
            </a:r>
            <a:endParaRPr lang="en-US" sz="3200" dirty="0"/>
          </a:p>
        </p:txBody>
      </p:sp>
      <p:sp>
        <p:nvSpPr>
          <p:cNvPr id="9" name="Finding text 3"/>
          <p:cNvSpPr txBox="1"/>
          <p:nvPr/>
        </p:nvSpPr>
        <p:spPr>
          <a:xfrm>
            <a:off x="2788920" y="4754880"/>
            <a:ext cx="3246120" cy="12344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Some cities get far more Danger days: Malabon, Navotas, Valenzuela vs Muntinlupa, San Juan</a:t>
            </a:r>
            <a:endParaRPr lang="en-US" sz="1400" dirty="0"/>
          </a:p>
          <a:p>
            <a:pPr indent="0" marL="0">
              <a:spcAft>
                <a:spcPts val="400"/>
              </a:spcAft>
              <a:buNone/>
            </a:pPr>
            <a:r>
              <a:rPr lang="en-US" sz="1400" dirty="0">
                <a:solidFill>
                  <a:srgbClr val="6F5C51"/>
                </a:solidFill>
              </a:rPr>
              <a:t>So every city keeps its own rows, and the city is an input.</a:t>
            </a:r>
            <a:endParaRPr lang="en-US" sz="1400" dirty="0"/>
          </a:p>
        </p:txBody>
      </p:sp>
      <p:graphicFrame>
        <p:nvGraphicFramePr>
          <p:cNvPr id="10" name="Chart level by month" descr=""/>
          <p:cNvGraphicFramePr/>
          <p:nvPr/>
        </p:nvGraphicFramePr>
        <p:xfrm>
          <a:off x="6263640" y="2011680"/>
          <a:ext cx="5120640" cy="39776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A FAIR TEST, LIKE AN EXAM</a:t>
            </a:r>
            <a:endParaRPr lang="en-US" sz="3400" dirty="0"/>
          </a:p>
        </p:txBody>
      </p:sp>
      <p:sp>
        <p:nvSpPr>
          <p:cNvPr id="3" name="Subtitle pill"/>
          <p:cNvSpPr txBox="1"/>
          <p:nvPr/>
        </p:nvSpPr>
        <p:spPr>
          <a:xfrm>
            <a:off x="2712568" y="1417320"/>
            <a:ext cx="6766560" cy="420624"/>
          </a:xfrm>
          <a:prstGeom prst="rect">
            <a:avLst/>
          </a:prstGeom>
          <a:solidFill>
            <a:srgbClr val="F6C9A0"/>
          </a:solidFill>
          <a:ln/>
        </p:spPr>
        <p:txBody>
          <a:bodyPr wrap="square" lIns="50800" tIns="50800" rIns="50800" bIns="50800" rtlCol="0" anchor="ctr"/>
          <a:lstStyle/>
          <a:p>
            <a:pPr algn="ctr" indent="0" marL="0">
              <a:buNone/>
            </a:pPr>
            <a:r>
              <a:rPr lang="en-US" sz="1500" spc="100" kern="0" dirty="0">
                <a:solidFill>
                  <a:srgbClr val="2E1406"/>
                </a:solidFill>
              </a:rPr>
              <a:t>Every model studied the same days and took the same final exam</a:t>
            </a:r>
            <a:endParaRPr lang="en-US" sz="1500" dirty="0"/>
          </a:p>
        </p:txBody>
      </p:sp>
      <p:sp>
        <p:nvSpPr>
          <p:cNvPr id="4" name="Text 2"/>
          <p:cNvSpPr txBox="1"/>
          <p:nvPr/>
        </p:nvSpPr>
        <p:spPr>
          <a:xfrm>
            <a:off x="868680" y="2011680"/>
            <a:ext cx="914400" cy="274320"/>
          </a:xfrm>
          <a:prstGeom prst="rect">
            <a:avLst/>
          </a:prstGeom>
          <a:noFill/>
          <a:ln/>
        </p:spPr>
        <p:txBody>
          <a:bodyPr wrap="square" lIns="0" tIns="0" rIns="0" bIns="0" rtlCol="0" anchor="ctr"/>
          <a:lstStyle/>
          <a:p>
            <a:pPr indent="0" marL="0">
              <a:buNone/>
            </a:pPr>
            <a:r>
              <a:rPr lang="en-US" sz="1200" dirty="0">
                <a:solidFill>
                  <a:srgbClr val="6F5C51"/>
                </a:solidFill>
              </a:rPr>
              <a:t>2021</a:t>
            </a:r>
            <a:endParaRPr lang="en-US" sz="1200" dirty="0"/>
          </a:p>
        </p:txBody>
      </p:sp>
      <p:sp>
        <p:nvSpPr>
          <p:cNvPr id="5" name="Text 3"/>
          <p:cNvSpPr txBox="1"/>
          <p:nvPr/>
        </p:nvSpPr>
        <p:spPr>
          <a:xfrm>
            <a:off x="2937510" y="2011680"/>
            <a:ext cx="914400" cy="274320"/>
          </a:xfrm>
          <a:prstGeom prst="rect">
            <a:avLst/>
          </a:prstGeom>
          <a:noFill/>
          <a:ln/>
        </p:spPr>
        <p:txBody>
          <a:bodyPr wrap="square" lIns="0" tIns="0" rIns="0" bIns="0" rtlCol="0" anchor="ctr"/>
          <a:lstStyle/>
          <a:p>
            <a:pPr indent="0" marL="0">
              <a:buNone/>
            </a:pPr>
            <a:r>
              <a:rPr lang="en-US" sz="1200" dirty="0">
                <a:solidFill>
                  <a:srgbClr val="6F5C51"/>
                </a:solidFill>
              </a:rPr>
              <a:t>2022</a:t>
            </a:r>
            <a:endParaRPr lang="en-US" sz="1200" dirty="0"/>
          </a:p>
        </p:txBody>
      </p:sp>
      <p:sp>
        <p:nvSpPr>
          <p:cNvPr id="6" name="Text 4"/>
          <p:cNvSpPr txBox="1"/>
          <p:nvPr/>
        </p:nvSpPr>
        <p:spPr>
          <a:xfrm>
            <a:off x="5006340" y="2011680"/>
            <a:ext cx="914400" cy="274320"/>
          </a:xfrm>
          <a:prstGeom prst="rect">
            <a:avLst/>
          </a:prstGeom>
          <a:noFill/>
          <a:ln/>
        </p:spPr>
        <p:txBody>
          <a:bodyPr wrap="square" lIns="0" tIns="0" rIns="0" bIns="0" rtlCol="0" anchor="ctr"/>
          <a:lstStyle/>
          <a:p>
            <a:pPr indent="0" marL="0">
              <a:buNone/>
            </a:pPr>
            <a:r>
              <a:rPr lang="en-US" sz="1200" dirty="0">
                <a:solidFill>
                  <a:srgbClr val="6F5C51"/>
                </a:solidFill>
              </a:rPr>
              <a:t>2023</a:t>
            </a:r>
            <a:endParaRPr lang="en-US" sz="1200" dirty="0"/>
          </a:p>
        </p:txBody>
      </p:sp>
      <p:sp>
        <p:nvSpPr>
          <p:cNvPr id="7" name="Text 5"/>
          <p:cNvSpPr txBox="1"/>
          <p:nvPr/>
        </p:nvSpPr>
        <p:spPr>
          <a:xfrm>
            <a:off x="7075170" y="2011680"/>
            <a:ext cx="914400" cy="274320"/>
          </a:xfrm>
          <a:prstGeom prst="rect">
            <a:avLst/>
          </a:prstGeom>
          <a:noFill/>
          <a:ln/>
        </p:spPr>
        <p:txBody>
          <a:bodyPr wrap="square" lIns="0" tIns="0" rIns="0" bIns="0" rtlCol="0" anchor="ctr"/>
          <a:lstStyle/>
          <a:p>
            <a:pPr indent="0" marL="0">
              <a:buNone/>
            </a:pPr>
            <a:r>
              <a:rPr lang="en-US" sz="1200" dirty="0">
                <a:solidFill>
                  <a:srgbClr val="6F5C51"/>
                </a:solidFill>
              </a:rPr>
              <a:t>2024</a:t>
            </a:r>
            <a:endParaRPr lang="en-US" sz="1200" dirty="0"/>
          </a:p>
        </p:txBody>
      </p:sp>
      <p:sp>
        <p:nvSpPr>
          <p:cNvPr id="8" name="Text 6"/>
          <p:cNvSpPr txBox="1"/>
          <p:nvPr/>
        </p:nvSpPr>
        <p:spPr>
          <a:xfrm>
            <a:off x="9253728" y="2011680"/>
            <a:ext cx="914400" cy="274320"/>
          </a:xfrm>
          <a:prstGeom prst="rect">
            <a:avLst/>
          </a:prstGeom>
          <a:noFill/>
          <a:ln/>
        </p:spPr>
        <p:txBody>
          <a:bodyPr wrap="square" lIns="0" tIns="0" rIns="0" bIns="0" rtlCol="0" anchor="ctr"/>
          <a:lstStyle/>
          <a:p>
            <a:pPr indent="0" marL="0">
              <a:buNone/>
            </a:pPr>
            <a:r>
              <a:rPr lang="en-US" sz="1200" dirty="0">
                <a:solidFill>
                  <a:srgbClr val="6F5C51"/>
                </a:solidFill>
              </a:rPr>
              <a:t>2025</a:t>
            </a:r>
            <a:endParaRPr lang="en-US" sz="1200" dirty="0"/>
          </a:p>
        </p:txBody>
      </p:sp>
      <p:sp>
        <p:nvSpPr>
          <p:cNvPr id="9" name="Training bar"/>
          <p:cNvSpPr txBox="1"/>
          <p:nvPr/>
        </p:nvSpPr>
        <p:spPr>
          <a:xfrm>
            <a:off x="868680" y="2331720"/>
            <a:ext cx="8275320" cy="502920"/>
          </a:xfrm>
          <a:prstGeom prst="rect">
            <a:avLst/>
          </a:prstGeom>
          <a:solidFill>
            <a:srgbClr val="F6C9A0"/>
          </a:solidFill>
          <a:ln/>
        </p:spPr>
        <p:txBody>
          <a:bodyPr wrap="square" rtlCol="0" anchor="ctr"/>
          <a:lstStyle/>
          <a:p>
            <a:pPr algn="ctr" indent="0" marL="0">
              <a:buNone/>
            </a:pPr>
            <a:r>
              <a:rPr lang="en-US" sz="1600" dirty="0">
                <a:solidFill>
                  <a:srgbClr val="2E1406"/>
                </a:solidFill>
              </a:rPr>
              <a:t>Study: the models learn only from 2021 to 2024</a:t>
            </a:r>
            <a:endParaRPr lang="en-US" sz="1600" dirty="0"/>
          </a:p>
        </p:txBody>
      </p:sp>
      <p:sp>
        <p:nvSpPr>
          <p:cNvPr id="10" name="Test bar"/>
          <p:cNvSpPr txBox="1"/>
          <p:nvPr/>
        </p:nvSpPr>
        <p:spPr>
          <a:xfrm>
            <a:off x="9253728" y="2331720"/>
            <a:ext cx="2084832" cy="502920"/>
          </a:xfrm>
          <a:prstGeom prst="rect">
            <a:avLst/>
          </a:prstGeom>
          <a:solidFill>
            <a:srgbClr val="A63A0C"/>
          </a:solidFill>
          <a:ln/>
        </p:spPr>
        <p:txBody>
          <a:bodyPr wrap="square" rtlCol="0" anchor="ctr"/>
          <a:lstStyle/>
          <a:p>
            <a:pPr algn="ctr" indent="0" marL="0">
              <a:buNone/>
            </a:pPr>
            <a:r>
              <a:rPr lang="en-US" sz="1500" b="1" dirty="0">
                <a:solidFill>
                  <a:srgbClr val="FFFFFF"/>
                </a:solidFill>
              </a:rPr>
              <a:t>Final exam: 2025, once</a:t>
            </a:r>
            <a:endParaRPr lang="en-US" sz="1500" dirty="0"/>
          </a:p>
        </p:txBody>
      </p:sp>
      <p:sp>
        <p:nvSpPr>
          <p:cNvPr id="11" name="Quiz study 1"/>
          <p:cNvSpPr/>
          <p:nvPr/>
        </p:nvSpPr>
        <p:spPr>
          <a:xfrm>
            <a:off x="868680" y="3063240"/>
            <a:ext cx="1397206" cy="182880"/>
          </a:xfrm>
          <a:prstGeom prst="rect">
            <a:avLst/>
          </a:prstGeom>
          <a:solidFill>
            <a:srgbClr val="EBC9A6"/>
          </a:solidFill>
          <a:ln/>
        </p:spPr>
      </p:sp>
      <p:sp>
        <p:nvSpPr>
          <p:cNvPr id="12" name="Quiz check 1"/>
          <p:cNvSpPr/>
          <p:nvPr/>
        </p:nvSpPr>
        <p:spPr>
          <a:xfrm>
            <a:off x="2271565" y="3063240"/>
            <a:ext cx="1374487" cy="182880"/>
          </a:xfrm>
          <a:prstGeom prst="rect">
            <a:avLst/>
          </a:prstGeom>
          <a:solidFill>
            <a:srgbClr val="F28C28"/>
          </a:solidFill>
          <a:ln/>
        </p:spPr>
      </p:sp>
      <p:sp>
        <p:nvSpPr>
          <p:cNvPr id="13" name="Quiz study 2"/>
          <p:cNvSpPr/>
          <p:nvPr/>
        </p:nvSpPr>
        <p:spPr>
          <a:xfrm>
            <a:off x="868680" y="3310128"/>
            <a:ext cx="2771693" cy="182880"/>
          </a:xfrm>
          <a:prstGeom prst="rect">
            <a:avLst/>
          </a:prstGeom>
          <a:solidFill>
            <a:srgbClr val="EBC9A6"/>
          </a:solidFill>
          <a:ln/>
        </p:spPr>
      </p:sp>
      <p:sp>
        <p:nvSpPr>
          <p:cNvPr id="14" name="Quiz check 2"/>
          <p:cNvSpPr/>
          <p:nvPr/>
        </p:nvSpPr>
        <p:spPr>
          <a:xfrm>
            <a:off x="3646052" y="3310128"/>
            <a:ext cx="1374487" cy="182880"/>
          </a:xfrm>
          <a:prstGeom prst="rect">
            <a:avLst/>
          </a:prstGeom>
          <a:solidFill>
            <a:srgbClr val="F28C28"/>
          </a:solidFill>
          <a:ln/>
        </p:spPr>
      </p:sp>
      <p:sp>
        <p:nvSpPr>
          <p:cNvPr id="15" name="Quiz study 3"/>
          <p:cNvSpPr/>
          <p:nvPr/>
        </p:nvSpPr>
        <p:spPr>
          <a:xfrm>
            <a:off x="868680" y="3557016"/>
            <a:ext cx="4146180" cy="182880"/>
          </a:xfrm>
          <a:prstGeom prst="rect">
            <a:avLst/>
          </a:prstGeom>
          <a:solidFill>
            <a:srgbClr val="EBC9A6"/>
          </a:solidFill>
          <a:ln/>
        </p:spPr>
      </p:sp>
      <p:sp>
        <p:nvSpPr>
          <p:cNvPr id="16" name="Quiz check 3"/>
          <p:cNvSpPr/>
          <p:nvPr/>
        </p:nvSpPr>
        <p:spPr>
          <a:xfrm>
            <a:off x="5020539" y="3557016"/>
            <a:ext cx="1374487" cy="182880"/>
          </a:xfrm>
          <a:prstGeom prst="rect">
            <a:avLst/>
          </a:prstGeom>
          <a:solidFill>
            <a:srgbClr val="F28C28"/>
          </a:solidFill>
          <a:ln/>
        </p:spPr>
      </p:sp>
      <p:sp>
        <p:nvSpPr>
          <p:cNvPr id="17" name="Quiz study 4"/>
          <p:cNvSpPr/>
          <p:nvPr/>
        </p:nvSpPr>
        <p:spPr>
          <a:xfrm>
            <a:off x="868680" y="3803904"/>
            <a:ext cx="5520666" cy="182880"/>
          </a:xfrm>
          <a:prstGeom prst="rect">
            <a:avLst/>
          </a:prstGeom>
          <a:solidFill>
            <a:srgbClr val="EBC9A6"/>
          </a:solidFill>
          <a:ln/>
        </p:spPr>
      </p:sp>
      <p:sp>
        <p:nvSpPr>
          <p:cNvPr id="18" name="Quiz check 4"/>
          <p:cNvSpPr/>
          <p:nvPr/>
        </p:nvSpPr>
        <p:spPr>
          <a:xfrm>
            <a:off x="6395026" y="3803904"/>
            <a:ext cx="1374487" cy="182880"/>
          </a:xfrm>
          <a:prstGeom prst="rect">
            <a:avLst/>
          </a:prstGeom>
          <a:solidFill>
            <a:srgbClr val="F28C28"/>
          </a:solidFill>
          <a:ln/>
        </p:spPr>
      </p:sp>
      <p:sp>
        <p:nvSpPr>
          <p:cNvPr id="19" name="Quiz study 5"/>
          <p:cNvSpPr/>
          <p:nvPr/>
        </p:nvSpPr>
        <p:spPr>
          <a:xfrm>
            <a:off x="868680" y="4050792"/>
            <a:ext cx="6895153" cy="182880"/>
          </a:xfrm>
          <a:prstGeom prst="rect">
            <a:avLst/>
          </a:prstGeom>
          <a:solidFill>
            <a:srgbClr val="EBC9A6"/>
          </a:solidFill>
          <a:ln/>
        </p:spPr>
      </p:sp>
      <p:sp>
        <p:nvSpPr>
          <p:cNvPr id="20" name="Quiz check 5"/>
          <p:cNvSpPr/>
          <p:nvPr/>
        </p:nvSpPr>
        <p:spPr>
          <a:xfrm>
            <a:off x="7769513" y="4050792"/>
            <a:ext cx="1374487" cy="182880"/>
          </a:xfrm>
          <a:prstGeom prst="rect">
            <a:avLst/>
          </a:prstGeom>
          <a:solidFill>
            <a:srgbClr val="F28C28"/>
          </a:solidFill>
          <a:ln/>
        </p:spPr>
      </p:sp>
      <p:sp>
        <p:nvSpPr>
          <p:cNvPr id="21" name="Text 19"/>
          <p:cNvSpPr txBox="1"/>
          <p:nvPr/>
        </p:nvSpPr>
        <p:spPr>
          <a:xfrm>
            <a:off x="9253728" y="3017520"/>
            <a:ext cx="2103120" cy="292608"/>
          </a:xfrm>
          <a:prstGeom prst="rect">
            <a:avLst/>
          </a:prstGeom>
          <a:noFill/>
          <a:ln/>
        </p:spPr>
        <p:txBody>
          <a:bodyPr wrap="square" lIns="0" tIns="0" rIns="0" bIns="0" rtlCol="0" anchor="ctr"/>
          <a:lstStyle/>
          <a:p>
            <a:pPr indent="0" marL="0">
              <a:buNone/>
            </a:pPr>
            <a:r>
              <a:rPr lang="en-US" sz="1300" b="1" dirty="0">
                <a:solidFill>
                  <a:srgbClr val="2E1406"/>
                </a:solidFill>
              </a:rPr>
              <a:t>5 practice quizzes</a:t>
            </a:r>
            <a:endParaRPr lang="en-US" sz="1300" dirty="0"/>
          </a:p>
        </p:txBody>
      </p:sp>
      <p:sp>
        <p:nvSpPr>
          <p:cNvPr id="22" name="Shape 20"/>
          <p:cNvSpPr/>
          <p:nvPr/>
        </p:nvSpPr>
        <p:spPr>
          <a:xfrm>
            <a:off x="9253728" y="3429000"/>
            <a:ext cx="201168" cy="164592"/>
          </a:xfrm>
          <a:prstGeom prst="rect">
            <a:avLst/>
          </a:prstGeom>
          <a:solidFill>
            <a:srgbClr val="EBC9A6"/>
          </a:solidFill>
          <a:ln/>
        </p:spPr>
      </p:sp>
      <p:sp>
        <p:nvSpPr>
          <p:cNvPr id="23" name="Text 21"/>
          <p:cNvSpPr txBox="1"/>
          <p:nvPr/>
        </p:nvSpPr>
        <p:spPr>
          <a:xfrm>
            <a:off x="9528048" y="3364992"/>
            <a:ext cx="1828800" cy="292608"/>
          </a:xfrm>
          <a:prstGeom prst="rect">
            <a:avLst/>
          </a:prstGeom>
          <a:noFill/>
          <a:ln/>
        </p:spPr>
        <p:txBody>
          <a:bodyPr wrap="square" lIns="0" tIns="0" rIns="0" bIns="0" rtlCol="0" anchor="ctr"/>
          <a:lstStyle/>
          <a:p>
            <a:pPr indent="0" marL="0">
              <a:buNone/>
            </a:pPr>
            <a:r>
              <a:rPr lang="en-US" sz="1200" dirty="0">
                <a:solidFill>
                  <a:srgbClr val="2E1406"/>
                </a:solidFill>
              </a:rPr>
              <a:t>study earlier days</a:t>
            </a:r>
            <a:endParaRPr lang="en-US" sz="1200" dirty="0"/>
          </a:p>
        </p:txBody>
      </p:sp>
      <p:sp>
        <p:nvSpPr>
          <p:cNvPr id="24" name="Shape 22"/>
          <p:cNvSpPr/>
          <p:nvPr/>
        </p:nvSpPr>
        <p:spPr>
          <a:xfrm>
            <a:off x="9253728" y="3767328"/>
            <a:ext cx="201168" cy="164592"/>
          </a:xfrm>
          <a:prstGeom prst="rect">
            <a:avLst/>
          </a:prstGeom>
          <a:solidFill>
            <a:srgbClr val="F28C28"/>
          </a:solidFill>
          <a:ln/>
        </p:spPr>
      </p:sp>
      <p:sp>
        <p:nvSpPr>
          <p:cNvPr id="25" name="Text 23"/>
          <p:cNvSpPr txBox="1"/>
          <p:nvPr/>
        </p:nvSpPr>
        <p:spPr>
          <a:xfrm>
            <a:off x="9528048" y="3703320"/>
            <a:ext cx="1828800" cy="292608"/>
          </a:xfrm>
          <a:prstGeom prst="rect">
            <a:avLst/>
          </a:prstGeom>
          <a:noFill/>
          <a:ln/>
        </p:spPr>
        <p:txBody>
          <a:bodyPr wrap="square" lIns="0" tIns="0" rIns="0" bIns="0" rtlCol="0" anchor="ctr"/>
          <a:lstStyle/>
          <a:p>
            <a:pPr indent="0" marL="0">
              <a:buNone/>
            </a:pPr>
            <a:r>
              <a:rPr lang="en-US" sz="1200" dirty="0">
                <a:solidFill>
                  <a:srgbClr val="2E1406"/>
                </a:solidFill>
              </a:rPr>
              <a:t>quiz on the next days</a:t>
            </a:r>
            <a:endParaRPr lang="en-US" sz="1200" dirty="0"/>
          </a:p>
        </p:txBody>
      </p:sp>
      <p:sp>
        <p:nvSpPr>
          <p:cNvPr id="26" name="Card The score"/>
          <p:cNvSpPr/>
          <p:nvPr/>
        </p:nvSpPr>
        <p:spPr>
          <a:xfrm>
            <a:off x="868680" y="4434840"/>
            <a:ext cx="3374136" cy="1463040"/>
          </a:xfrm>
          <a:prstGeom prst="rect">
            <a:avLst/>
          </a:prstGeom>
          <a:solidFill>
            <a:srgbClr val="FDEBDC"/>
          </a:solidFill>
          <a:ln/>
        </p:spPr>
      </p:sp>
      <p:sp>
        <p:nvSpPr>
          <p:cNvPr id="27" name="Text 25"/>
          <p:cNvSpPr txBox="1"/>
          <p:nvPr/>
        </p:nvSpPr>
        <p:spPr>
          <a:xfrm>
            <a:off x="1051560" y="4526280"/>
            <a:ext cx="3017520" cy="1325880"/>
          </a:xfrm>
          <a:prstGeom prst="rect">
            <a:avLst/>
          </a:prstGeom>
          <a:noFill/>
          <a:ln/>
        </p:spPr>
        <p:txBody>
          <a:bodyPr wrap="square" lIns="0" tIns="0" rIns="0" bIns="0" rtlCol="0" anchor="t"/>
          <a:lstStyle/>
          <a:p>
            <a:pPr indent="0" marL="0">
              <a:spcAft>
                <a:spcPts val="400"/>
              </a:spcAft>
              <a:buNone/>
            </a:pPr>
            <a:r>
              <a:rPr lang="en-US" sz="1900" dirty="0">
                <a:solidFill>
                  <a:srgbClr val="A63A0C"/>
                </a:solidFill>
                <a:latin typeface="Cambria" pitchFamily="34" charset="0"/>
                <a:ea typeface="Cambria" pitchFamily="34" charset="-122"/>
                <a:cs typeface="Cambria" pitchFamily="34" charset="-120"/>
              </a:rPr>
              <a:t>The score</a:t>
            </a:r>
            <a:endParaRPr lang="en-US" sz="1900" dirty="0"/>
          </a:p>
          <a:p>
            <a:pPr indent="0" marL="0">
              <a:spcAft>
                <a:spcPts val="400"/>
              </a:spcAft>
              <a:buNone/>
            </a:pPr>
            <a:r>
              <a:rPr lang="en-US" sz="1400" dirty="0">
                <a:solidFill>
                  <a:srgbClr val="2E1406"/>
                </a:solidFill>
              </a:rPr>
              <a:t>How well a model does on Caution, Extreme Caution and Danger, each counted equally (0 to 1, higher is better).</a:t>
            </a:r>
            <a:endParaRPr lang="en-US" sz="1900" dirty="0"/>
          </a:p>
        </p:txBody>
      </p:sp>
      <p:sp>
        <p:nvSpPr>
          <p:cNvPr id="28" name="Card The rule"/>
          <p:cNvSpPr/>
          <p:nvPr/>
        </p:nvSpPr>
        <p:spPr>
          <a:xfrm>
            <a:off x="4416552" y="4434840"/>
            <a:ext cx="3374136" cy="1463040"/>
          </a:xfrm>
          <a:prstGeom prst="rect">
            <a:avLst/>
          </a:prstGeom>
          <a:solidFill>
            <a:srgbClr val="FDEBDC"/>
          </a:solidFill>
          <a:ln/>
        </p:spPr>
      </p:sp>
      <p:sp>
        <p:nvSpPr>
          <p:cNvPr id="29" name="Text 27"/>
          <p:cNvSpPr txBox="1"/>
          <p:nvPr/>
        </p:nvSpPr>
        <p:spPr>
          <a:xfrm>
            <a:off x="4599432" y="4526280"/>
            <a:ext cx="3017520" cy="1325880"/>
          </a:xfrm>
          <a:prstGeom prst="rect">
            <a:avLst/>
          </a:prstGeom>
          <a:noFill/>
          <a:ln/>
        </p:spPr>
        <p:txBody>
          <a:bodyPr wrap="square" lIns="0" tIns="0" rIns="0" bIns="0" rtlCol="0" anchor="t"/>
          <a:lstStyle/>
          <a:p>
            <a:pPr indent="0" marL="0">
              <a:spcAft>
                <a:spcPts val="400"/>
              </a:spcAft>
              <a:buNone/>
            </a:pPr>
            <a:r>
              <a:rPr lang="en-US" sz="1900" dirty="0">
                <a:solidFill>
                  <a:srgbClr val="A63A0C"/>
                </a:solidFill>
                <a:latin typeface="Cambria" pitchFamily="34" charset="0"/>
                <a:ea typeface="Cambria" pitchFamily="34" charset="-122"/>
                <a:cs typeface="Cambria" pitchFamily="34" charset="-120"/>
              </a:rPr>
              <a:t>The rule</a:t>
            </a:r>
            <a:endParaRPr lang="en-US" sz="1900" dirty="0"/>
          </a:p>
          <a:p>
            <a:pPr indent="0" marL="0">
              <a:spcAft>
                <a:spcPts val="400"/>
              </a:spcAft>
              <a:buNone/>
            </a:pPr>
            <a:r>
              <a:rPr lang="en-US" sz="1400" dirty="0">
                <a:solidFill>
                  <a:srgbClr val="2E1406"/>
                </a:solidFill>
              </a:rPr>
              <a:t>First, catch more Danger days than the copy-today rule. Then the best score wins.</a:t>
            </a:r>
            <a:endParaRPr lang="en-US" sz="1900" dirty="0"/>
          </a:p>
        </p:txBody>
      </p:sp>
      <p:sp>
        <p:nvSpPr>
          <p:cNvPr id="30" name="Card The baseline"/>
          <p:cNvSpPr/>
          <p:nvPr/>
        </p:nvSpPr>
        <p:spPr>
          <a:xfrm>
            <a:off x="7964424" y="4434840"/>
            <a:ext cx="3374136" cy="1463040"/>
          </a:xfrm>
          <a:prstGeom prst="rect">
            <a:avLst/>
          </a:prstGeom>
          <a:solidFill>
            <a:srgbClr val="FDEBDC"/>
          </a:solidFill>
          <a:ln/>
        </p:spPr>
      </p:sp>
      <p:sp>
        <p:nvSpPr>
          <p:cNvPr id="31" name="Text 29"/>
          <p:cNvSpPr txBox="1"/>
          <p:nvPr/>
        </p:nvSpPr>
        <p:spPr>
          <a:xfrm>
            <a:off x="8147304" y="4526280"/>
            <a:ext cx="3017520" cy="1325880"/>
          </a:xfrm>
          <a:prstGeom prst="rect">
            <a:avLst/>
          </a:prstGeom>
          <a:noFill/>
          <a:ln/>
        </p:spPr>
        <p:txBody>
          <a:bodyPr wrap="square" lIns="0" tIns="0" rIns="0" bIns="0" rtlCol="0" anchor="t"/>
          <a:lstStyle/>
          <a:p>
            <a:pPr indent="0" marL="0">
              <a:spcAft>
                <a:spcPts val="400"/>
              </a:spcAft>
              <a:buNone/>
            </a:pPr>
            <a:r>
              <a:rPr lang="en-US" sz="1900" dirty="0">
                <a:solidFill>
                  <a:srgbClr val="A63A0C"/>
                </a:solidFill>
                <a:latin typeface="Cambria" pitchFamily="34" charset="0"/>
                <a:ea typeface="Cambria" pitchFamily="34" charset="-122"/>
                <a:cs typeface="Cambria" pitchFamily="34" charset="-120"/>
              </a:rPr>
              <a:t>The baseline</a:t>
            </a:r>
            <a:endParaRPr lang="en-US" sz="1900" dirty="0"/>
          </a:p>
          <a:p>
            <a:pPr indent="0" marL="0">
              <a:spcAft>
                <a:spcPts val="400"/>
              </a:spcAft>
              <a:buNone/>
            </a:pPr>
            <a:r>
              <a:rPr lang="en-US" sz="1400" dirty="0">
                <a:solidFill>
                  <a:srgbClr val="2E1406"/>
                </a:solidFill>
              </a:rPr>
              <a:t>Copy today: tomorrow's level is today's level in the same city.</a:t>
            </a:r>
            <a:endParaRPr lang="en-US" sz="1900" dirty="0"/>
          </a:p>
        </p:txBody>
      </p:sp>
      <p:sp>
        <p:nvSpPr>
          <p:cNvPr id="32" name="Text 30"/>
          <p:cNvSpPr txBox="1"/>
          <p:nvPr/>
        </p:nvSpPr>
        <p:spPr>
          <a:xfrm>
            <a:off x="868680" y="5989320"/>
            <a:ext cx="8229600" cy="256032"/>
          </a:xfrm>
          <a:prstGeom prst="rect">
            <a:avLst/>
          </a:prstGeom>
          <a:noFill/>
          <a:ln/>
        </p:spPr>
        <p:txBody>
          <a:bodyPr wrap="square" lIns="0" tIns="0" rIns="0" bIns="0" rtlCol="0" anchor="ctr"/>
          <a:lstStyle/>
          <a:p>
            <a:pPr indent="0" marL="0">
              <a:buNone/>
            </a:pPr>
            <a:r>
              <a:rPr lang="en-US" sz="1100" i="1" dirty="0">
                <a:solidFill>
                  <a:srgbClr val="6F5C51"/>
                </a:solidFill>
              </a:rPr>
              <a:t>In technical terms: chronological split, 5-fold time-series cross-validation, macro F1.</a:t>
            </a:r>
            <a:endParaRPr lang="en-US" sz="11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WHICH MISTAKE IS WORSE?</a:t>
            </a:r>
            <a:endParaRPr lang="en-US" sz="3400" dirty="0"/>
          </a:p>
        </p:txBody>
      </p:sp>
      <p:sp>
        <p:nvSpPr>
          <p:cNvPr id="3" name="Subtitle pill"/>
          <p:cNvSpPr txBox="1"/>
          <p:nvPr/>
        </p:nvSpPr>
        <p:spPr>
          <a:xfrm>
            <a:off x="3078328" y="1417320"/>
            <a:ext cx="6035040" cy="420624"/>
          </a:xfrm>
          <a:prstGeom prst="rect">
            <a:avLst/>
          </a:prstGeom>
          <a:solidFill>
            <a:srgbClr val="F6C9A0"/>
          </a:solidFill>
          <a:ln/>
        </p:spPr>
        <p:txBody>
          <a:bodyPr wrap="square" lIns="50800" tIns="50800" rIns="50800" bIns="50800" rtlCol="0" anchor="ctr"/>
          <a:lstStyle/>
          <a:p>
            <a:pPr algn="ctr" indent="0" marL="0">
              <a:buNone/>
            </a:pPr>
            <a:r>
              <a:rPr lang="en-US" sz="1500" spc="100" kern="0" dirty="0">
                <a:solidFill>
                  <a:srgbClr val="2E1406"/>
                </a:solidFill>
              </a:rPr>
              <a:t>Every forecast is sometimes wrong, in one of two ways</a:t>
            </a:r>
            <a:endParaRPr lang="en-US" sz="1500" dirty="0"/>
          </a:p>
        </p:txBody>
      </p:sp>
      <p:sp>
        <p:nvSpPr>
          <p:cNvPr id="4" name="Mistake 1"/>
          <p:cNvSpPr/>
          <p:nvPr/>
        </p:nvSpPr>
        <p:spPr>
          <a:xfrm>
            <a:off x="868680" y="2103120"/>
            <a:ext cx="5097780" cy="3246120"/>
          </a:xfrm>
          <a:prstGeom prst="rect">
            <a:avLst/>
          </a:prstGeom>
          <a:solidFill>
            <a:srgbClr val="F8D5CF"/>
          </a:solidFill>
          <a:ln/>
        </p:spPr>
      </p:sp>
      <p:pic>
        <p:nvPicPr>
          <p:cNvPr id="5" name="Mistake icon 1" descr="Missing a real Danger day">    </p:cNvPr>
          <p:cNvPicPr>
            <a:picLocks noChangeAspect="1"/>
          </p:cNvPicPr>
          <p:nvPr/>
        </p:nvPicPr>
        <p:blipFill>
          <a:blip r:embed="rId1"/>
          <a:stretch>
            <a:fillRect/>
          </a:stretch>
        </p:blipFill>
        <p:spPr>
          <a:xfrm>
            <a:off x="1188720" y="2377440"/>
            <a:ext cx="914400" cy="914400"/>
          </a:xfrm>
          <a:prstGeom prst="rect">
            <a:avLst/>
          </a:prstGeom>
        </p:spPr>
      </p:pic>
      <p:sp>
        <p:nvSpPr>
          <p:cNvPr id="6" name="Mistake tag 1"/>
          <p:cNvSpPr txBox="1"/>
          <p:nvPr/>
        </p:nvSpPr>
        <p:spPr>
          <a:xfrm>
            <a:off x="4137660" y="2423160"/>
            <a:ext cx="1508760" cy="384048"/>
          </a:xfrm>
          <a:prstGeom prst="rect">
            <a:avLst/>
          </a:prstGeom>
          <a:solidFill>
            <a:srgbClr val="C0392B"/>
          </a:solidFill>
          <a:ln/>
        </p:spPr>
        <p:txBody>
          <a:bodyPr wrap="square" lIns="0" tIns="0" rIns="0" bIns="0" rtlCol="0" anchor="ctr"/>
          <a:lstStyle/>
          <a:p>
            <a:pPr algn="ctr" indent="0" marL="0">
              <a:buNone/>
            </a:pPr>
            <a:r>
              <a:rPr lang="en-US" sz="1300" b="1" spc="100" kern="0" dirty="0">
                <a:solidFill>
                  <a:srgbClr val="FFFFFF"/>
                </a:solidFill>
              </a:rPr>
              <a:t>WORSE</a:t>
            </a:r>
            <a:endParaRPr lang="en-US" sz="1300" dirty="0"/>
          </a:p>
        </p:txBody>
      </p:sp>
      <p:sp>
        <p:nvSpPr>
          <p:cNvPr id="7" name="Text 4"/>
          <p:cNvSpPr txBox="1"/>
          <p:nvPr/>
        </p:nvSpPr>
        <p:spPr>
          <a:xfrm>
            <a:off x="1188720" y="3291840"/>
            <a:ext cx="4457700" cy="548640"/>
          </a:xfrm>
          <a:prstGeom prst="rect">
            <a:avLst/>
          </a:prstGeom>
          <a:noFill/>
          <a:ln/>
        </p:spPr>
        <p:txBody>
          <a:bodyPr wrap="square" lIns="0" tIns="0" rIns="0" bIns="0" rtlCol="0" anchor="ctr"/>
          <a:lstStyle/>
          <a:p>
            <a:pPr indent="0" marL="0">
              <a:buNone/>
            </a:pPr>
            <a:r>
              <a:rPr lang="en-US" sz="2800" dirty="0">
                <a:solidFill>
                  <a:srgbClr val="2E1406"/>
                </a:solidFill>
                <a:latin typeface="Cambria" pitchFamily="34" charset="0"/>
                <a:ea typeface="Cambria" pitchFamily="34" charset="-122"/>
                <a:cs typeface="Cambria" pitchFamily="34" charset="-120"/>
              </a:rPr>
              <a:t>Missing a real Danger day</a:t>
            </a:r>
            <a:endParaRPr lang="en-US" sz="2800" dirty="0"/>
          </a:p>
        </p:txBody>
      </p:sp>
      <p:sp>
        <p:nvSpPr>
          <p:cNvPr id="8" name="Text 5"/>
          <p:cNvSpPr txBox="1"/>
          <p:nvPr/>
        </p:nvSpPr>
        <p:spPr>
          <a:xfrm>
            <a:off x="1188720" y="3886200"/>
            <a:ext cx="4457700" cy="685800"/>
          </a:xfrm>
          <a:prstGeom prst="rect">
            <a:avLst/>
          </a:prstGeom>
          <a:noFill/>
          <a:ln/>
        </p:spPr>
        <p:txBody>
          <a:bodyPr wrap="square" lIns="0" tIns="0" rIns="0" bIns="0" rtlCol="0" anchor="t"/>
          <a:lstStyle/>
          <a:p>
            <a:pPr indent="0" marL="0">
              <a:buNone/>
            </a:pPr>
            <a:r>
              <a:rPr lang="en-US" sz="1800" dirty="0">
                <a:solidFill>
                  <a:srgbClr val="2E1406"/>
                </a:solidFill>
              </a:rPr>
              <a:t>Nobody prepares, and students play outside at 44 °C.</a:t>
            </a:r>
            <a:endParaRPr lang="en-US" sz="1800" dirty="0"/>
          </a:p>
        </p:txBody>
      </p:sp>
      <p:sp>
        <p:nvSpPr>
          <p:cNvPr id="9" name="Text 6"/>
          <p:cNvSpPr txBox="1"/>
          <p:nvPr/>
        </p:nvSpPr>
        <p:spPr>
          <a:xfrm>
            <a:off x="1188720" y="4617720"/>
            <a:ext cx="4457700" cy="548640"/>
          </a:xfrm>
          <a:prstGeom prst="rect">
            <a:avLst/>
          </a:prstGeom>
          <a:noFill/>
          <a:ln/>
        </p:spPr>
        <p:txBody>
          <a:bodyPr wrap="square" lIns="0" tIns="0" rIns="0" bIns="0" rtlCol="0" anchor="t"/>
          <a:lstStyle/>
          <a:p>
            <a:pPr indent="0" marL="0">
              <a:buNone/>
            </a:pPr>
            <a:r>
              <a:rPr lang="en-US" sz="1600" b="1" dirty="0">
                <a:solidFill>
                  <a:srgbClr val="A63A0C"/>
                </a:solidFill>
              </a:rPr>
              <a:t>The cost: someone may get heat exhaustion or heat stroke.</a:t>
            </a:r>
            <a:endParaRPr lang="en-US" sz="1600" dirty="0"/>
          </a:p>
        </p:txBody>
      </p:sp>
      <p:sp>
        <p:nvSpPr>
          <p:cNvPr id="10" name="Mistake 2"/>
          <p:cNvSpPr/>
          <p:nvPr/>
        </p:nvSpPr>
        <p:spPr>
          <a:xfrm>
            <a:off x="6240780" y="2103120"/>
            <a:ext cx="5097780" cy="3246120"/>
          </a:xfrm>
          <a:prstGeom prst="rect">
            <a:avLst/>
          </a:prstGeom>
          <a:solidFill>
            <a:srgbClr val="FDEBDC"/>
          </a:solidFill>
          <a:ln/>
        </p:spPr>
      </p:sp>
      <p:pic>
        <p:nvPicPr>
          <p:cNvPr id="11" name="Mistake icon 2" descr="A false alarm">    </p:cNvPr>
          <p:cNvPicPr>
            <a:picLocks noChangeAspect="1"/>
          </p:cNvPicPr>
          <p:nvPr/>
        </p:nvPicPr>
        <p:blipFill>
          <a:blip r:embed="rId2"/>
          <a:stretch>
            <a:fillRect/>
          </a:stretch>
        </p:blipFill>
        <p:spPr>
          <a:xfrm>
            <a:off x="6560820" y="2377440"/>
            <a:ext cx="914400" cy="914400"/>
          </a:xfrm>
          <a:prstGeom prst="rect">
            <a:avLst/>
          </a:prstGeom>
        </p:spPr>
      </p:pic>
      <p:sp>
        <p:nvSpPr>
          <p:cNvPr id="12" name="Mistake tag 2"/>
          <p:cNvSpPr txBox="1"/>
          <p:nvPr/>
        </p:nvSpPr>
        <p:spPr>
          <a:xfrm>
            <a:off x="9509760" y="2423160"/>
            <a:ext cx="1508760" cy="384048"/>
          </a:xfrm>
          <a:prstGeom prst="rect">
            <a:avLst/>
          </a:prstGeom>
          <a:solidFill>
            <a:srgbClr val="6F5C51"/>
          </a:solidFill>
          <a:ln/>
        </p:spPr>
        <p:txBody>
          <a:bodyPr wrap="square" lIns="0" tIns="0" rIns="0" bIns="0" rtlCol="0" anchor="ctr"/>
          <a:lstStyle/>
          <a:p>
            <a:pPr algn="ctr" indent="0" marL="0">
              <a:buNone/>
            </a:pPr>
            <a:r>
              <a:rPr lang="en-US" sz="1300" b="1" spc="100" kern="0" dirty="0">
                <a:solidFill>
                  <a:srgbClr val="FFFFFF"/>
                </a:solidFill>
              </a:rPr>
              <a:t>LESS COSTLY</a:t>
            </a:r>
            <a:endParaRPr lang="en-US" sz="1300" dirty="0"/>
          </a:p>
        </p:txBody>
      </p:sp>
      <p:sp>
        <p:nvSpPr>
          <p:cNvPr id="13" name="Text 9"/>
          <p:cNvSpPr txBox="1"/>
          <p:nvPr/>
        </p:nvSpPr>
        <p:spPr>
          <a:xfrm>
            <a:off x="6560820" y="3291840"/>
            <a:ext cx="4457700" cy="548640"/>
          </a:xfrm>
          <a:prstGeom prst="rect">
            <a:avLst/>
          </a:prstGeom>
          <a:noFill/>
          <a:ln/>
        </p:spPr>
        <p:txBody>
          <a:bodyPr wrap="square" lIns="0" tIns="0" rIns="0" bIns="0" rtlCol="0" anchor="ctr"/>
          <a:lstStyle/>
          <a:p>
            <a:pPr indent="0" marL="0">
              <a:buNone/>
            </a:pPr>
            <a:r>
              <a:rPr lang="en-US" sz="2800" dirty="0">
                <a:solidFill>
                  <a:srgbClr val="2E1406"/>
                </a:solidFill>
                <a:latin typeface="Cambria" pitchFamily="34" charset="0"/>
                <a:ea typeface="Cambria" pitchFamily="34" charset="-122"/>
                <a:cs typeface="Cambria" pitchFamily="34" charset="-120"/>
              </a:rPr>
              <a:t>A false alarm</a:t>
            </a:r>
            <a:endParaRPr lang="en-US" sz="2800" dirty="0"/>
          </a:p>
        </p:txBody>
      </p:sp>
      <p:sp>
        <p:nvSpPr>
          <p:cNvPr id="14" name="Text 10"/>
          <p:cNvSpPr txBox="1"/>
          <p:nvPr/>
        </p:nvSpPr>
        <p:spPr>
          <a:xfrm>
            <a:off x="6560820" y="3886200"/>
            <a:ext cx="4457700" cy="685800"/>
          </a:xfrm>
          <a:prstGeom prst="rect">
            <a:avLst/>
          </a:prstGeom>
          <a:noFill/>
          <a:ln/>
        </p:spPr>
        <p:txBody>
          <a:bodyPr wrap="square" lIns="0" tIns="0" rIns="0" bIns="0" rtlCol="0" anchor="t"/>
          <a:lstStyle/>
          <a:p>
            <a:pPr indent="0" marL="0">
              <a:buNone/>
            </a:pPr>
            <a:r>
              <a:rPr lang="en-US" sz="1800" dirty="0">
                <a:solidFill>
                  <a:srgbClr val="2E1406"/>
                </a:solidFill>
              </a:rPr>
              <a:t>Activities are moved indoors, but the day was not that hot.</a:t>
            </a:r>
            <a:endParaRPr lang="en-US" sz="1800" dirty="0"/>
          </a:p>
        </p:txBody>
      </p:sp>
      <p:sp>
        <p:nvSpPr>
          <p:cNvPr id="15" name="Text 11"/>
          <p:cNvSpPr txBox="1"/>
          <p:nvPr/>
        </p:nvSpPr>
        <p:spPr>
          <a:xfrm>
            <a:off x="6560820" y="4617720"/>
            <a:ext cx="4457700" cy="548640"/>
          </a:xfrm>
          <a:prstGeom prst="rect">
            <a:avLst/>
          </a:prstGeom>
          <a:noFill/>
          <a:ln/>
        </p:spPr>
        <p:txBody>
          <a:bodyPr wrap="square" lIns="0" tIns="0" rIns="0" bIns="0" rtlCol="0" anchor="t"/>
          <a:lstStyle/>
          <a:p>
            <a:pPr indent="0" marL="0">
              <a:buNone/>
            </a:pPr>
            <a:r>
              <a:rPr lang="en-US" sz="1600" b="1" dirty="0">
                <a:solidFill>
                  <a:srgbClr val="A63A0C"/>
                </a:solidFill>
              </a:rPr>
              <a:t>The cost: a change of plans for nothing.</a:t>
            </a:r>
            <a:endParaRPr lang="en-US" sz="1600" dirty="0"/>
          </a:p>
        </p:txBody>
      </p:sp>
      <p:sp>
        <p:nvSpPr>
          <p:cNvPr id="16" name="Our choice"/>
          <p:cNvSpPr txBox="1"/>
          <p:nvPr/>
        </p:nvSpPr>
        <p:spPr>
          <a:xfrm>
            <a:off x="868680" y="5532120"/>
            <a:ext cx="10469880" cy="457200"/>
          </a:xfrm>
          <a:prstGeom prst="rect">
            <a:avLst/>
          </a:prstGeom>
          <a:noFill/>
          <a:ln/>
        </p:spPr>
        <p:txBody>
          <a:bodyPr wrap="square" rtlCol="0" anchor="ctr"/>
          <a:lstStyle/>
          <a:p>
            <a:pPr algn="ctr" indent="0" marL="0">
              <a:buNone/>
            </a:pPr>
            <a:r>
              <a:rPr lang="en-US" sz="2000" i="1" dirty="0">
                <a:solidFill>
                  <a:srgbClr val="A63A0C"/>
                </a:solidFill>
                <a:latin typeface="Cambria" pitchFamily="34" charset="0"/>
                <a:ea typeface="Cambria" pitchFamily="34" charset="-122"/>
                <a:cs typeface="Cambria" pitchFamily="34" charset="-120"/>
              </a:rPr>
              <a:t>So our rule: a model must first catch more Danger days than copy-today.</a:t>
            </a:r>
            <a:endParaRPr lang="en-US" sz="20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THREE MODELS VS. COPY-TODAY</a:t>
            </a:r>
            <a:endParaRPr lang="en-US" sz="3400" dirty="0"/>
          </a:p>
        </p:txBody>
      </p:sp>
      <p:sp>
        <p:nvSpPr>
          <p:cNvPr id="3" name="Subtitle pill"/>
          <p:cNvSpPr txBox="1"/>
          <p:nvPr/>
        </p:nvSpPr>
        <p:spPr>
          <a:xfrm>
            <a:off x="3169768" y="1417320"/>
            <a:ext cx="5852160" cy="420624"/>
          </a:xfrm>
          <a:prstGeom prst="rect">
            <a:avLst/>
          </a:prstGeom>
          <a:solidFill>
            <a:srgbClr val="F6C9A0"/>
          </a:solidFill>
          <a:ln/>
        </p:spPr>
        <p:txBody>
          <a:bodyPr wrap="square" lIns="50800" tIns="50800" rIns="50800" bIns="50800" rtlCol="0" anchor="ctr"/>
          <a:lstStyle/>
          <a:p>
            <a:pPr algn="ctr" indent="0" marL="0">
              <a:buNone/>
            </a:pPr>
            <a:r>
              <a:rPr lang="en-US" sz="1500" spc="100" kern="0" dirty="0">
                <a:solidFill>
                  <a:srgbClr val="2E1406"/>
                </a:solidFill>
              </a:rPr>
              <a:t>Practice-quiz results: the average of the 5 quizzes</a:t>
            </a:r>
            <a:endParaRPr lang="en-US" sz="1500" dirty="0"/>
          </a:p>
        </p:txBody>
      </p:sp>
      <p:graphicFrame>
        <p:nvGraphicFramePr>
          <p:cNvPr id="4" name="Chart score" descr=""/>
          <p:cNvGraphicFramePr/>
          <p:nvPr/>
        </p:nvGraphicFramePr>
        <p:xfrm>
          <a:off x="777240" y="1965960"/>
          <a:ext cx="6126480"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Danger caught" descr=""/>
          <p:cNvGraphicFramePr/>
          <p:nvPr/>
        </p:nvGraphicFramePr>
        <p:xfrm>
          <a:off x="777240" y="4023360"/>
          <a:ext cx="6126480" cy="2011680"/>
        </p:xfrm>
        <a:graphic xmlns:a="http://schemas.openxmlformats.org/drawingml/2006/main">
          <a:graphicData uri="http://schemas.openxmlformats.org/drawingml/2006/chart">
            <c:chart xmlns:c="http://schemas.openxmlformats.org/drawingml/2006/chart" r:id="rId2"/>
          </a:graphicData>
        </a:graphic>
      </p:graphicFrame>
      <p:sp>
        <p:nvSpPr>
          <p:cNvPr id="6" name="Model Logistic Regression"/>
          <p:cNvSpPr/>
          <p:nvPr/>
        </p:nvSpPr>
        <p:spPr>
          <a:xfrm>
            <a:off x="7178040" y="2011680"/>
            <a:ext cx="4160520" cy="1216152"/>
          </a:xfrm>
          <a:prstGeom prst="rect">
            <a:avLst/>
          </a:prstGeom>
          <a:solidFill>
            <a:srgbClr val="FDEBDC"/>
          </a:solidFill>
          <a:ln/>
        </p:spPr>
      </p:sp>
      <p:sp>
        <p:nvSpPr>
          <p:cNvPr id="7" name="Text 3"/>
          <p:cNvSpPr txBox="1"/>
          <p:nvPr/>
        </p:nvSpPr>
        <p:spPr>
          <a:xfrm>
            <a:off x="7360920" y="2084832"/>
            <a:ext cx="3840480" cy="1097280"/>
          </a:xfrm>
          <a:prstGeom prst="rect">
            <a:avLst/>
          </a:prstGeom>
          <a:noFill/>
          <a:ln/>
        </p:spPr>
        <p:txBody>
          <a:bodyPr wrap="square" lIns="0" tIns="0" rIns="0" bIns="0" rtlCol="0" anchor="t"/>
          <a:lstStyle/>
          <a:p>
            <a:pPr indent="0" marL="0">
              <a:buNone/>
            </a:pPr>
            <a:r>
              <a:rPr lang="en-US" sz="1800" b="1" dirty="0">
                <a:solidFill>
                  <a:srgbClr val="2E1406"/>
                </a:solidFill>
                <a:latin typeface="Cambria" pitchFamily="34" charset="0"/>
                <a:ea typeface="Cambria" pitchFamily="34" charset="-122"/>
                <a:cs typeface="Cambria" pitchFamily="34" charset="-120"/>
              </a:rPr>
              <a:t>Logistic Regression</a:t>
            </a:r>
            <a:pPr indent="0" marL="0">
              <a:buNone/>
            </a:pPr>
            <a:r>
              <a:rPr lang="en-US" sz="1200" dirty="0">
                <a:solidFill>
                  <a:srgbClr val="6F5C51"/>
                </a:solidFill>
              </a:rPr>
              <a:t>   Harry</a:t>
            </a:r>
            <a:endParaRPr lang="en-US" sz="1800" dirty="0"/>
          </a:p>
          <a:p>
            <a:pPr indent="0" marL="0">
              <a:buNone/>
            </a:pPr>
            <a:r>
              <a:rPr lang="en-US" sz="1300" dirty="0">
                <a:solidFill>
                  <a:srgbClr val="6F5C51"/>
                </a:solidFill>
              </a:rPr>
              <a:t>Draws straight dividing lines between the levels.</a:t>
            </a:r>
            <a:endParaRPr lang="en-US" sz="1800" dirty="0"/>
          </a:p>
          <a:p>
            <a:pPr indent="0" marL="0">
              <a:buNone/>
            </a:pPr>
            <a:r>
              <a:rPr lang="en-US" sz="1400" dirty="0">
                <a:solidFill>
                  <a:srgbClr val="2E1406"/>
                </a:solidFill>
              </a:rPr>
              <a:t>Careful, but caught only 28% of Danger days.</a:t>
            </a:r>
            <a:endParaRPr lang="en-US" sz="1800" dirty="0"/>
          </a:p>
        </p:txBody>
      </p:sp>
      <p:sp>
        <p:nvSpPr>
          <p:cNvPr id="8" name="Model Random Forest"/>
          <p:cNvSpPr/>
          <p:nvPr/>
        </p:nvSpPr>
        <p:spPr>
          <a:xfrm>
            <a:off x="7178040" y="3337560"/>
            <a:ext cx="4160520" cy="1216152"/>
          </a:xfrm>
          <a:prstGeom prst="rect">
            <a:avLst/>
          </a:prstGeom>
          <a:solidFill>
            <a:srgbClr val="F6C9A0"/>
          </a:solidFill>
          <a:ln/>
        </p:spPr>
      </p:sp>
      <p:sp>
        <p:nvSpPr>
          <p:cNvPr id="9" name="Text 5"/>
          <p:cNvSpPr txBox="1"/>
          <p:nvPr/>
        </p:nvSpPr>
        <p:spPr>
          <a:xfrm>
            <a:off x="7360920" y="3410712"/>
            <a:ext cx="3840480" cy="1097280"/>
          </a:xfrm>
          <a:prstGeom prst="rect">
            <a:avLst/>
          </a:prstGeom>
          <a:noFill/>
          <a:ln/>
        </p:spPr>
        <p:txBody>
          <a:bodyPr wrap="square" lIns="0" tIns="0" rIns="0" bIns="0" rtlCol="0" anchor="t"/>
          <a:lstStyle/>
          <a:p>
            <a:pPr indent="0" marL="0">
              <a:buNone/>
            </a:pPr>
            <a:r>
              <a:rPr lang="en-US" sz="1800" b="1" dirty="0">
                <a:solidFill>
                  <a:srgbClr val="2E1406"/>
                </a:solidFill>
                <a:latin typeface="Cambria" pitchFamily="34" charset="0"/>
                <a:ea typeface="Cambria" pitchFamily="34" charset="-122"/>
                <a:cs typeface="Cambria" pitchFamily="34" charset="-120"/>
              </a:rPr>
              <a:t>Random Forest</a:t>
            </a:r>
            <a:pPr indent="0" marL="0">
              <a:buNone/>
            </a:pPr>
            <a:r>
              <a:rPr lang="en-US" sz="1200" dirty="0">
                <a:solidFill>
                  <a:srgbClr val="6F5C51"/>
                </a:solidFill>
              </a:rPr>
              <a:t>   Edrian</a:t>
            </a:r>
            <a:endParaRPr lang="en-US" sz="1800" dirty="0"/>
          </a:p>
          <a:p>
            <a:pPr indent="0" marL="0">
              <a:buNone/>
            </a:pPr>
            <a:r>
              <a:rPr lang="en-US" sz="1300" dirty="0">
                <a:solidFill>
                  <a:srgbClr val="6F5C51"/>
                </a:solidFill>
              </a:rPr>
              <a:t>500 decision trees that vote on the answer.</a:t>
            </a:r>
            <a:endParaRPr lang="en-US" sz="1800" dirty="0"/>
          </a:p>
          <a:p>
            <a:pPr indent="0" marL="0">
              <a:buNone/>
            </a:pPr>
            <a:r>
              <a:rPr lang="en-US" sz="1400" dirty="0">
                <a:solidFill>
                  <a:srgbClr val="2E1406"/>
                </a:solidFill>
              </a:rPr>
              <a:t>Caught 67% of Danger days with the best score of the three.</a:t>
            </a:r>
            <a:endParaRPr lang="en-US" sz="1800" dirty="0"/>
          </a:p>
        </p:txBody>
      </p:sp>
      <p:sp>
        <p:nvSpPr>
          <p:cNvPr id="10" name="Selected tag"/>
          <p:cNvSpPr txBox="1"/>
          <p:nvPr/>
        </p:nvSpPr>
        <p:spPr>
          <a:xfrm>
            <a:off x="10241280" y="3447288"/>
            <a:ext cx="960120" cy="292608"/>
          </a:xfrm>
          <a:prstGeom prst="rect">
            <a:avLst/>
          </a:prstGeom>
          <a:solidFill>
            <a:srgbClr val="A63A0C"/>
          </a:solidFill>
          <a:ln/>
        </p:spPr>
        <p:txBody>
          <a:bodyPr wrap="square" lIns="0" tIns="0" rIns="0" bIns="0" rtlCol="0" anchor="ctr"/>
          <a:lstStyle/>
          <a:p>
            <a:pPr algn="ctr" indent="0" marL="0">
              <a:buNone/>
            </a:pPr>
            <a:r>
              <a:rPr lang="en-US" sz="1100" b="1" spc="100" kern="0" dirty="0">
                <a:solidFill>
                  <a:srgbClr val="FFFFFF"/>
                </a:solidFill>
              </a:rPr>
              <a:t>SELECTED</a:t>
            </a:r>
            <a:endParaRPr lang="en-US" sz="1100" dirty="0"/>
          </a:p>
        </p:txBody>
      </p:sp>
      <p:sp>
        <p:nvSpPr>
          <p:cNvPr id="11" name="Model Gradient Boosting"/>
          <p:cNvSpPr/>
          <p:nvPr/>
        </p:nvSpPr>
        <p:spPr>
          <a:xfrm>
            <a:off x="7178040" y="4663440"/>
            <a:ext cx="4160520" cy="1216152"/>
          </a:xfrm>
          <a:prstGeom prst="rect">
            <a:avLst/>
          </a:prstGeom>
          <a:solidFill>
            <a:srgbClr val="FDEBDC"/>
          </a:solidFill>
          <a:ln/>
        </p:spPr>
      </p:sp>
      <p:sp>
        <p:nvSpPr>
          <p:cNvPr id="12" name="Text 8"/>
          <p:cNvSpPr txBox="1"/>
          <p:nvPr/>
        </p:nvSpPr>
        <p:spPr>
          <a:xfrm>
            <a:off x="7360920" y="4736592"/>
            <a:ext cx="3840480" cy="1097280"/>
          </a:xfrm>
          <a:prstGeom prst="rect">
            <a:avLst/>
          </a:prstGeom>
          <a:noFill/>
          <a:ln/>
        </p:spPr>
        <p:txBody>
          <a:bodyPr wrap="square" lIns="0" tIns="0" rIns="0" bIns="0" rtlCol="0" anchor="t"/>
          <a:lstStyle/>
          <a:p>
            <a:pPr indent="0" marL="0">
              <a:buNone/>
            </a:pPr>
            <a:r>
              <a:rPr lang="en-US" sz="1800" b="1" dirty="0">
                <a:solidFill>
                  <a:srgbClr val="2E1406"/>
                </a:solidFill>
                <a:latin typeface="Cambria" pitchFamily="34" charset="0"/>
                <a:ea typeface="Cambria" pitchFamily="34" charset="-122"/>
                <a:cs typeface="Cambria" pitchFamily="34" charset="-120"/>
              </a:rPr>
              <a:t>Gradient Boosting</a:t>
            </a:r>
            <a:pPr indent="0" marL="0">
              <a:buNone/>
            </a:pPr>
            <a:r>
              <a:rPr lang="en-US" sz="1200" dirty="0">
                <a:solidFill>
                  <a:srgbClr val="6F5C51"/>
                </a:solidFill>
              </a:rPr>
              <a:t>   Marc</a:t>
            </a:r>
            <a:endParaRPr lang="en-US" sz="1800" dirty="0"/>
          </a:p>
          <a:p>
            <a:pPr indent="0" marL="0">
              <a:buNone/>
            </a:pPr>
            <a:r>
              <a:rPr lang="en-US" sz="1300" dirty="0">
                <a:solidFill>
                  <a:srgbClr val="6F5C51"/>
                </a:solidFill>
              </a:rPr>
              <a:t>Trees built one after another, each fixing the last one's mistakes.</a:t>
            </a:r>
            <a:endParaRPr lang="en-US" sz="1800" dirty="0"/>
          </a:p>
          <a:p>
            <a:pPr indent="0" marL="0">
              <a:buNone/>
            </a:pPr>
            <a:r>
              <a:rPr lang="en-US" sz="1400" dirty="0">
                <a:solidFill>
                  <a:srgbClr val="2E1406"/>
                </a:solidFill>
              </a:rPr>
              <a:t>Almost tied with Random Forest.</a:t>
            </a:r>
            <a:endParaRPr lang="en-US" sz="18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DANGER DAYS CAUGHT</a:t>
            </a:r>
            <a:endParaRPr lang="en-US" sz="3400" dirty="0"/>
          </a:p>
        </p:txBody>
      </p:sp>
      <p:sp>
        <p:nvSpPr>
          <p:cNvPr id="3" name="Subtitle pill"/>
          <p:cNvSpPr txBox="1"/>
          <p:nvPr/>
        </p:nvSpPr>
        <p:spPr>
          <a:xfrm>
            <a:off x="3718408" y="1417320"/>
            <a:ext cx="4754880" cy="420624"/>
          </a:xfrm>
          <a:prstGeom prst="rect">
            <a:avLst/>
          </a:prstGeom>
          <a:solidFill>
            <a:srgbClr val="F6C9A0"/>
          </a:solidFill>
          <a:ln/>
        </p:spPr>
        <p:txBody>
          <a:bodyPr wrap="square" lIns="50800" tIns="50800" rIns="50800" bIns="50800" rtlCol="0" anchor="ctr"/>
          <a:lstStyle/>
          <a:p>
            <a:pPr algn="ctr" indent="0" marL="0">
              <a:buNone/>
            </a:pPr>
            <a:r>
              <a:rPr lang="en-US" sz="1500" spc="100" kern="0" dirty="0">
                <a:solidFill>
                  <a:srgbClr val="2E1406"/>
                </a:solidFill>
              </a:rPr>
              <a:t>The final exam: 2025, opened once</a:t>
            </a:r>
            <a:endParaRPr lang="en-US" sz="1500" dirty="0"/>
          </a:p>
        </p:txBody>
      </p:sp>
      <p:sp>
        <p:nvSpPr>
          <p:cNvPr id="4" name="Setup"/>
          <p:cNvSpPr txBox="1"/>
          <p:nvPr/>
        </p:nvSpPr>
        <p:spPr>
          <a:xfrm>
            <a:off x="1097280" y="1965960"/>
            <a:ext cx="9997135" cy="914400"/>
          </a:xfrm>
          <a:prstGeom prst="rect">
            <a:avLst/>
          </a:prstGeom>
          <a:noFill/>
          <a:ln/>
        </p:spPr>
        <p:txBody>
          <a:bodyPr wrap="square" rtlCol="0" anchor="ctr"/>
          <a:lstStyle/>
          <a:p>
            <a:pPr algn="ctr" indent="0" marL="0">
              <a:buNone/>
            </a:pPr>
            <a:r>
              <a:rPr lang="en-US" sz="2800" dirty="0">
                <a:solidFill>
                  <a:srgbClr val="2E1406"/>
                </a:solidFill>
                <a:latin typeface="Cambria" pitchFamily="34" charset="0"/>
                <a:ea typeface="Cambria" pitchFamily="34" charset="-122"/>
                <a:cs typeface="Cambria" pitchFamily="34" charset="-120"/>
              </a:rPr>
              <a:t>In 2025 there were 347 Danger days across the 16 cities. Here is how many got a warning the day before.</a:t>
            </a:r>
            <a:endParaRPr lang="en-US" sz="2800" dirty="0"/>
          </a:p>
        </p:txBody>
      </p:sp>
      <p:sp>
        <p:nvSpPr>
          <p:cNvPr id="5" name="Bar label 1"/>
          <p:cNvSpPr txBox="1"/>
          <p:nvPr/>
        </p:nvSpPr>
        <p:spPr>
          <a:xfrm>
            <a:off x="868680" y="3154680"/>
            <a:ext cx="2743200" cy="822960"/>
          </a:xfrm>
          <a:prstGeom prst="rect">
            <a:avLst/>
          </a:prstGeom>
          <a:noFill/>
          <a:ln/>
        </p:spPr>
        <p:txBody>
          <a:bodyPr wrap="square" lIns="0" tIns="0" rIns="0" bIns="0" rtlCol="0" anchor="ctr"/>
          <a:lstStyle/>
          <a:p>
            <a:pPr indent="0" marL="0">
              <a:buNone/>
            </a:pPr>
            <a:r>
              <a:rPr lang="en-US" sz="2200" dirty="0">
                <a:solidFill>
                  <a:srgbClr val="2E1406"/>
                </a:solidFill>
                <a:latin typeface="Cambria" pitchFamily="34" charset="0"/>
                <a:ea typeface="Cambria" pitchFamily="34" charset="-122"/>
                <a:cs typeface="Cambria" pitchFamily="34" charset="-120"/>
              </a:rPr>
              <a:t>Copy-today rule</a:t>
            </a:r>
            <a:endParaRPr lang="en-US" sz="2200" dirty="0"/>
          </a:p>
          <a:p>
            <a:pPr indent="0" marL="0">
              <a:buNone/>
            </a:pPr>
            <a:r>
              <a:rPr lang="en-US" sz="1400" dirty="0">
                <a:solidFill>
                  <a:srgbClr val="6F5C51"/>
                </a:solidFill>
              </a:rPr>
              <a:t>the baseline</a:t>
            </a:r>
            <a:endParaRPr lang="en-US" sz="2200" dirty="0"/>
          </a:p>
        </p:txBody>
      </p:sp>
      <p:sp>
        <p:nvSpPr>
          <p:cNvPr id="6" name="Track 1"/>
          <p:cNvSpPr/>
          <p:nvPr/>
        </p:nvSpPr>
        <p:spPr>
          <a:xfrm>
            <a:off x="3749040" y="3154680"/>
            <a:ext cx="7589520" cy="822960"/>
          </a:xfrm>
          <a:prstGeom prst="rect">
            <a:avLst/>
          </a:prstGeom>
          <a:solidFill>
            <a:srgbClr val="FDEBDC"/>
          </a:solidFill>
          <a:ln/>
        </p:spPr>
      </p:sp>
      <p:sp>
        <p:nvSpPr>
          <p:cNvPr id="7" name="Bar 1"/>
          <p:cNvSpPr txBox="1"/>
          <p:nvPr/>
        </p:nvSpPr>
        <p:spPr>
          <a:xfrm>
            <a:off x="3749040" y="3154680"/>
            <a:ext cx="4527466" cy="822960"/>
          </a:xfrm>
          <a:prstGeom prst="rect">
            <a:avLst/>
          </a:prstGeom>
          <a:solidFill>
            <a:srgbClr val="F28C28"/>
          </a:solidFill>
          <a:ln/>
        </p:spPr>
        <p:txBody>
          <a:bodyPr wrap="square" lIns="0" tIns="0" rIns="177800" bIns="0" rtlCol="0" anchor="ctr"/>
          <a:lstStyle/>
          <a:p>
            <a:pPr algn="r" indent="0" marL="0">
              <a:buNone/>
            </a:pPr>
            <a:r>
              <a:rPr lang="en-US" sz="3000" b="1" dirty="0">
                <a:solidFill>
                  <a:srgbClr val="2E1406"/>
                </a:solidFill>
                <a:latin typeface="Cambria" pitchFamily="34" charset="0"/>
                <a:ea typeface="Cambria" pitchFamily="34" charset="-122"/>
                <a:cs typeface="Cambria" pitchFamily="34" charset="-120"/>
              </a:rPr>
              <a:t>207</a:t>
            </a:r>
            <a:pPr algn="r" indent="0" marL="0">
              <a:buNone/>
            </a:pPr>
            <a:r>
              <a:rPr lang="en-US" sz="1500" dirty="0">
                <a:solidFill>
                  <a:srgbClr val="2E1406"/>
                </a:solidFill>
              </a:rPr>
              <a:t>  of 347 (60%)</a:t>
            </a:r>
            <a:endParaRPr lang="en-US" sz="3000" dirty="0"/>
          </a:p>
        </p:txBody>
      </p:sp>
      <p:sp>
        <p:nvSpPr>
          <p:cNvPr id="8" name="Bar label 2"/>
          <p:cNvSpPr txBox="1"/>
          <p:nvPr/>
        </p:nvSpPr>
        <p:spPr>
          <a:xfrm>
            <a:off x="868680" y="4206240"/>
            <a:ext cx="2743200" cy="822960"/>
          </a:xfrm>
          <a:prstGeom prst="rect">
            <a:avLst/>
          </a:prstGeom>
          <a:noFill/>
          <a:ln/>
        </p:spPr>
        <p:txBody>
          <a:bodyPr wrap="square" lIns="0" tIns="0" rIns="0" bIns="0" rtlCol="0" anchor="ctr"/>
          <a:lstStyle/>
          <a:p>
            <a:pPr indent="0" marL="0">
              <a:buNone/>
            </a:pPr>
            <a:r>
              <a:rPr lang="en-US" sz="2200" dirty="0">
                <a:solidFill>
                  <a:srgbClr val="2E1406"/>
                </a:solidFill>
                <a:latin typeface="Cambria" pitchFamily="34" charset="0"/>
                <a:ea typeface="Cambria" pitchFamily="34" charset="-122"/>
                <a:cs typeface="Cambria" pitchFamily="34" charset="-120"/>
              </a:rPr>
              <a:t>Our Random Forest</a:t>
            </a:r>
            <a:endParaRPr lang="en-US" sz="2200" dirty="0"/>
          </a:p>
          <a:p>
            <a:pPr indent="0" marL="0">
              <a:buNone/>
            </a:pPr>
            <a:r>
              <a:rPr lang="en-US" sz="1400" dirty="0">
                <a:solidFill>
                  <a:srgbClr val="6F5C51"/>
                </a:solidFill>
              </a:rPr>
              <a:t>the selected model</a:t>
            </a:r>
            <a:endParaRPr lang="en-US" sz="2200" dirty="0"/>
          </a:p>
        </p:txBody>
      </p:sp>
      <p:sp>
        <p:nvSpPr>
          <p:cNvPr id="9" name="Track 2"/>
          <p:cNvSpPr/>
          <p:nvPr/>
        </p:nvSpPr>
        <p:spPr>
          <a:xfrm>
            <a:off x="3749040" y="4206240"/>
            <a:ext cx="7589520" cy="822960"/>
          </a:xfrm>
          <a:prstGeom prst="rect">
            <a:avLst/>
          </a:prstGeom>
          <a:solidFill>
            <a:srgbClr val="FDEBDC"/>
          </a:solidFill>
          <a:ln/>
        </p:spPr>
      </p:sp>
      <p:sp>
        <p:nvSpPr>
          <p:cNvPr id="10" name="Bar 2"/>
          <p:cNvSpPr txBox="1"/>
          <p:nvPr/>
        </p:nvSpPr>
        <p:spPr>
          <a:xfrm>
            <a:off x="3749040" y="4206240"/>
            <a:ext cx="6408442" cy="822960"/>
          </a:xfrm>
          <a:prstGeom prst="rect">
            <a:avLst/>
          </a:prstGeom>
          <a:solidFill>
            <a:srgbClr val="C0392B"/>
          </a:solidFill>
          <a:ln/>
        </p:spPr>
        <p:txBody>
          <a:bodyPr wrap="square" lIns="0" tIns="0" rIns="177800" bIns="0" rtlCol="0" anchor="ctr"/>
          <a:lstStyle/>
          <a:p>
            <a:pPr algn="r" indent="0" marL="0">
              <a:buNone/>
            </a:pPr>
            <a:r>
              <a:rPr lang="en-US" sz="3000" b="1" dirty="0">
                <a:solidFill>
                  <a:srgbClr val="FFFFFF"/>
                </a:solidFill>
                <a:latin typeface="Cambria" pitchFamily="34" charset="0"/>
                <a:ea typeface="Cambria" pitchFamily="34" charset="-122"/>
                <a:cs typeface="Cambria" pitchFamily="34" charset="-120"/>
              </a:rPr>
              <a:t>293</a:t>
            </a:r>
            <a:pPr algn="r" indent="0" marL="0">
              <a:buNone/>
            </a:pPr>
            <a:r>
              <a:rPr lang="en-US" sz="1500" dirty="0">
                <a:solidFill>
                  <a:srgbClr val="FFFFFF"/>
                </a:solidFill>
              </a:rPr>
              <a:t>  of 347 (84%)</a:t>
            </a:r>
            <a:endParaRPr lang="en-US" sz="3000" dirty="0"/>
          </a:p>
        </p:txBody>
      </p:sp>
      <p:sp>
        <p:nvSpPr>
          <p:cNvPr id="11" name="Difference"/>
          <p:cNvSpPr txBox="1"/>
          <p:nvPr/>
        </p:nvSpPr>
        <p:spPr>
          <a:xfrm>
            <a:off x="868680" y="5440680"/>
            <a:ext cx="10469880" cy="566928"/>
          </a:xfrm>
          <a:prstGeom prst="rect">
            <a:avLst/>
          </a:prstGeom>
          <a:solidFill>
            <a:srgbClr val="2E1406"/>
          </a:solidFill>
          <a:ln/>
        </p:spPr>
        <p:txBody>
          <a:bodyPr wrap="square" lIns="76200" tIns="76200" rIns="76200" bIns="76200" rtlCol="0" anchor="ctr"/>
          <a:lstStyle/>
          <a:p>
            <a:pPr algn="ctr" indent="0" marL="0">
              <a:buNone/>
            </a:pPr>
            <a:r>
              <a:rPr lang="en-US" sz="2000" b="1" dirty="0">
                <a:solidFill>
                  <a:srgbClr val="FBF4EC"/>
                </a:solidFill>
                <a:latin typeface="Cambria" pitchFamily="34" charset="0"/>
                <a:ea typeface="Cambria" pitchFamily="34" charset="-122"/>
                <a:cs typeface="Cambria" pitchFamily="34" charset="-120"/>
              </a:rPr>
              <a:t>86 more Danger days</a:t>
            </a:r>
            <a:pPr algn="ctr" indent="0" marL="0">
              <a:buNone/>
            </a:pPr>
            <a:r>
              <a:rPr lang="en-US" sz="2000" dirty="0">
                <a:solidFill>
                  <a:srgbClr val="FBF4EC"/>
                </a:solidFill>
                <a:latin typeface="Cambria" pitchFamily="34" charset="0"/>
                <a:ea typeface="Cambria" pitchFamily="34" charset="-122"/>
                <a:cs typeface="Cambria" pitchFamily="34" charset="-120"/>
              </a:rPr>
              <a:t> got a warning the day before, compared with copying today.</a:t>
            </a:r>
            <a:endParaRPr lang="en-US" sz="20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FINAL EXAM RESULT</a:t>
            </a:r>
            <a:endParaRPr lang="en-US" sz="3400" dirty="0"/>
          </a:p>
        </p:txBody>
      </p:sp>
      <p:sp>
        <p:nvSpPr>
          <p:cNvPr id="3" name="Subtitle pill"/>
          <p:cNvSpPr txBox="1"/>
          <p:nvPr/>
        </p:nvSpPr>
        <p:spPr>
          <a:xfrm>
            <a:off x="2804008" y="1417320"/>
            <a:ext cx="6583680" cy="420624"/>
          </a:xfrm>
          <a:prstGeom prst="rect">
            <a:avLst/>
          </a:prstGeom>
          <a:solidFill>
            <a:srgbClr val="F6C9A0"/>
          </a:solidFill>
          <a:ln/>
        </p:spPr>
        <p:txBody>
          <a:bodyPr wrap="square" lIns="50800" tIns="50800" rIns="50800" bIns="50800" rtlCol="0" anchor="ctr"/>
          <a:lstStyle/>
          <a:p>
            <a:pPr algn="ctr" indent="0" marL="0">
              <a:buNone/>
            </a:pPr>
            <a:r>
              <a:rPr lang="en-US" sz="1500" spc="100" kern="0" dirty="0">
                <a:solidFill>
                  <a:srgbClr val="2E1406"/>
                </a:solidFill>
              </a:rPr>
              <a:t>The selected Random Forest on 2025, compared with copy-today</a:t>
            </a:r>
            <a:endParaRPr lang="en-US" sz="1500" dirty="0"/>
          </a:p>
        </p:txBody>
      </p:sp>
      <p:sp>
        <p:nvSpPr>
          <p:cNvPr id="4" name="Stat 293"/>
          <p:cNvSpPr/>
          <p:nvPr/>
        </p:nvSpPr>
        <p:spPr>
          <a:xfrm>
            <a:off x="868680" y="2103120"/>
            <a:ext cx="3374136" cy="2514600"/>
          </a:xfrm>
          <a:prstGeom prst="rect">
            <a:avLst/>
          </a:prstGeom>
          <a:solidFill>
            <a:srgbClr val="FDEBDC"/>
          </a:solidFill>
          <a:ln/>
        </p:spPr>
      </p:sp>
      <p:sp>
        <p:nvSpPr>
          <p:cNvPr id="5" name="Text 3"/>
          <p:cNvSpPr txBox="1"/>
          <p:nvPr/>
        </p:nvSpPr>
        <p:spPr>
          <a:xfrm>
            <a:off x="1097280" y="2240280"/>
            <a:ext cx="2926080" cy="1143000"/>
          </a:xfrm>
          <a:prstGeom prst="rect">
            <a:avLst/>
          </a:prstGeom>
          <a:noFill/>
          <a:ln/>
        </p:spPr>
        <p:txBody>
          <a:bodyPr wrap="square" lIns="0" tIns="0" rIns="0" bIns="0" rtlCol="0" anchor="ctr"/>
          <a:lstStyle/>
          <a:p>
            <a:pPr indent="0" marL="0">
              <a:buNone/>
            </a:pPr>
            <a:r>
              <a:rPr lang="en-US" sz="6600" dirty="0">
                <a:solidFill>
                  <a:srgbClr val="C0392B"/>
                </a:solidFill>
                <a:latin typeface="Cambria" pitchFamily="34" charset="0"/>
                <a:ea typeface="Cambria" pitchFamily="34" charset="-122"/>
                <a:cs typeface="Cambria" pitchFamily="34" charset="-120"/>
              </a:rPr>
              <a:t>293</a:t>
            </a:r>
            <a:endParaRPr lang="en-US" sz="6600" dirty="0"/>
          </a:p>
        </p:txBody>
      </p:sp>
      <p:sp>
        <p:nvSpPr>
          <p:cNvPr id="6" name="Text 4"/>
          <p:cNvSpPr txBox="1"/>
          <p:nvPr/>
        </p:nvSpPr>
        <p:spPr>
          <a:xfrm>
            <a:off x="1097280" y="3429000"/>
            <a:ext cx="2926080" cy="548640"/>
          </a:xfrm>
          <a:prstGeom prst="rect">
            <a:avLst/>
          </a:prstGeom>
          <a:noFill/>
          <a:ln/>
        </p:spPr>
        <p:txBody>
          <a:bodyPr wrap="square" lIns="0" tIns="0" rIns="0" bIns="0" rtlCol="0" anchor="t"/>
          <a:lstStyle/>
          <a:p>
            <a:pPr indent="0" marL="0">
              <a:buNone/>
            </a:pPr>
            <a:r>
              <a:rPr lang="en-US" sz="1700" b="1" dirty="0">
                <a:solidFill>
                  <a:srgbClr val="2E1406"/>
                </a:solidFill>
              </a:rPr>
              <a:t>of 347 Danger days caught (84%)</a:t>
            </a:r>
            <a:endParaRPr lang="en-US" sz="1700" dirty="0"/>
          </a:p>
        </p:txBody>
      </p:sp>
      <p:sp>
        <p:nvSpPr>
          <p:cNvPr id="7" name="Text 5"/>
          <p:cNvSpPr txBox="1"/>
          <p:nvPr/>
        </p:nvSpPr>
        <p:spPr>
          <a:xfrm>
            <a:off x="1097280" y="4005072"/>
            <a:ext cx="2926080" cy="548640"/>
          </a:xfrm>
          <a:prstGeom prst="rect">
            <a:avLst/>
          </a:prstGeom>
          <a:noFill/>
          <a:ln/>
        </p:spPr>
        <p:txBody>
          <a:bodyPr wrap="square" lIns="0" tIns="0" rIns="0" bIns="0" rtlCol="0" anchor="t"/>
          <a:lstStyle/>
          <a:p>
            <a:pPr indent="0" marL="0">
              <a:buNone/>
            </a:pPr>
            <a:r>
              <a:rPr lang="en-US" sz="1300" dirty="0">
                <a:solidFill>
                  <a:srgbClr val="6F5C51"/>
                </a:solidFill>
              </a:rPr>
              <a:t>Copy-today caught 207 (60%)</a:t>
            </a:r>
            <a:endParaRPr lang="en-US" sz="1300" dirty="0"/>
          </a:p>
        </p:txBody>
      </p:sp>
      <p:sp>
        <p:nvSpPr>
          <p:cNvPr id="8" name="Stat 36%"/>
          <p:cNvSpPr/>
          <p:nvPr/>
        </p:nvSpPr>
        <p:spPr>
          <a:xfrm>
            <a:off x="4416552" y="2103120"/>
            <a:ext cx="3374136" cy="2514600"/>
          </a:xfrm>
          <a:prstGeom prst="rect">
            <a:avLst/>
          </a:prstGeom>
          <a:solidFill>
            <a:srgbClr val="FDEBDC"/>
          </a:solidFill>
          <a:ln/>
        </p:spPr>
      </p:sp>
      <p:sp>
        <p:nvSpPr>
          <p:cNvPr id="9" name="Text 7"/>
          <p:cNvSpPr txBox="1"/>
          <p:nvPr/>
        </p:nvSpPr>
        <p:spPr>
          <a:xfrm>
            <a:off x="4645152" y="2240280"/>
            <a:ext cx="2926080" cy="1143000"/>
          </a:xfrm>
          <a:prstGeom prst="rect">
            <a:avLst/>
          </a:prstGeom>
          <a:noFill/>
          <a:ln/>
        </p:spPr>
        <p:txBody>
          <a:bodyPr wrap="square" lIns="0" tIns="0" rIns="0" bIns="0" rtlCol="0" anchor="ctr"/>
          <a:lstStyle/>
          <a:p>
            <a:pPr indent="0" marL="0">
              <a:buNone/>
            </a:pPr>
            <a:r>
              <a:rPr lang="en-US" sz="6600" dirty="0">
                <a:solidFill>
                  <a:srgbClr val="A63A0C"/>
                </a:solidFill>
                <a:latin typeface="Cambria" pitchFamily="34" charset="0"/>
                <a:ea typeface="Cambria" pitchFamily="34" charset="-122"/>
                <a:cs typeface="Cambria" pitchFamily="34" charset="-120"/>
              </a:rPr>
              <a:t>36%</a:t>
            </a:r>
            <a:endParaRPr lang="en-US" sz="6600" dirty="0"/>
          </a:p>
        </p:txBody>
      </p:sp>
      <p:sp>
        <p:nvSpPr>
          <p:cNvPr id="10" name="Text 8"/>
          <p:cNvSpPr txBox="1"/>
          <p:nvPr/>
        </p:nvSpPr>
        <p:spPr>
          <a:xfrm>
            <a:off x="4645152" y="3429000"/>
            <a:ext cx="2926080" cy="548640"/>
          </a:xfrm>
          <a:prstGeom prst="rect">
            <a:avLst/>
          </a:prstGeom>
          <a:noFill/>
          <a:ln/>
        </p:spPr>
        <p:txBody>
          <a:bodyPr wrap="square" lIns="0" tIns="0" rIns="0" bIns="0" rtlCol="0" anchor="t"/>
          <a:lstStyle/>
          <a:p>
            <a:pPr indent="0" marL="0">
              <a:buNone/>
            </a:pPr>
            <a:r>
              <a:rPr lang="en-US" sz="1700" b="1" dirty="0">
                <a:solidFill>
                  <a:srgbClr val="2E1406"/>
                </a:solidFill>
              </a:rPr>
              <a:t>of its Danger warnings were right</a:t>
            </a:r>
            <a:endParaRPr lang="en-US" sz="1700" dirty="0"/>
          </a:p>
        </p:txBody>
      </p:sp>
      <p:sp>
        <p:nvSpPr>
          <p:cNvPr id="11" name="Text 9"/>
          <p:cNvSpPr txBox="1"/>
          <p:nvPr/>
        </p:nvSpPr>
        <p:spPr>
          <a:xfrm>
            <a:off x="4645152" y="4005072"/>
            <a:ext cx="2926080" cy="548640"/>
          </a:xfrm>
          <a:prstGeom prst="rect">
            <a:avLst/>
          </a:prstGeom>
          <a:noFill/>
          <a:ln/>
        </p:spPr>
        <p:txBody>
          <a:bodyPr wrap="square" lIns="0" tIns="0" rIns="0" bIns="0" rtlCol="0" anchor="t"/>
          <a:lstStyle/>
          <a:p>
            <a:pPr indent="0" marL="0">
              <a:buNone/>
            </a:pPr>
            <a:r>
              <a:rPr lang="en-US" sz="1300" dirty="0">
                <a:solidFill>
                  <a:srgbClr val="6F5C51"/>
                </a:solidFill>
              </a:rPr>
              <a:t>293 of 816: about 2 false alarms for each real Danger day</a:t>
            </a:r>
            <a:endParaRPr lang="en-US" sz="1300" dirty="0"/>
          </a:p>
        </p:txBody>
      </p:sp>
      <p:sp>
        <p:nvSpPr>
          <p:cNvPr id="12" name="Stat 0.61"/>
          <p:cNvSpPr/>
          <p:nvPr/>
        </p:nvSpPr>
        <p:spPr>
          <a:xfrm>
            <a:off x="7964424" y="2103120"/>
            <a:ext cx="3374136" cy="2514600"/>
          </a:xfrm>
          <a:prstGeom prst="rect">
            <a:avLst/>
          </a:prstGeom>
          <a:solidFill>
            <a:srgbClr val="FDEBDC"/>
          </a:solidFill>
          <a:ln/>
        </p:spPr>
      </p:sp>
      <p:sp>
        <p:nvSpPr>
          <p:cNvPr id="13" name="Text 11"/>
          <p:cNvSpPr txBox="1"/>
          <p:nvPr/>
        </p:nvSpPr>
        <p:spPr>
          <a:xfrm>
            <a:off x="8193024" y="2240280"/>
            <a:ext cx="2926080" cy="1143000"/>
          </a:xfrm>
          <a:prstGeom prst="rect">
            <a:avLst/>
          </a:prstGeom>
          <a:noFill/>
          <a:ln/>
        </p:spPr>
        <p:txBody>
          <a:bodyPr wrap="square" lIns="0" tIns="0" rIns="0" bIns="0" rtlCol="0" anchor="ctr"/>
          <a:lstStyle/>
          <a:p>
            <a:pPr indent="0" marL="0">
              <a:buNone/>
            </a:pPr>
            <a:r>
              <a:rPr lang="en-US" sz="6600" dirty="0">
                <a:solidFill>
                  <a:srgbClr val="2E1406"/>
                </a:solidFill>
                <a:latin typeface="Cambria" pitchFamily="34" charset="0"/>
                <a:ea typeface="Cambria" pitchFamily="34" charset="-122"/>
                <a:cs typeface="Cambria" pitchFamily="34" charset="-120"/>
              </a:rPr>
              <a:t>0.61</a:t>
            </a:r>
            <a:endParaRPr lang="en-US" sz="6600" dirty="0"/>
          </a:p>
        </p:txBody>
      </p:sp>
      <p:sp>
        <p:nvSpPr>
          <p:cNvPr id="14" name="Text 12"/>
          <p:cNvSpPr txBox="1"/>
          <p:nvPr/>
        </p:nvSpPr>
        <p:spPr>
          <a:xfrm>
            <a:off x="8193024" y="3429000"/>
            <a:ext cx="2926080" cy="548640"/>
          </a:xfrm>
          <a:prstGeom prst="rect">
            <a:avLst/>
          </a:prstGeom>
          <a:noFill/>
          <a:ln/>
        </p:spPr>
        <p:txBody>
          <a:bodyPr wrap="square" lIns="0" tIns="0" rIns="0" bIns="0" rtlCol="0" anchor="t"/>
          <a:lstStyle/>
          <a:p>
            <a:pPr indent="0" marL="0">
              <a:buNone/>
            </a:pPr>
            <a:r>
              <a:rPr lang="en-US" sz="1700" b="1" dirty="0">
                <a:solidFill>
                  <a:srgbClr val="2E1406"/>
                </a:solidFill>
              </a:rPr>
              <a:t>score, below copy-today's 0.68</a:t>
            </a:r>
            <a:endParaRPr lang="en-US" sz="1700" dirty="0"/>
          </a:p>
        </p:txBody>
      </p:sp>
      <p:sp>
        <p:nvSpPr>
          <p:cNvPr id="15" name="Text 13"/>
          <p:cNvSpPr txBox="1"/>
          <p:nvPr/>
        </p:nvSpPr>
        <p:spPr>
          <a:xfrm>
            <a:off x="8193024" y="4005072"/>
            <a:ext cx="2926080" cy="548640"/>
          </a:xfrm>
          <a:prstGeom prst="rect">
            <a:avLst/>
          </a:prstGeom>
          <a:noFill/>
          <a:ln/>
        </p:spPr>
        <p:txBody>
          <a:bodyPr wrap="square" lIns="0" tIns="0" rIns="0" bIns="0" rtlCol="0" anchor="t"/>
          <a:lstStyle/>
          <a:p>
            <a:pPr indent="0" marL="0">
              <a:buNone/>
            </a:pPr>
            <a:r>
              <a:rPr lang="en-US" sz="1300" dirty="0">
                <a:solidFill>
                  <a:srgbClr val="6F5C51"/>
                </a:solidFill>
              </a:rPr>
              <a:t>It did not beat copy-today overall</a:t>
            </a:r>
            <a:endParaRPr lang="en-US" sz="1300" dirty="0"/>
          </a:p>
        </p:txBody>
      </p:sp>
      <p:sp>
        <p:nvSpPr>
          <p:cNvPr id="16" name="Takeaway"/>
          <p:cNvSpPr txBox="1"/>
          <p:nvPr/>
        </p:nvSpPr>
        <p:spPr>
          <a:xfrm>
            <a:off x="868680" y="4846320"/>
            <a:ext cx="10469880" cy="1005840"/>
          </a:xfrm>
          <a:prstGeom prst="rect">
            <a:avLst/>
          </a:prstGeom>
          <a:solidFill>
            <a:srgbClr val="2E1406"/>
          </a:solidFill>
          <a:ln/>
        </p:spPr>
        <p:txBody>
          <a:bodyPr wrap="square" lIns="228600" tIns="228600" rIns="228600" bIns="228600" rtlCol="0" anchor="ctr"/>
          <a:lstStyle/>
          <a:p>
            <a:pPr algn="ctr" indent="0" marL="0">
              <a:buNone/>
            </a:pPr>
            <a:r>
              <a:rPr lang="en-US" sz="2000" i="1" dirty="0">
                <a:solidFill>
                  <a:srgbClr val="FBF4EC"/>
                </a:solidFill>
                <a:latin typeface="Cambria" pitchFamily="34" charset="0"/>
                <a:ea typeface="Cambria" pitchFamily="34" charset="-122"/>
                <a:cs typeface="Cambria" pitchFamily="34" charset="-120"/>
              </a:rPr>
              <a:t>Not a better all-round forecaster, but a good early warning: it catches far more Danger days than copying today, at the price of more false alarms.</a:t>
            </a:r>
            <a:endParaRPr lang="en-US" sz="20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LIVE DEMO</a:t>
            </a:r>
            <a:endParaRPr lang="en-US" sz="3400" dirty="0"/>
          </a:p>
        </p:txBody>
      </p:sp>
      <p:sp>
        <p:nvSpPr>
          <p:cNvPr id="3" name="Subtitle pill"/>
          <p:cNvSpPr txBox="1"/>
          <p:nvPr/>
        </p:nvSpPr>
        <p:spPr>
          <a:xfrm>
            <a:off x="4175608" y="1417320"/>
            <a:ext cx="3840480" cy="420624"/>
          </a:xfrm>
          <a:prstGeom prst="rect">
            <a:avLst/>
          </a:prstGeom>
          <a:solidFill>
            <a:srgbClr val="F6C9A0"/>
          </a:solidFill>
          <a:ln/>
        </p:spPr>
        <p:txBody>
          <a:bodyPr wrap="square" lIns="50800" tIns="50800" rIns="50800" bIns="50800" rtlCol="0" anchor="ctr"/>
          <a:lstStyle/>
          <a:p>
            <a:pPr algn="ctr" indent="0" marL="0">
              <a:buNone/>
            </a:pPr>
            <a:r>
              <a:rPr lang="en-US" sz="1500" b="1" spc="100" kern="0" dirty="0">
                <a:solidFill>
                  <a:srgbClr val="2E1406"/>
                </a:solidFill>
              </a:rPr>
              <a:t>heatcast-ncr.streamlit.app</a:t>
            </a:r>
            <a:endParaRPr lang="en-US" sz="1500" dirty="0"/>
          </a:p>
        </p:txBody>
      </p:sp>
      <p:sp>
        <p:nvSpPr>
          <p:cNvPr id="4" name="Step dot 1"/>
          <p:cNvSpPr/>
          <p:nvPr/>
        </p:nvSpPr>
        <p:spPr>
          <a:xfrm>
            <a:off x="868680" y="2148840"/>
            <a:ext cx="566928" cy="566928"/>
          </a:xfrm>
          <a:prstGeom prst="ellipse">
            <a:avLst/>
          </a:prstGeom>
          <a:solidFill>
            <a:srgbClr val="A63A0C"/>
          </a:solidFill>
          <a:ln/>
        </p:spPr>
      </p:sp>
      <p:sp>
        <p:nvSpPr>
          <p:cNvPr id="5" name="Text 3"/>
          <p:cNvSpPr txBox="1"/>
          <p:nvPr/>
        </p:nvSpPr>
        <p:spPr>
          <a:xfrm>
            <a:off x="868680" y="214884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Cambria" pitchFamily="34" charset="0"/>
                <a:ea typeface="Cambria" pitchFamily="34" charset="-122"/>
                <a:cs typeface="Cambria" pitchFamily="34" charset="-120"/>
              </a:rPr>
              <a:t>1</a:t>
            </a:r>
            <a:endParaRPr lang="en-US" sz="2200" dirty="0"/>
          </a:p>
        </p:txBody>
      </p:sp>
      <p:sp>
        <p:nvSpPr>
          <p:cNvPr id="6" name="Step 1"/>
          <p:cNvSpPr txBox="1"/>
          <p:nvPr/>
        </p:nvSpPr>
        <p:spPr>
          <a:xfrm>
            <a:off x="1645920" y="2103120"/>
            <a:ext cx="3749040" cy="1143000"/>
          </a:xfrm>
          <a:prstGeom prst="rect">
            <a:avLst/>
          </a:prstGeom>
          <a:noFill/>
          <a:ln/>
        </p:spPr>
        <p:txBody>
          <a:bodyPr wrap="square" lIns="0" tIns="0" rIns="0" bIns="0" rtlCol="0" anchor="t"/>
          <a:lstStyle/>
          <a:p>
            <a:pPr indent="0" marL="0">
              <a:buNone/>
            </a:pPr>
            <a:r>
              <a:rPr lang="en-US" sz="2000" dirty="0">
                <a:solidFill>
                  <a:srgbClr val="2E1406"/>
                </a:solidFill>
                <a:latin typeface="Cambria" pitchFamily="34" charset="0"/>
                <a:ea typeface="Cambria" pitchFamily="34" charset="-122"/>
                <a:cs typeface="Cambria" pitchFamily="34" charset="-120"/>
              </a:rPr>
              <a:t>A hot day in Manila</a:t>
            </a:r>
            <a:endParaRPr lang="en-US" sz="2000" dirty="0"/>
          </a:p>
          <a:p>
            <a:pPr indent="0" marL="0">
              <a:buNone/>
            </a:pPr>
            <a:r>
              <a:rPr lang="en-US" sz="1400" dirty="0">
                <a:solidFill>
                  <a:srgbClr val="6F5C51"/>
                </a:solidFill>
              </a:rPr>
              <a:t>We choose Manila and type a hot day: heat index 45.5 °C, lowest 29 °C, no rain, 1,008 hPa, sunshine 7,000.</a:t>
            </a:r>
            <a:endParaRPr lang="en-US" sz="2000" dirty="0"/>
          </a:p>
        </p:txBody>
      </p:sp>
      <p:sp>
        <p:nvSpPr>
          <p:cNvPr id="7" name="Step dot 2"/>
          <p:cNvSpPr/>
          <p:nvPr/>
        </p:nvSpPr>
        <p:spPr>
          <a:xfrm>
            <a:off x="868680" y="3337560"/>
            <a:ext cx="566928" cy="566928"/>
          </a:xfrm>
          <a:prstGeom prst="ellipse">
            <a:avLst/>
          </a:prstGeom>
          <a:solidFill>
            <a:srgbClr val="A63A0C"/>
          </a:solidFill>
          <a:ln/>
        </p:spPr>
      </p:sp>
      <p:sp>
        <p:nvSpPr>
          <p:cNvPr id="8" name="Text 6"/>
          <p:cNvSpPr txBox="1"/>
          <p:nvPr/>
        </p:nvSpPr>
        <p:spPr>
          <a:xfrm>
            <a:off x="868680" y="333756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Cambria" pitchFamily="34" charset="0"/>
                <a:ea typeface="Cambria" pitchFamily="34" charset="-122"/>
                <a:cs typeface="Cambria" pitchFamily="34" charset="-120"/>
              </a:rPr>
              <a:t>2</a:t>
            </a:r>
            <a:endParaRPr lang="en-US" sz="2200" dirty="0"/>
          </a:p>
        </p:txBody>
      </p:sp>
      <p:sp>
        <p:nvSpPr>
          <p:cNvPr id="9" name="Step 2"/>
          <p:cNvSpPr txBox="1"/>
          <p:nvPr/>
        </p:nvSpPr>
        <p:spPr>
          <a:xfrm>
            <a:off x="1645920" y="3291840"/>
            <a:ext cx="3749040" cy="1143000"/>
          </a:xfrm>
          <a:prstGeom prst="rect">
            <a:avLst/>
          </a:prstGeom>
          <a:noFill/>
          <a:ln/>
        </p:spPr>
        <p:txBody>
          <a:bodyPr wrap="square" lIns="0" tIns="0" rIns="0" bIns="0" rtlCol="0" anchor="t"/>
          <a:lstStyle/>
          <a:p>
            <a:pPr indent="0" marL="0">
              <a:buNone/>
            </a:pPr>
            <a:r>
              <a:rPr lang="en-US" sz="2000" dirty="0">
                <a:solidFill>
                  <a:srgbClr val="2E1406"/>
                </a:solidFill>
                <a:latin typeface="Cambria" pitchFamily="34" charset="0"/>
                <a:ea typeface="Cambria" pitchFamily="34" charset="-122"/>
                <a:cs typeface="Cambria" pitchFamily="34" charset="-120"/>
              </a:rPr>
              <a:t>A mistake on purpose</a:t>
            </a:r>
            <a:endParaRPr lang="en-US" sz="2000" dirty="0"/>
          </a:p>
          <a:p>
            <a:pPr indent="0" marL="0">
              <a:buNone/>
            </a:pPr>
            <a:r>
              <a:rPr lang="en-US" sz="1400" dirty="0">
                <a:solidFill>
                  <a:srgbClr val="6F5C51"/>
                </a:solidFill>
              </a:rPr>
              <a:t>Rain of −5 mm is impossible: the app shows the accepted range and gives no prediction.</a:t>
            </a:r>
            <a:endParaRPr lang="en-US" sz="2000" dirty="0"/>
          </a:p>
        </p:txBody>
      </p:sp>
      <p:sp>
        <p:nvSpPr>
          <p:cNvPr id="10" name="Step dot 3"/>
          <p:cNvSpPr/>
          <p:nvPr/>
        </p:nvSpPr>
        <p:spPr>
          <a:xfrm>
            <a:off x="868680" y="4526280"/>
            <a:ext cx="566928" cy="566928"/>
          </a:xfrm>
          <a:prstGeom prst="ellipse">
            <a:avLst/>
          </a:prstGeom>
          <a:solidFill>
            <a:srgbClr val="A63A0C"/>
          </a:solidFill>
          <a:ln/>
        </p:spPr>
      </p:sp>
      <p:sp>
        <p:nvSpPr>
          <p:cNvPr id="11" name="Text 9"/>
          <p:cNvSpPr txBox="1"/>
          <p:nvPr/>
        </p:nvSpPr>
        <p:spPr>
          <a:xfrm>
            <a:off x="868680" y="452628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Cambria" pitchFamily="34" charset="0"/>
                <a:ea typeface="Cambria" pitchFamily="34" charset="-122"/>
                <a:cs typeface="Cambria" pitchFamily="34" charset="-120"/>
              </a:rPr>
              <a:t>3</a:t>
            </a:r>
            <a:endParaRPr lang="en-US" sz="2200" dirty="0"/>
          </a:p>
        </p:txBody>
      </p:sp>
      <p:sp>
        <p:nvSpPr>
          <p:cNvPr id="12" name="Step 3"/>
          <p:cNvSpPr txBox="1"/>
          <p:nvPr/>
        </p:nvSpPr>
        <p:spPr>
          <a:xfrm>
            <a:off x="1645920" y="4480560"/>
            <a:ext cx="3749040" cy="1143000"/>
          </a:xfrm>
          <a:prstGeom prst="rect">
            <a:avLst/>
          </a:prstGeom>
          <a:noFill/>
          <a:ln/>
        </p:spPr>
        <p:txBody>
          <a:bodyPr wrap="square" lIns="0" tIns="0" rIns="0" bIns="0" rtlCol="0" anchor="t"/>
          <a:lstStyle/>
          <a:p>
            <a:pPr indent="0" marL="0">
              <a:buNone/>
            </a:pPr>
            <a:r>
              <a:rPr lang="en-US" sz="2000" dirty="0">
                <a:solidFill>
                  <a:srgbClr val="2E1406"/>
                </a:solidFill>
                <a:latin typeface="Cambria" pitchFamily="34" charset="0"/>
                <a:ea typeface="Cambria" pitchFamily="34" charset="-122"/>
                <a:cs typeface="Cambria" pitchFamily="34" charset="-120"/>
              </a:rPr>
              <a:t>An empty form</a:t>
            </a:r>
            <a:endParaRPr lang="en-US" sz="2000" dirty="0"/>
          </a:p>
          <a:p>
            <a:pPr indent="0" marL="0">
              <a:buNone/>
            </a:pPr>
            <a:r>
              <a:rPr lang="en-US" sz="1400" dirty="0">
                <a:solidFill>
                  <a:srgbClr val="6F5C51"/>
                </a:solidFill>
              </a:rPr>
              <a:t>Every missing value is named by the app; nothing is filled in silently.</a:t>
            </a:r>
            <a:endParaRPr lang="en-US" sz="2000" dirty="0"/>
          </a:p>
        </p:txBody>
      </p:sp>
      <p:sp>
        <p:nvSpPr>
          <p:cNvPr id="13" name="Text 11"/>
          <p:cNvSpPr txBox="1"/>
          <p:nvPr/>
        </p:nvSpPr>
        <p:spPr>
          <a:xfrm>
            <a:off x="868680" y="5715000"/>
            <a:ext cx="4526280" cy="320040"/>
          </a:xfrm>
          <a:prstGeom prst="rect">
            <a:avLst/>
          </a:prstGeom>
          <a:noFill/>
          <a:ln/>
        </p:spPr>
        <p:txBody>
          <a:bodyPr wrap="square" lIns="0" tIns="0" rIns="0" bIns="0" rtlCol="0" anchor="t"/>
          <a:lstStyle/>
          <a:p>
            <a:pPr indent="0" marL="0">
              <a:buNone/>
            </a:pPr>
            <a:r>
              <a:rPr lang="en-US" sz="1200" i="1" dirty="0">
                <a:solidFill>
                  <a:srgbClr val="6F5C51"/>
                </a:solidFill>
              </a:rPr>
              <a:t>The app uses the same saved Random Forest that took the final exam.</a:t>
            </a:r>
            <a:endParaRPr lang="en-US" sz="1200" dirty="0"/>
          </a:p>
        </p:txBody>
      </p:sp>
      <p:pic>
        <p:nvPicPr>
          <p:cNvPr id="14" name="App screenshot" descr="Screenshot of the HeatCast NCR app: a Danger prediction for Manila, the map and the error messages">    </p:cNvPr>
          <p:cNvPicPr>
            <a:picLocks noChangeAspect="1"/>
          </p:cNvPicPr>
          <p:nvPr/>
        </p:nvPicPr>
        <p:blipFill>
          <a:blip r:embed="rId1"/>
          <a:stretch>
            <a:fillRect/>
          </a:stretch>
        </p:blipFill>
        <p:spPr>
          <a:xfrm>
            <a:off x="5550150" y="1965960"/>
            <a:ext cx="5788410" cy="4069080"/>
          </a:xfrm>
          <a:prstGeom prst="rect">
            <a:avLst/>
          </a:prstGeom>
        </p:spPr>
      </p:pic>
      <p:sp>
        <p:nvSpPr>
          <p:cNvPr id="15" name="Screenshot frame"/>
          <p:cNvSpPr/>
          <p:nvPr/>
        </p:nvSpPr>
        <p:spPr>
          <a:xfrm>
            <a:off x="5550150" y="1965960"/>
            <a:ext cx="5788410" cy="4069080"/>
          </a:xfrm>
          <a:prstGeom prst="rect">
            <a:avLst/>
          </a:prstGeom>
          <a:ln w="9525">
            <a:solidFill>
              <a:srgbClr val="E2CDBB"/>
            </a:solidFill>
            <a:prstDash val="solid"/>
          </a:ln>
        </p:spPr>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CONCLUSION</a:t>
            </a:r>
            <a:endParaRPr lang="en-US" sz="3400" dirty="0"/>
          </a:p>
        </p:txBody>
      </p:sp>
      <p:sp>
        <p:nvSpPr>
          <p:cNvPr id="3" name="Subtitle pill"/>
          <p:cNvSpPr txBox="1"/>
          <p:nvPr/>
        </p:nvSpPr>
        <p:spPr>
          <a:xfrm>
            <a:off x="4541368" y="1417320"/>
            <a:ext cx="3108960" cy="420624"/>
          </a:xfrm>
          <a:prstGeom prst="rect">
            <a:avLst/>
          </a:prstGeom>
          <a:solidFill>
            <a:srgbClr val="F6C9A0"/>
          </a:solidFill>
          <a:ln/>
        </p:spPr>
        <p:txBody>
          <a:bodyPr wrap="square" lIns="50800" tIns="50800" rIns="50800" bIns="50800" rtlCol="0" anchor="ctr"/>
          <a:lstStyle/>
          <a:p>
            <a:pPr algn="ctr" indent="0" marL="0">
              <a:buNone/>
            </a:pPr>
            <a:r>
              <a:rPr lang="en-US" sz="1500" spc="100" kern="0" dirty="0">
                <a:solidFill>
                  <a:srgbClr val="2E1406"/>
                </a:solidFill>
              </a:rPr>
              <a:t>What we learned</a:t>
            </a:r>
            <a:endParaRPr lang="en-US" sz="1500" dirty="0"/>
          </a:p>
        </p:txBody>
      </p:sp>
      <p:sp>
        <p:nvSpPr>
          <p:cNvPr id="4" name="Conclusion 01"/>
          <p:cNvSpPr/>
          <p:nvPr/>
        </p:nvSpPr>
        <p:spPr>
          <a:xfrm>
            <a:off x="868680" y="2103120"/>
            <a:ext cx="3374136" cy="3611880"/>
          </a:xfrm>
          <a:prstGeom prst="rect">
            <a:avLst/>
          </a:prstGeom>
          <a:solidFill>
            <a:srgbClr val="FDEBDC"/>
          </a:solidFill>
          <a:ln/>
        </p:spPr>
      </p:sp>
      <p:sp>
        <p:nvSpPr>
          <p:cNvPr id="5" name="Text 3"/>
          <p:cNvSpPr txBox="1"/>
          <p:nvPr/>
        </p:nvSpPr>
        <p:spPr>
          <a:xfrm>
            <a:off x="1143000" y="2286000"/>
            <a:ext cx="1371600" cy="777240"/>
          </a:xfrm>
          <a:prstGeom prst="rect">
            <a:avLst/>
          </a:prstGeom>
          <a:noFill/>
          <a:ln/>
        </p:spPr>
        <p:txBody>
          <a:bodyPr wrap="square" lIns="0" tIns="0" rIns="0" bIns="0" rtlCol="0" anchor="t"/>
          <a:lstStyle/>
          <a:p>
            <a:pPr indent="0" marL="0">
              <a:buNone/>
            </a:pPr>
            <a:r>
              <a:rPr lang="en-US" sz="4400" dirty="0">
                <a:solidFill>
                  <a:srgbClr val="A63A0C"/>
                </a:solidFill>
                <a:latin typeface="Cambria" pitchFamily="34" charset="0"/>
                <a:ea typeface="Cambria" pitchFamily="34" charset="-122"/>
                <a:cs typeface="Cambria" pitchFamily="34" charset="-120"/>
              </a:rPr>
              <a:t>01</a:t>
            </a:r>
            <a:endParaRPr lang="en-US" sz="4400" dirty="0"/>
          </a:p>
        </p:txBody>
      </p:sp>
      <p:pic>
        <p:nvPicPr>
          <p:cNvPr id="6" name="Conclusion icon 01" descr="The answer">    </p:cNvPr>
          <p:cNvPicPr>
            <a:picLocks noChangeAspect="1"/>
          </p:cNvPicPr>
          <p:nvPr/>
        </p:nvPicPr>
        <p:blipFill>
          <a:blip r:embed="rId1"/>
          <a:stretch>
            <a:fillRect/>
          </a:stretch>
        </p:blipFill>
        <p:spPr>
          <a:xfrm>
            <a:off x="3191256" y="2331720"/>
            <a:ext cx="731520" cy="731520"/>
          </a:xfrm>
          <a:prstGeom prst="rect">
            <a:avLst/>
          </a:prstGeom>
        </p:spPr>
      </p:pic>
      <p:sp>
        <p:nvSpPr>
          <p:cNvPr id="7" name="Text 4"/>
          <p:cNvSpPr txBox="1"/>
          <p:nvPr/>
        </p:nvSpPr>
        <p:spPr>
          <a:xfrm>
            <a:off x="1143000" y="3246120"/>
            <a:ext cx="2834640" cy="2377440"/>
          </a:xfrm>
          <a:prstGeom prst="rect">
            <a:avLst/>
          </a:prstGeom>
          <a:noFill/>
          <a:ln/>
        </p:spPr>
        <p:txBody>
          <a:bodyPr wrap="square" lIns="0" tIns="0" rIns="0" bIns="0" rtlCol="0" anchor="t"/>
          <a:lstStyle/>
          <a:p>
            <a:pPr indent="0" marL="0">
              <a:spcAft>
                <a:spcPts val="800"/>
              </a:spcAft>
              <a:buNone/>
            </a:pPr>
            <a:r>
              <a:rPr lang="en-US" sz="2400" dirty="0">
                <a:solidFill>
                  <a:srgbClr val="2E1406"/>
                </a:solidFill>
                <a:latin typeface="Cambria" pitchFamily="34" charset="0"/>
                <a:ea typeface="Cambria" pitchFamily="34" charset="-122"/>
                <a:cs typeface="Cambria" pitchFamily="34" charset="-120"/>
              </a:rPr>
              <a:t>The answer</a:t>
            </a:r>
            <a:endParaRPr lang="en-US" sz="2400" dirty="0"/>
          </a:p>
          <a:p>
            <a:pPr indent="0" marL="0">
              <a:spcAft>
                <a:spcPts val="800"/>
              </a:spcAft>
              <a:buNone/>
            </a:pPr>
            <a:r>
              <a:rPr lang="en-US" sz="1900" dirty="0">
                <a:solidFill>
                  <a:srgbClr val="2E1406"/>
                </a:solidFill>
              </a:rPr>
              <a:t>No. None of our models beat copying today's level on overall score: tomorrow's heat is mostly today's heat.</a:t>
            </a:r>
            <a:endParaRPr lang="en-US" sz="2400" dirty="0"/>
          </a:p>
        </p:txBody>
      </p:sp>
      <p:sp>
        <p:nvSpPr>
          <p:cNvPr id="8" name="Conclusion 02"/>
          <p:cNvSpPr/>
          <p:nvPr/>
        </p:nvSpPr>
        <p:spPr>
          <a:xfrm>
            <a:off x="4416552" y="2103120"/>
            <a:ext cx="3374136" cy="3611880"/>
          </a:xfrm>
          <a:prstGeom prst="rect">
            <a:avLst/>
          </a:prstGeom>
          <a:solidFill>
            <a:srgbClr val="F6C9A0"/>
          </a:solidFill>
          <a:ln/>
        </p:spPr>
      </p:sp>
      <p:sp>
        <p:nvSpPr>
          <p:cNvPr id="9" name="Text 6"/>
          <p:cNvSpPr txBox="1"/>
          <p:nvPr/>
        </p:nvSpPr>
        <p:spPr>
          <a:xfrm>
            <a:off x="4690872" y="2286000"/>
            <a:ext cx="1371600" cy="777240"/>
          </a:xfrm>
          <a:prstGeom prst="rect">
            <a:avLst/>
          </a:prstGeom>
          <a:noFill/>
          <a:ln/>
        </p:spPr>
        <p:txBody>
          <a:bodyPr wrap="square" lIns="0" tIns="0" rIns="0" bIns="0" rtlCol="0" anchor="t"/>
          <a:lstStyle/>
          <a:p>
            <a:pPr indent="0" marL="0">
              <a:buNone/>
            </a:pPr>
            <a:r>
              <a:rPr lang="en-US" sz="4400" dirty="0">
                <a:solidFill>
                  <a:srgbClr val="A63A0C"/>
                </a:solidFill>
                <a:latin typeface="Cambria" pitchFamily="34" charset="0"/>
                <a:ea typeface="Cambria" pitchFamily="34" charset="-122"/>
                <a:cs typeface="Cambria" pitchFamily="34" charset="-120"/>
              </a:rPr>
              <a:t>02</a:t>
            </a:r>
            <a:endParaRPr lang="en-US" sz="4400" dirty="0"/>
          </a:p>
        </p:txBody>
      </p:sp>
      <p:pic>
        <p:nvPicPr>
          <p:cNvPr id="10" name="Conclusion icon 02" descr="What ML adds">    </p:cNvPr>
          <p:cNvPicPr>
            <a:picLocks noChangeAspect="1"/>
          </p:cNvPicPr>
          <p:nvPr/>
        </p:nvPicPr>
        <p:blipFill>
          <a:blip r:embed="rId2"/>
          <a:stretch>
            <a:fillRect/>
          </a:stretch>
        </p:blipFill>
        <p:spPr>
          <a:xfrm>
            <a:off x="6739128" y="2331720"/>
            <a:ext cx="731520" cy="731520"/>
          </a:xfrm>
          <a:prstGeom prst="rect">
            <a:avLst/>
          </a:prstGeom>
        </p:spPr>
      </p:pic>
      <p:sp>
        <p:nvSpPr>
          <p:cNvPr id="11" name="Text 7"/>
          <p:cNvSpPr txBox="1"/>
          <p:nvPr/>
        </p:nvSpPr>
        <p:spPr>
          <a:xfrm>
            <a:off x="4690872" y="3246120"/>
            <a:ext cx="2834640" cy="2377440"/>
          </a:xfrm>
          <a:prstGeom prst="rect">
            <a:avLst/>
          </a:prstGeom>
          <a:noFill/>
          <a:ln/>
        </p:spPr>
        <p:txBody>
          <a:bodyPr wrap="square" lIns="0" tIns="0" rIns="0" bIns="0" rtlCol="0" anchor="t"/>
          <a:lstStyle/>
          <a:p>
            <a:pPr indent="0" marL="0">
              <a:spcAft>
                <a:spcPts val="800"/>
              </a:spcAft>
              <a:buNone/>
            </a:pPr>
            <a:r>
              <a:rPr lang="en-US" sz="2400" dirty="0">
                <a:solidFill>
                  <a:srgbClr val="2E1406"/>
                </a:solidFill>
                <a:latin typeface="Cambria" pitchFamily="34" charset="0"/>
                <a:ea typeface="Cambria" pitchFamily="34" charset="-122"/>
                <a:cs typeface="Cambria" pitchFamily="34" charset="-120"/>
              </a:rPr>
              <a:t>What ML adds</a:t>
            </a:r>
            <a:endParaRPr lang="en-US" sz="2400" dirty="0"/>
          </a:p>
          <a:p>
            <a:pPr indent="0" marL="0">
              <a:spcAft>
                <a:spcPts val="800"/>
              </a:spcAft>
              <a:buNone/>
            </a:pPr>
            <a:r>
              <a:rPr lang="en-US" sz="1900" dirty="0">
                <a:solidFill>
                  <a:srgbClr val="2E1406"/>
                </a:solidFill>
              </a:rPr>
              <a:t>Told that Danger days matter more, the Random Forest caught 84% of them in 2025. We deployed it as an early warning.</a:t>
            </a:r>
            <a:endParaRPr lang="en-US" sz="2400" dirty="0"/>
          </a:p>
        </p:txBody>
      </p:sp>
      <p:sp>
        <p:nvSpPr>
          <p:cNvPr id="12" name="Conclusion 03"/>
          <p:cNvSpPr/>
          <p:nvPr/>
        </p:nvSpPr>
        <p:spPr>
          <a:xfrm>
            <a:off x="7964424" y="2103120"/>
            <a:ext cx="3374136" cy="3611880"/>
          </a:xfrm>
          <a:prstGeom prst="rect">
            <a:avLst/>
          </a:prstGeom>
          <a:solidFill>
            <a:srgbClr val="FDEBDC"/>
          </a:solidFill>
          <a:ln/>
        </p:spPr>
      </p:sp>
      <p:sp>
        <p:nvSpPr>
          <p:cNvPr id="13" name="Text 9"/>
          <p:cNvSpPr txBox="1"/>
          <p:nvPr/>
        </p:nvSpPr>
        <p:spPr>
          <a:xfrm>
            <a:off x="8238744" y="2286000"/>
            <a:ext cx="1371600" cy="777240"/>
          </a:xfrm>
          <a:prstGeom prst="rect">
            <a:avLst/>
          </a:prstGeom>
          <a:noFill/>
          <a:ln/>
        </p:spPr>
        <p:txBody>
          <a:bodyPr wrap="square" lIns="0" tIns="0" rIns="0" bIns="0" rtlCol="0" anchor="t"/>
          <a:lstStyle/>
          <a:p>
            <a:pPr indent="0" marL="0">
              <a:buNone/>
            </a:pPr>
            <a:r>
              <a:rPr lang="en-US" sz="4400" dirty="0">
                <a:solidFill>
                  <a:srgbClr val="A63A0C"/>
                </a:solidFill>
                <a:latin typeface="Cambria" pitchFamily="34" charset="0"/>
                <a:ea typeface="Cambria" pitchFamily="34" charset="-122"/>
                <a:cs typeface="Cambria" pitchFamily="34" charset="-120"/>
              </a:rPr>
              <a:t>03</a:t>
            </a:r>
            <a:endParaRPr lang="en-US" sz="4400" dirty="0"/>
          </a:p>
        </p:txBody>
      </p:sp>
      <p:pic>
        <p:nvPicPr>
          <p:cNvPr id="14" name="Conclusion icon 03" descr="Limits and next steps">    </p:cNvPr>
          <p:cNvPicPr>
            <a:picLocks noChangeAspect="1"/>
          </p:cNvPicPr>
          <p:nvPr/>
        </p:nvPicPr>
        <p:blipFill>
          <a:blip r:embed="rId3"/>
          <a:stretch>
            <a:fillRect/>
          </a:stretch>
        </p:blipFill>
        <p:spPr>
          <a:xfrm>
            <a:off x="10287000" y="2331720"/>
            <a:ext cx="731520" cy="731520"/>
          </a:xfrm>
          <a:prstGeom prst="rect">
            <a:avLst/>
          </a:prstGeom>
        </p:spPr>
      </p:pic>
      <p:sp>
        <p:nvSpPr>
          <p:cNvPr id="15" name="Text 10"/>
          <p:cNvSpPr txBox="1"/>
          <p:nvPr/>
        </p:nvSpPr>
        <p:spPr>
          <a:xfrm>
            <a:off x="8238744" y="3246120"/>
            <a:ext cx="2834640" cy="2377440"/>
          </a:xfrm>
          <a:prstGeom prst="rect">
            <a:avLst/>
          </a:prstGeom>
          <a:noFill/>
          <a:ln/>
        </p:spPr>
        <p:txBody>
          <a:bodyPr wrap="square" lIns="0" tIns="0" rIns="0" bIns="0" rtlCol="0" anchor="t"/>
          <a:lstStyle/>
          <a:p>
            <a:pPr indent="0" marL="0">
              <a:spcAft>
                <a:spcPts val="800"/>
              </a:spcAft>
              <a:buNone/>
            </a:pPr>
            <a:r>
              <a:rPr lang="en-US" sz="2400" dirty="0">
                <a:solidFill>
                  <a:srgbClr val="2E1406"/>
                </a:solidFill>
                <a:latin typeface="Cambria" pitchFamily="34" charset="0"/>
                <a:ea typeface="Cambria" pitchFamily="34" charset="-122"/>
                <a:cs typeface="Cambria" pitchFamily="34" charset="-120"/>
              </a:rPr>
              <a:t>Limits and next steps</a:t>
            </a:r>
            <a:endParaRPr lang="en-US" sz="2400" dirty="0"/>
          </a:p>
          <a:p>
            <a:pPr indent="0" marL="0">
              <a:spcAft>
                <a:spcPts val="800"/>
              </a:spcAft>
              <a:buNone/>
            </a:pPr>
            <a:r>
              <a:rPr lang="en-US" sz="1900" dirty="0">
                <a:solidFill>
                  <a:srgbClr val="2E1406"/>
                </a:solidFill>
              </a:rPr>
              <a:t>Weather estimates, not station readings; only five years. Next: add the month and recent days, a weather forecast, and more years.</a:t>
            </a:r>
            <a:endParaRPr lang="en-US" sz="2400" dirty="0"/>
          </a:p>
        </p:txBody>
      </p:sp>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hank you"/>
          <p:cNvSpPr txBox="1"/>
          <p:nvPr/>
        </p:nvSpPr>
        <p:spPr>
          <a:xfrm>
            <a:off x="822960" y="2286000"/>
            <a:ext cx="10545775" cy="1097280"/>
          </a:xfrm>
          <a:prstGeom prst="rect">
            <a:avLst/>
          </a:prstGeom>
          <a:noFill/>
          <a:ln/>
        </p:spPr>
        <p:txBody>
          <a:bodyPr wrap="square" rtlCol="0" anchor="ctr"/>
          <a:lstStyle/>
          <a:p>
            <a:pPr algn="ctr" indent="0" marL="0">
              <a:buNone/>
            </a:pPr>
            <a:r>
              <a:rPr lang="en-US" sz="6600" spc="1600" kern="0" dirty="0">
                <a:solidFill>
                  <a:schemeClr val="tx1"/>
                </a:solidFill>
                <a:latin typeface="Cambria" pitchFamily="34" charset="0"/>
                <a:ea typeface="Cambria" pitchFamily="34" charset="-122"/>
                <a:cs typeface="Cambria" pitchFamily="34" charset="-120"/>
              </a:rPr>
              <a:t>THANK YOU</a:t>
            </a:r>
            <a:endParaRPr lang="en-US" sz="6600" dirty="0"/>
          </a:p>
        </p:txBody>
      </p:sp>
      <p:sp>
        <p:nvSpPr>
          <p:cNvPr id="3" name="Questions"/>
          <p:cNvSpPr txBox="1"/>
          <p:nvPr/>
        </p:nvSpPr>
        <p:spPr>
          <a:xfrm>
            <a:off x="822960" y="3383280"/>
            <a:ext cx="10545775" cy="640080"/>
          </a:xfrm>
          <a:prstGeom prst="rect">
            <a:avLst/>
          </a:prstGeom>
          <a:noFill/>
          <a:ln/>
        </p:spPr>
        <p:txBody>
          <a:bodyPr wrap="square" rtlCol="0" anchor="ctr"/>
          <a:lstStyle/>
          <a:p>
            <a:pPr algn="ctr" indent="0" marL="0">
              <a:buNone/>
            </a:pPr>
            <a:r>
              <a:rPr lang="en-US" sz="3000" i="1" dirty="0">
                <a:solidFill>
                  <a:srgbClr val="A63A0C"/>
                </a:solidFill>
                <a:latin typeface="Cambria" pitchFamily="34" charset="0"/>
                <a:ea typeface="Cambria" pitchFamily="34" charset="-122"/>
                <a:cs typeface="Cambria" pitchFamily="34" charset="-120"/>
              </a:rPr>
              <a:t>Questions?</a:t>
            </a:r>
            <a:endParaRPr lang="en-US" sz="3000" dirty="0"/>
          </a:p>
        </p:txBody>
      </p:sp>
      <p:sp>
        <p:nvSpPr>
          <p:cNvPr id="4" name="Links"/>
          <p:cNvSpPr txBox="1"/>
          <p:nvPr/>
        </p:nvSpPr>
        <p:spPr>
          <a:xfrm>
            <a:off x="1798168" y="4572000"/>
            <a:ext cx="8595360" cy="411480"/>
          </a:xfrm>
          <a:prstGeom prst="roundRect">
            <a:avLst>
              <a:gd name="adj" fmla="val 17778"/>
            </a:avLst>
          </a:prstGeom>
          <a:solidFill>
            <a:srgbClr val="FFFFFF"/>
          </a:solidFill>
          <a:ln/>
        </p:spPr>
        <p:txBody>
          <a:bodyPr wrap="square" rtlCol="0" anchor="ctr"/>
          <a:lstStyle/>
          <a:p>
            <a:pPr algn="ctr" indent="0" marL="0">
              <a:buNone/>
            </a:pPr>
            <a:r>
              <a:rPr lang="en-US" sz="1500" dirty="0">
                <a:solidFill>
                  <a:schemeClr val="tx1"/>
                </a:solidFill>
              </a:rPr>
              <a:t>Try it: heatcast-ncr.streamlit.app   ·   Code: github.com/keyyum/heatcast-ncr-simple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868680" y="640080"/>
            <a:ext cx="10469880" cy="685800"/>
          </a:xfrm>
          <a:prstGeom prst="rect">
            <a:avLst/>
          </a:prstGeom>
          <a:noFill/>
          <a:ln/>
        </p:spPr>
        <p:txBody>
          <a:bodyPr wrap="square" lIns="0" tIns="0" rIns="0" bIns="0" rtlCol="0" anchor="ctr"/>
          <a:lstStyle/>
          <a:p>
            <a:pPr algn="ctr" indent="0" marL="0">
              <a:buNone/>
            </a:pPr>
            <a:r>
              <a:rPr lang="en-US" sz="3400" spc="500" kern="0" dirty="0">
                <a:solidFill>
                  <a:schemeClr val="tx1"/>
                </a:solidFill>
                <a:latin typeface="Cambria" pitchFamily="34" charset="0"/>
                <a:ea typeface="Cambria" pitchFamily="34" charset="-122"/>
                <a:cs typeface="Cambria" pitchFamily="34" charset="-120"/>
              </a:rPr>
              <a:t>BACKUP: KEY TERMS</a:t>
            </a:r>
            <a:endParaRPr lang="en-US" sz="3400" dirty="0"/>
          </a:p>
        </p:txBody>
      </p:sp>
      <p:sp>
        <p:nvSpPr>
          <p:cNvPr id="3" name="Subtitle pill"/>
          <p:cNvSpPr txBox="1"/>
          <p:nvPr/>
        </p:nvSpPr>
        <p:spPr>
          <a:xfrm>
            <a:off x="3444088" y="1417320"/>
            <a:ext cx="5303520" cy="420624"/>
          </a:xfrm>
          <a:prstGeom prst="rect">
            <a:avLst/>
          </a:prstGeom>
          <a:solidFill>
            <a:srgbClr val="FDEBDC"/>
          </a:solidFill>
          <a:ln/>
        </p:spPr>
        <p:txBody>
          <a:bodyPr wrap="square" lIns="50800" tIns="50800" rIns="50800" bIns="50800" rtlCol="0" anchor="ctr"/>
          <a:lstStyle/>
          <a:p>
            <a:pPr algn="ctr" indent="0" marL="0">
              <a:buNone/>
            </a:pPr>
            <a:r>
              <a:rPr lang="en-US" sz="1500" spc="100" kern="0" dirty="0">
                <a:solidFill>
                  <a:srgbClr val="2E1406"/>
                </a:solidFill>
              </a:rPr>
              <a:t>For questions only; we do not present this slide</a:t>
            </a:r>
            <a:endParaRPr lang="en-US" sz="1500" dirty="0"/>
          </a:p>
        </p:txBody>
      </p:sp>
      <p:graphicFrame>
        <p:nvGraphicFramePr>
          <p:cNvPr id="15" name="Key terms"/>
          <p:cNvGraphicFramePr>
            <a:graphicFrameLocks noGrp="1"/>
          </p:cNvGraphicFramePr>
          <p:nvPr>
            <p:extLst>
              <p:ext uri="{D42A27DB-BD31-4B8C-83A1-F6EECF244321}">
                <p14:modId xmlns:p14="http://schemas.microsoft.com/office/powerpoint/2010/main" val="1579011935"/>
              </p:ext>
            </p:extLst>
          </p:nvPr>
        </p:nvGraphicFramePr>
        <p:xfrm>
          <a:off x="868680" y="2011680"/>
          <a:ext cx="10469880" cy="914400"/>
        </p:xfrm>
        <a:graphic>
          <a:graphicData uri="http://schemas.openxmlformats.org/drawingml/2006/table">
            <a:tbl>
              <a:tblPr/>
              <a:tblGrid>
                <a:gridCol w="2926080"/>
                <a:gridCol w="7543800"/>
              </a:tblGrid>
              <a:tr h="4297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Word on the slides</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A63A0C"/>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means</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A63A0C"/>
                    </a:solidFill>
                  </a:tcPr>
                </a:tc>
              </a:tr>
              <a:tr h="429768">
                <a:tc>
                  <a:txBody>
                    <a:bodyPr/>
                    <a:lstStyle/>
                    <a:p>
                      <a:pPr indent="0" marL="0">
                        <a:buNone/>
                      </a:pPr>
                      <a:r>
                        <a:rPr lang="en-US" sz="1400" b="1" dirty="0">
                          <a:solidFill>
                            <a:srgbClr val="2E1406"/>
                          </a:solidFill>
                          <a:latin typeface="Calibri" pitchFamily="34" charset="0"/>
                          <a:ea typeface="Calibri" pitchFamily="34" charset="-122"/>
                          <a:cs typeface="Calibri" pitchFamily="34" charset="-120"/>
                        </a:rPr>
                        <a:t>Heat index</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DEBDC"/>
                    </a:solidFill>
                  </a:tcPr>
                </a:tc>
                <a:tc>
                  <a:txBody>
                    <a:bodyPr/>
                    <a:lstStyle/>
                    <a:p>
                      <a:pPr indent="0" marL="0">
                        <a:buNone/>
                      </a:pPr>
                      <a:r>
                        <a:rPr lang="en-US" sz="1400" dirty="0">
                          <a:solidFill>
                            <a:srgbClr val="2E1406"/>
                          </a:solidFill>
                          <a:latin typeface="Calibri" pitchFamily="34" charset="0"/>
                          <a:ea typeface="Calibri" pitchFamily="34" charset="-122"/>
                          <a:cs typeface="Calibri" pitchFamily="34" charset="-120"/>
                        </a:rPr>
                        <a:t>How hot it feels, from temperature and humidity (US National Weather Service formula).</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DEBDC"/>
                    </a:solidFill>
                  </a:tcPr>
                </a:tc>
              </a:tr>
              <a:tr h="429768">
                <a:tc>
                  <a:txBody>
                    <a:bodyPr/>
                    <a:lstStyle/>
                    <a:p>
                      <a:pPr indent="0" marL="0">
                        <a:buNone/>
                      </a:pPr>
                      <a:r>
                        <a:rPr lang="en-US" sz="1400" b="1" dirty="0">
                          <a:solidFill>
                            <a:srgbClr val="2E1406"/>
                          </a:solidFill>
                          <a:latin typeface="Calibri" pitchFamily="34" charset="0"/>
                          <a:ea typeface="Calibri" pitchFamily="34" charset="-122"/>
                          <a:cs typeface="Calibri" pitchFamily="34" charset="-120"/>
                        </a:rPr>
                        <a:t>Copy-today rule</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BF4EC"/>
                    </a:solidFill>
                  </a:tcPr>
                </a:tc>
                <a:tc>
                  <a:txBody>
                    <a:bodyPr/>
                    <a:lstStyle/>
                    <a:p>
                      <a:pPr indent="0" marL="0">
                        <a:buNone/>
                      </a:pPr>
                      <a:r>
                        <a:rPr lang="en-US" sz="1400" dirty="0">
                          <a:solidFill>
                            <a:srgbClr val="2E1406"/>
                          </a:solidFill>
                          <a:latin typeface="Calibri" pitchFamily="34" charset="0"/>
                          <a:ea typeface="Calibri" pitchFamily="34" charset="-122"/>
                          <a:cs typeface="Calibri" pitchFamily="34" charset="-120"/>
                        </a:rPr>
                        <a:t>The persistence baseline: tomorrow's level = today's level in the same city.</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BF4EC"/>
                    </a:solidFill>
                  </a:tcPr>
                </a:tc>
              </a:tr>
              <a:tr h="429768">
                <a:tc>
                  <a:txBody>
                    <a:bodyPr/>
                    <a:lstStyle/>
                    <a:p>
                      <a:pPr indent="0" marL="0">
                        <a:buNone/>
                      </a:pPr>
                      <a:r>
                        <a:rPr lang="en-US" sz="1400" b="1" dirty="0">
                          <a:solidFill>
                            <a:srgbClr val="2E1406"/>
                          </a:solidFill>
                          <a:latin typeface="Calibri" pitchFamily="34" charset="0"/>
                          <a:ea typeface="Calibri" pitchFamily="34" charset="-122"/>
                          <a:cs typeface="Calibri" pitchFamily="34" charset="-120"/>
                        </a:rPr>
                        <a:t>Score (macro F1)</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DEBDC"/>
                    </a:solidFill>
                  </a:tcPr>
                </a:tc>
                <a:tc>
                  <a:txBody>
                    <a:bodyPr/>
                    <a:lstStyle/>
                    <a:p>
                      <a:pPr indent="0" marL="0">
                        <a:buNone/>
                      </a:pPr>
                      <a:r>
                        <a:rPr lang="en-US" sz="1400" dirty="0">
                          <a:solidFill>
                            <a:srgbClr val="2E1406"/>
                          </a:solidFill>
                          <a:latin typeface="Calibri" pitchFamily="34" charset="0"/>
                          <a:ea typeface="Calibri" pitchFamily="34" charset="-122"/>
                          <a:cs typeface="Calibri" pitchFamily="34" charset="-120"/>
                        </a:rPr>
                        <a:t>F1 for each level, averaged over Caution, Extreme Caution and Danger; each level counts equally.</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DEBDC"/>
                    </a:solidFill>
                  </a:tcPr>
                </a:tc>
              </a:tr>
              <a:tr h="429768">
                <a:tc>
                  <a:txBody>
                    <a:bodyPr/>
                    <a:lstStyle/>
                    <a:p>
                      <a:pPr indent="0" marL="0">
                        <a:buNone/>
                      </a:pPr>
                      <a:r>
                        <a:rPr lang="en-US" sz="1400" b="1" dirty="0">
                          <a:solidFill>
                            <a:srgbClr val="2E1406"/>
                          </a:solidFill>
                          <a:latin typeface="Calibri" pitchFamily="34" charset="0"/>
                          <a:ea typeface="Calibri" pitchFamily="34" charset="-122"/>
                          <a:cs typeface="Calibri" pitchFamily="34" charset="-120"/>
                        </a:rPr>
                        <a:t>Danger days caught</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BF4EC"/>
                    </a:solidFill>
                  </a:tcPr>
                </a:tc>
                <a:tc>
                  <a:txBody>
                    <a:bodyPr/>
                    <a:lstStyle/>
                    <a:p>
                      <a:pPr indent="0" marL="0">
                        <a:buNone/>
                      </a:pPr>
                      <a:r>
                        <a:rPr lang="en-US" sz="1400" dirty="0">
                          <a:solidFill>
                            <a:srgbClr val="2E1406"/>
                          </a:solidFill>
                          <a:latin typeface="Calibri" pitchFamily="34" charset="0"/>
                          <a:ea typeface="Calibri" pitchFamily="34" charset="-122"/>
                          <a:cs typeface="Calibri" pitchFamily="34" charset="-120"/>
                        </a:rPr>
                        <a:t>Danger recall: of the real Danger days, the share the model called Danger.</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BF4EC"/>
                    </a:solidFill>
                  </a:tcPr>
                </a:tc>
              </a:tr>
              <a:tr h="429768">
                <a:tc>
                  <a:txBody>
                    <a:bodyPr/>
                    <a:lstStyle/>
                    <a:p>
                      <a:pPr indent="0" marL="0">
                        <a:buNone/>
                      </a:pPr>
                      <a:r>
                        <a:rPr lang="en-US" sz="1400" b="1" dirty="0">
                          <a:solidFill>
                            <a:srgbClr val="2E1406"/>
                          </a:solidFill>
                          <a:latin typeface="Calibri" pitchFamily="34" charset="0"/>
                          <a:ea typeface="Calibri" pitchFamily="34" charset="-122"/>
                          <a:cs typeface="Calibri" pitchFamily="34" charset="-120"/>
                        </a:rPr>
                        <a:t>Warnings that were right</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DEBDC"/>
                    </a:solidFill>
                  </a:tcPr>
                </a:tc>
                <a:tc>
                  <a:txBody>
                    <a:bodyPr/>
                    <a:lstStyle/>
                    <a:p>
                      <a:pPr indent="0" marL="0">
                        <a:buNone/>
                      </a:pPr>
                      <a:r>
                        <a:rPr lang="en-US" sz="1400" dirty="0">
                          <a:solidFill>
                            <a:srgbClr val="2E1406"/>
                          </a:solidFill>
                          <a:latin typeface="Calibri" pitchFamily="34" charset="0"/>
                          <a:ea typeface="Calibri" pitchFamily="34" charset="-122"/>
                          <a:cs typeface="Calibri" pitchFamily="34" charset="-120"/>
                        </a:rPr>
                        <a:t>Danger precision: of the model's Danger calls, the share that really were Danger.</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DEBDC"/>
                    </a:solidFill>
                  </a:tcPr>
                </a:tc>
              </a:tr>
              <a:tr h="429768">
                <a:tc>
                  <a:txBody>
                    <a:bodyPr/>
                    <a:lstStyle/>
                    <a:p>
                      <a:pPr indent="0" marL="0">
                        <a:buNone/>
                      </a:pPr>
                      <a:r>
                        <a:rPr lang="en-US" sz="1400" b="1" dirty="0">
                          <a:solidFill>
                            <a:srgbClr val="2E1406"/>
                          </a:solidFill>
                          <a:latin typeface="Calibri" pitchFamily="34" charset="0"/>
                          <a:ea typeface="Calibri" pitchFamily="34" charset="-122"/>
                          <a:cs typeface="Calibri" pitchFamily="34" charset="-120"/>
                        </a:rPr>
                        <a:t>Told Danger matters more</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BF4EC"/>
                    </a:solidFill>
                  </a:tcPr>
                </a:tc>
                <a:tc>
                  <a:txBody>
                    <a:bodyPr/>
                    <a:lstStyle/>
                    <a:p>
                      <a:pPr indent="0" marL="0">
                        <a:buNone/>
                      </a:pPr>
                      <a:r>
                        <a:rPr lang="en-US" sz="1400" dirty="0">
                          <a:solidFill>
                            <a:srgbClr val="2E1406"/>
                          </a:solidFill>
                          <a:latin typeface="Calibri" pitchFamily="34" charset="0"/>
                          <a:ea typeface="Calibri" pitchFamily="34" charset="-122"/>
                          <a:cs typeface="Calibri" pitchFamily="34" charset="-120"/>
                        </a:rPr>
                        <a:t>Balanced class weights: rare levels count more while the model learns.</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BF4EC"/>
                    </a:solidFill>
                  </a:tcPr>
                </a:tc>
              </a:tr>
              <a:tr h="429768">
                <a:tc>
                  <a:txBody>
                    <a:bodyPr/>
                    <a:lstStyle/>
                    <a:p>
                      <a:pPr indent="0" marL="0">
                        <a:buNone/>
                      </a:pPr>
                      <a:r>
                        <a:rPr lang="en-US" sz="1400" b="1" dirty="0">
                          <a:solidFill>
                            <a:srgbClr val="2E1406"/>
                          </a:solidFill>
                          <a:latin typeface="Calibri" pitchFamily="34" charset="0"/>
                          <a:ea typeface="Calibri" pitchFamily="34" charset="-122"/>
                          <a:cs typeface="Calibri" pitchFamily="34" charset="-120"/>
                        </a:rPr>
                        <a:t>Practice quizzes</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DEBDC"/>
                    </a:solidFill>
                  </a:tcPr>
                </a:tc>
                <a:tc>
                  <a:txBody>
                    <a:bodyPr/>
                    <a:lstStyle/>
                    <a:p>
                      <a:pPr indent="0" marL="0">
                        <a:buNone/>
                      </a:pPr>
                      <a:r>
                        <a:rPr lang="en-US" sz="1400" dirty="0">
                          <a:solidFill>
                            <a:srgbClr val="2E1406"/>
                          </a:solidFill>
                          <a:latin typeface="Calibri" pitchFamily="34" charset="0"/>
                          <a:ea typeface="Calibri" pitchFamily="34" charset="-122"/>
                          <a:cs typeface="Calibri" pitchFamily="34" charset="-120"/>
                        </a:rPr>
                        <a:t>5-fold time-series cross-validation inside 2021 to 2024; never learns from later days.</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DEBDC"/>
                    </a:solidFill>
                  </a:tcPr>
                </a:tc>
              </a:tr>
              <a:tr h="429768">
                <a:tc>
                  <a:txBody>
                    <a:bodyPr/>
                    <a:lstStyle/>
                    <a:p>
                      <a:pPr indent="0" marL="0">
                        <a:buNone/>
                      </a:pPr>
                      <a:r>
                        <a:rPr lang="en-US" sz="1400" b="1" dirty="0">
                          <a:solidFill>
                            <a:srgbClr val="2E1406"/>
                          </a:solidFill>
                          <a:latin typeface="Calibri" pitchFamily="34" charset="0"/>
                          <a:ea typeface="Calibri" pitchFamily="34" charset="-122"/>
                          <a:cs typeface="Calibri" pitchFamily="34" charset="-120"/>
                        </a:rPr>
                        <a:t>Weather estimates</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BF4EC"/>
                    </a:solidFill>
                  </a:tcPr>
                </a:tc>
                <a:tc>
                  <a:txBody>
                    <a:bodyPr/>
                    <a:lstStyle/>
                    <a:p>
                      <a:pPr indent="0" marL="0">
                        <a:buNone/>
                      </a:pPr>
                      <a:r>
                        <a:rPr lang="en-US" sz="1400" dirty="0">
                          <a:solidFill>
                            <a:srgbClr val="2E1406"/>
                          </a:solidFill>
                          <a:latin typeface="Calibri" pitchFamily="34" charset="0"/>
                          <a:ea typeface="Calibri" pitchFamily="34" charset="-122"/>
                          <a:cs typeface="Calibri" pitchFamily="34" charset="-120"/>
                        </a:rPr>
                        <a:t>ERA5 reanalysis via Open-Meteo: a grid of about 25 km, not station readings.</a:t>
                      </a:r>
                      <a:endParaRPr lang="en-US" sz="1400" dirty="0">
                        <a:latin typeface="Calibri" charset="0"/>
                        <a:ea typeface="Calibri" charset="0"/>
                        <a:cs typeface="Calibri" charset="0"/>
                      </a:endParaRPr>
                    </a:p>
                  </a:txBody>
                  <a:tcPr marL="54864" marR="54864" marT="54864" marB="54864" anchor="ctr">
                    <a:lnL w="6350" cap="flat" cmpd="sng" algn="ctr">
                      <a:solidFill>
                        <a:srgbClr val="E2CDBB"/>
                      </a:solidFill>
                      <a:prstDash val="solid"/>
                      <a:round/>
                      <a:headEnd type="none" w="med" len="med"/>
                      <a:tailEnd type="none" w="med" len="med"/>
                    </a:lnL>
                    <a:lnR w="6350" cap="flat" cmpd="sng" algn="ctr">
                      <a:solidFill>
                        <a:srgbClr val="E2CDBB"/>
                      </a:solidFill>
                      <a:prstDash val="solid"/>
                      <a:round/>
                      <a:headEnd type="none" w="med" len="med"/>
                      <a:tailEnd type="none" w="med" len="med"/>
                    </a:lnR>
                    <a:lnT w="6350" cap="flat" cmpd="sng" algn="ctr">
                      <a:solidFill>
                        <a:srgbClr val="E2CDBB"/>
                      </a:solidFill>
                      <a:prstDash val="solid"/>
                      <a:round/>
                      <a:headEnd type="none" w="med" len="med"/>
                      <a:tailEnd type="none" w="med" len="med"/>
                    </a:lnT>
                    <a:lnB w="6350" cap="flat" cmpd="sng" algn="ctr">
                      <a:solidFill>
                        <a:srgbClr val="E2CDBB"/>
                      </a:solidFill>
                      <a:prstDash val="solid"/>
                      <a:round/>
                      <a:headEnd type="none" w="med" len="med"/>
                      <a:tailEnd type="none" w="med" len="med"/>
                    </a:lnB>
                    <a:solidFill>
                      <a:srgbClr val="FBF4EC"/>
                    </a:solidFill>
                  </a:tcPr>
                </a:tc>
              </a:tr>
            </a:tbl>
          </a:graphicData>
        </a:graphic>
      </p:graphicFrame>
      <p:sp>
        <p:nvSpPr>
          <p:cNvPr id="25" name="Slide Number Placeholder 0"/>
          <p:cNvSpPr>
            <a:spLocks noGrp="1"/>
          </p:cNvSpPr>
          <p:nvPr>
            <p:ph type="sldNum" sz="quarter" idx="4294967295"/>
          </p:nvPr>
        </p:nvSpPr>
        <p:spPr>
          <a:xfrm>
            <a:off x="10972800" y="6053328"/>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F5C51"/>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HeatCast NCR">
  <a:themeElements>
    <a:clrScheme name="HeatCast NCR">
      <a:dk1>
        <a:srgbClr val="2E1406"/>
      </a:dk1>
      <a:lt1>
        <a:srgbClr val="FFFFFF"/>
      </a:lt1>
      <a:dk2>
        <a:srgbClr val="A63A0C"/>
      </a:dk2>
      <a:lt2>
        <a:srgbClr val="FBF4EC"/>
      </a:lt2>
      <a:accent1>
        <a:srgbClr val="A63A0C"/>
      </a:accent1>
      <a:accent2>
        <a:srgbClr val="F28C28"/>
      </a:accent2>
      <a:accent3>
        <a:srgbClr val="F2C14E"/>
      </a:accent3>
      <a:accent4>
        <a:srgbClr val="C0392B"/>
      </a:accent4>
      <a:accent5>
        <a:srgbClr val="6F5C51"/>
      </a:accent5>
      <a:accent6>
        <a:srgbClr val="4C9BE8"/>
      </a:accent6>
      <a:hlink>
        <a:srgbClr val="A63A0C"/>
      </a:hlink>
      <a:folHlink>
        <a:srgbClr val="6F5C51"/>
      </a:folHlink>
    </a:clrScheme>
    <a:fontScheme name="HeatCast NC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HeatCast NCR</dc:title>
  <dc:subject>PptxGenJS Presentation</dc:subject>
  <dc:creator>Edrian Tala, Harry Verdeflor, Marc Lawrence David</dc:creator>
  <cp:lastModifiedBy>Edrian Tala, Harry Verdeflor, Marc Lawrence David</cp:lastModifiedBy>
  <cp:revision>1</cp:revision>
  <dcterms:created xsi:type="dcterms:W3CDTF">2026-10-14T16:07:03Z</dcterms:created>
  <dcterms:modified xsi:type="dcterms:W3CDTF">2026-10-14T16:07:03Z</dcterms:modified>
</cp:coreProperties>
</file>