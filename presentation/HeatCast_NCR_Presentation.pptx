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6f7195a-d497-9a38-7751-ad456cf6d727}">
          <p14:sldIdLst>
            <p14:sldId id="256"/>
            <p14:sldId id="257"/>
            <p14:sldId id="258"/>
            <p14:sldId id="259"/>
          </p14:sldIdLst>
        </p14:section>
        <p14:section name="Data" id="{827fd5d6-e4a6-9c20-0b31-12830a74f306}">
          <p14:sldIdLst>
            <p14:sldId id="260"/>
          </p14:sldIdLst>
        </p14:section>
        <p14:section name="Method" id="{fcba3789-e958-2332-910e-c7fc67b264ac}">
          <p14:sldIdLst>
            <p14:sldId id="261"/>
            <p14:sldId id="262"/>
            <p14:sldId id="263"/>
          </p14:sldIdLst>
        </p14:section>
        <p14:section name="Results" id="{8b6e1c08-744a-6e92-b408-646ba337c0d1}">
          <p14:sldIdLst>
            <p14:sldId id="264"/>
            <p14:sldId id="265"/>
            <p14:sldId id="266"/>
          </p14:sldIdLst>
        </p14:section>
        <p14:section name="Conclusion" id="{4cc20098-2c67-fe6b-0bcc-8021c61e28b2}">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1406"/>
                </a:solidFill>
                <a:latin typeface="+mn-lt"/>
              </a:defRPr>
            </a:pPr>
            <a:r>
              <a:rPr sz="1400" b="0" i="0" u="none" strike="noStrike">
                <a:solidFill>
                  <a:srgbClr val="2E1406"/>
                </a:solidFill>
                <a:latin typeface="+mn-lt"/>
              </a:rPr>
              <a:t>Share of each level by month (2021 to 2024)</a:t>
            </a:r>
          </a:p>
        </c:rich>
      </c:tx>
      <c:layout/>
      <c:overlay val="0"/>
    </c:title>
    <c:autoTitleDeleted val="0"/>
    <c:plotArea>
      <c:layout/>
      <c:barChart>
        <c:barDir val="col"/>
        <c:grouping val="percentStacked"/>
        <c:varyColors val="0"/>
        <c:ser>
          <c:idx val="0"/>
          <c:order val="0"/>
          <c:tx>
            <c:strRef>
              <c:f>Sheet1!$B$1</c:f>
              <c:strCache>
                <c:ptCount val="1"/>
                <c:pt idx="0">
                  <c:v>Not Hazardous</c:v>
                </c:pt>
              </c:strCache>
            </c:strRef>
          </c:tx>
          <c:spPr>
            <a:solidFill>
              <a:srgbClr val="4C9BE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0.5</c:v>
                </c:pt>
                <c:pt idx="1">
                  <c:v>0.6</c:v>
                </c:pt>
                <c:pt idx="2">
                  <c:v>0</c:v>
                </c:pt>
                <c:pt idx="3">
                  <c:v>0</c:v>
                </c:pt>
                <c:pt idx="4">
                  <c:v>0</c:v>
                </c:pt>
                <c:pt idx="5">
                  <c:v>0</c:v>
                </c:pt>
                <c:pt idx="6">
                  <c:v>0</c:v>
                </c:pt>
                <c:pt idx="7">
                  <c:v>0</c:v>
                </c:pt>
                <c:pt idx="8">
                  <c:v>0</c:v>
                </c:pt>
                <c:pt idx="9">
                  <c:v>0</c:v>
                </c:pt>
                <c:pt idx="10">
                  <c:v>0</c:v>
                </c:pt>
                <c:pt idx="11">
                  <c:v>1</c:v>
                </c:pt>
              </c:numCache>
            </c:numRef>
          </c:val>
        </c:ser>
        <c:ser>
          <c:idx val="1"/>
          <c:order val="1"/>
          <c:tx>
            <c:strRef>
              <c:f>Sheet1!$C$1</c:f>
              <c:strCache>
                <c:ptCount val="1"/>
                <c:pt idx="0">
                  <c:v>Caution</c:v>
                </c:pt>
              </c:strCache>
            </c:strRef>
          </c:tx>
          <c:spPr>
            <a:solidFill>
              <a:srgbClr val="F2C14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62</c:v>
                </c:pt>
                <c:pt idx="1">
                  <c:v>29.3</c:v>
                </c:pt>
                <c:pt idx="2">
                  <c:v>13.5</c:v>
                </c:pt>
                <c:pt idx="3">
                  <c:v>1.9</c:v>
                </c:pt>
                <c:pt idx="4">
                  <c:v>0</c:v>
                </c:pt>
                <c:pt idx="5">
                  <c:v>0</c:v>
                </c:pt>
                <c:pt idx="6">
                  <c:v>6.3</c:v>
                </c:pt>
                <c:pt idx="7">
                  <c:v>2.8</c:v>
                </c:pt>
                <c:pt idx="8">
                  <c:v>6.3</c:v>
                </c:pt>
                <c:pt idx="9">
                  <c:v>3.2</c:v>
                </c:pt>
                <c:pt idx="10">
                  <c:v>2.2</c:v>
                </c:pt>
                <c:pt idx="11">
                  <c:v>34.6</c:v>
                </c:pt>
              </c:numCache>
            </c:numRef>
          </c:val>
        </c:ser>
        <c:ser>
          <c:idx val="2"/>
          <c:order val="2"/>
          <c:tx>
            <c:strRef>
              <c:f>Sheet1!$D$1</c:f>
              <c:strCache>
                <c:ptCount val="1"/>
                <c:pt idx="0">
                  <c:v>Extreme Caution</c:v>
                </c:pt>
              </c:strCache>
            </c:strRef>
          </c:tx>
          <c:spPr>
            <a:solidFill>
              <a:srgbClr val="F28C2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37.5</c:v>
                </c:pt>
                <c:pt idx="1">
                  <c:v>70.1</c:v>
                </c:pt>
                <c:pt idx="2">
                  <c:v>83.6</c:v>
                </c:pt>
                <c:pt idx="3">
                  <c:v>86</c:v>
                </c:pt>
                <c:pt idx="4">
                  <c:v>68.9</c:v>
                </c:pt>
                <c:pt idx="5">
                  <c:v>78.1</c:v>
                </c:pt>
                <c:pt idx="6">
                  <c:v>84.8</c:v>
                </c:pt>
                <c:pt idx="7">
                  <c:v>89.9</c:v>
                </c:pt>
                <c:pt idx="8">
                  <c:v>86.9</c:v>
                </c:pt>
                <c:pt idx="9">
                  <c:v>96.1</c:v>
                </c:pt>
                <c:pt idx="10">
                  <c:v>95.8</c:v>
                </c:pt>
                <c:pt idx="11">
                  <c:v>64.4</c:v>
                </c:pt>
              </c:numCache>
            </c:numRef>
          </c:val>
        </c:ser>
        <c:ser>
          <c:idx val="3"/>
          <c:order val="3"/>
          <c:tx>
            <c:strRef>
              <c:f>Sheet1!$E$1</c:f>
              <c:strCache>
                <c:ptCount val="1"/>
                <c:pt idx="0">
                  <c:v>Danger</c:v>
                </c:pt>
              </c:strCache>
            </c:strRef>
          </c:tx>
          <c:spPr>
            <a:solidFill>
              <a:srgbClr val="C039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Sheet1!$E$2:$E$13</c:f>
              <c:numCache>
                <c:formatCode>General</c:formatCode>
                <c:ptCount val="12"/>
                <c:pt idx="0">
                  <c:v>0</c:v>
                </c:pt>
                <c:pt idx="1">
                  <c:v>0</c:v>
                </c:pt>
                <c:pt idx="2">
                  <c:v>2.9</c:v>
                </c:pt>
                <c:pt idx="3">
                  <c:v>12.1</c:v>
                </c:pt>
                <c:pt idx="4">
                  <c:v>31.1</c:v>
                </c:pt>
                <c:pt idx="5">
                  <c:v>21.9</c:v>
                </c:pt>
                <c:pt idx="6">
                  <c:v>8.9</c:v>
                </c:pt>
                <c:pt idx="7">
                  <c:v>7.3</c:v>
                </c:pt>
                <c:pt idx="8">
                  <c:v>6.8</c:v>
                </c:pt>
                <c:pt idx="9">
                  <c:v>0.8</c:v>
                </c:pt>
                <c:pt idx="10">
                  <c:v>2</c:v>
                </c:pt>
                <c:pt idx="1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5C5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9D9C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5C5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E140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E1406"/>
                </a:solidFill>
                <a:latin typeface="+mn-lt"/>
              </a:defRPr>
            </a:pPr>
            <a:r>
              <a:rPr sz="1500" b="0" i="0" u="none" strike="noStrike">
                <a:solidFill>
                  <a:srgbClr val="2E1406"/>
                </a:solidFill>
                <a:latin typeface="+mn-lt"/>
              </a:rPr>
              <a:t>Score (0 to 1, higher is better)</a:t>
            </a:r>
          </a:p>
        </c:rich>
      </c:tx>
      <c:layout/>
      <c:overlay val="0"/>
    </c:title>
    <c:autoTitleDeleted val="0"/>
    <c:plotArea>
      <c:layout/>
      <c:barChart>
        <c:barDir val="bar"/>
        <c:grouping val="clustered"/>
        <c:varyColors val="0"/>
        <c:ser>
          <c:idx val="0"/>
          <c:order val="0"/>
          <c:tx>
            <c:strRef>
              <c:f>Sheet1!$B$1</c:f>
              <c:strCache>
                <c:ptCount val="1"/>
                <c:pt idx="0">
                  <c:v>Score</c:v>
                </c:pt>
              </c:strCache>
            </c:strRef>
          </c:tx>
          <c:spPr>
            <a:solidFill>
              <a:srgbClr val="E9A26B"/>
            </a:solidFill>
            <a:effectLst/>
          </c:spPr>
          <c:invertIfNegative val="0"/>
          <c:dLbls>
            <c:numFmt formatCode="0.00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Sheet1!$B$2:$B$5</c:f>
              <c:numCache>
                <c:formatCode>General</c:formatCode>
                <c:ptCount val="4"/>
                <c:pt idx="0">
                  <c:v>0.679</c:v>
                </c:pt>
                <c:pt idx="1">
                  <c:v>0.632</c:v>
                </c:pt>
                <c:pt idx="2">
                  <c:v>0.653</c:v>
                </c:pt>
                <c:pt idx="3">
                  <c:v>0.643</c:v>
                </c:pt>
              </c:numCache>
            </c:numRef>
          </c:val>
        </c:ser>
        <c:dLbls>
          <c:numFmt formatCode="0.00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E1406"/>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E1406"/>
                </a:solidFill>
                <a:latin typeface="+mn-lt"/>
              </a:defRPr>
            </a:pPr>
            <a:r>
              <a:rPr sz="1500" b="0" i="0" u="none" strike="noStrike">
                <a:solidFill>
                  <a:srgbClr val="2E1406"/>
                </a:solidFill>
                <a:latin typeface="+mn-lt"/>
              </a:rPr>
              <a:t>Danger days caught</a:t>
            </a:r>
          </a:p>
        </c:rich>
      </c:tx>
      <c:layout/>
      <c:overlay val="0"/>
    </c:title>
    <c:autoTitleDeleted val="0"/>
    <c:plotArea>
      <c:layout/>
      <c:barChart>
        <c:barDir val="bar"/>
        <c:grouping val="clustered"/>
        <c:varyColors val="0"/>
        <c:ser>
          <c:idx val="0"/>
          <c:order val="0"/>
          <c:tx>
            <c:strRef>
              <c:f>Sheet1!$B$1</c:f>
              <c:strCache>
                <c:ptCount val="1"/>
                <c:pt idx="0">
                  <c:v>Danger days caught</c:v>
                </c:pt>
              </c:strCache>
            </c:strRef>
          </c:tx>
          <c:spPr>
            <a:solidFill>
              <a:srgbClr val="A63A0C"/>
            </a:solidFill>
            <a:effectLst/>
          </c:spPr>
          <c:invertIfNegative val="0"/>
          <c:dLbls>
            <c:numFmt formatCode="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Sheet1!$B$2:$B$5</c:f>
              <c:numCache>
                <c:formatCode>General</c:formatCode>
                <c:ptCount val="4"/>
                <c:pt idx="0">
                  <c:v>0.518</c:v>
                </c:pt>
                <c:pt idx="1">
                  <c:v>0.276</c:v>
                </c:pt>
                <c:pt idx="2">
                  <c:v>0.672</c:v>
                </c:pt>
                <c:pt idx="3">
                  <c:v>0.67</c:v>
                </c:pt>
              </c:numCache>
            </c:numRef>
          </c:val>
        </c:ser>
        <c:dLbls>
          <c:numFmt formatCode="0%" sourceLinked="0"/>
          <c:txPr>
            <a:bodyPr/>
            <a:lstStyle/>
            <a:p>
              <a:pPr>
                <a:defRPr b="0" i="0" strike="noStrike" sz="1300" u="none">
                  <a:solidFill>
                    <a:srgbClr val="2E140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E1406"/>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(20 seconds)
Good morning. We are Edrian, Harry and Marc, and this is HeatCast NCR. Our question: can machine learning predict tomorrow's heat level in Metro Manila better than just copying today's level? Before we answer, a quick question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(30 seconds)
Show of hands. Today Manila's heat index reached 44 degrees, which is Danger. Tomorrow will be: A, hotter; B, the same level; C, cooler. Who says A? B? C? (Count quickly.) Let's see how often the same level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(20 seconds)
In 2025, for 82 out of every 100 city-days, tomorrow's level was the same as today's. So the simplest forecast, copy today, is already right most of the time. We call it the copy-today rule, and the real question of our project is whether machine learning can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(50 seconds)
Thanks, Edrian. The heat index is how hot it feels when you combine temperature and humidity. PAGASA groups it into five levels; Danger starts at 42 degrees. Schools, employers of outdoor workers and city offices need to know a day ahead whether tomorrow will reach Danger. Our data covers the 16 cities of Metro Manila from 2021 to 2025: 29,168 rows, one per city per day. Each row has five weather readings about today, and the answer is tomorrow's level in the same city. The weather comes from Open-Meteo's hourly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(1 minute)
Before building models, we explored the data, using only the training years. Three findings changed our decisions. One: Danger is rare, 8% of city-days, while 78.5% are Extreme Caution. So a lazy model that always says Extreme Caution is already 78% correct. That is why we do not judge the models by percent correct. Two, in the chart: the red part is Danger. It peaks from April to June, nearly one in three May days, and it never happens from December to February. So we split the data by time, the way a real forecast works. Three: cities are different. Malabon, Navotas and Valenzuela have Danger on 17% of days, Muntinlupa and San Juan on only 2%. So each city keeps its own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(1 minute)
To compare the models fairly, think of an exam. All three models studied the same days, 2021 to 2024, and took the same final exam, 2025, which we opened only once at the very end. While choosing settings, each model took five practice quizzes: it studies earlier days and is quizzed on the days right after, never the other way around, because we cannot use the future to predict the past. The score counts Caution, Extreme Caution and Danger equally, from 0 to 1. Our rule, fixed before the final exam: first, a model must catch more Danger days than the copy-today rule; then the best score wins. Technically this is a chronological split with time-series cross-validation, and the score is macro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(40 seconds)
Every forecast makes mistakes, so we had to decide which mistake hurts more. Vote with your hands: A, missing a real Danger day, so nobody prepares; or B, a false alarm, activities are moved for nothing. Who says A? B? We agreed A is worse: a missed Danger day can hurt people, while a false alarm costs a change of plans. That is why our rule asks a model to catch more Danger days first. Keep this in mind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EDRIAN, MARC (1 minute 15 (about 25 seconds each))
HARRY: Here are the practice-quiz results. Top chart: the score. Bottom chart: the share of Danger days each one caught. Look at the copy-today rule at the top: its score, 0.679, is the highest. None of our models beat it on score. My model, Logistic Regression, draws straight dividing lines between levels. It was careful, but it caught only 28% of Danger days, even fewer than copying today.
EDRIAN: Random Forest is 500 decision trees that vote. We told it that Danger days matter more, and it caught 67% of them, more than copy-today, with the best score of our three. By our rule, it was selected.
MARC: Gradient Boosting builds trees one after another, each fixing the last one's mistakes. It was almost tied with Random Forest, 0.643 against 0.653, so either would have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(20 seconds)
Now the final exam, 2025, which we opened only once. There were 347 Danger days across the 16 cities. How many did our model catch: about 100, about 200 or about 300? Hands up for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(50 seconds)
The answer is C: it caught 293 of the 347 Danger days, 84%. Copying today caught only 207, 60%. The price: when it warned Danger, it was right only 36% of the time, about two false alarms for every real Danger day. And its overall score, 0.61, is below copy-today's 0.68. Remember our vote: we said missing a Danger day is worse than a false alarm. So it is not a better all-round forecaster, but it is a good early warning. Edrian will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(1 minute 45)
BEFORE THE TALK: open heatcast-ncr.streamlit.app; the first load can take about a minute. If the internet fails, show this screenshot, or run it locally with: streamlit run app/streamlit_app.py.
Let's try it. Can someone pick a city? (Choose it at the top; the city lights up blue on the map.) Let's say today was very hot there: heat index 45.5, lowest temperature 29, rain 0, pressure 1008, sunshine 7000. Click the button. It predicts the level for tomorrow with the probability of each level, and the city takes that level's colour on the map. It also reminds users it is a decision aid, not a PAGASA advisory. Now a mistake on purpose: rain of minus 5. The app refuses it and shows the accepted range. And if we clear the form and click, it names every missing value instead of guessing. This is the same saved model that took the final exam, and the input checks are covered by 51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(50 seconds)
So, our answer: no, none of our models beat simply copying today's level on overall score. Tomorrow's heat is mostly today's heat. But machine learning adds something specific: when we told the Random Forest that Danger days matter more, it caught 84% of them in 2025, so we deployed it as an early warning. Its limits: the weather values are estimates, not station readings, and we used only five years. Next we would add the month and the previous days, a weather forecast for tomorrow, and more years.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(Q&amp;A)
Thank you. We are happy to take questions. The next slide is a backup with plain meanings of the technical words, in case a question uses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IF ASKED (only during Q&amp;A)
Use this slide only if a question needs it. Likely questions: Why not percent correct? Because Danger is rare; always saying Extreme Caution is already 78% correct. Why split by time? Because we forecast the future; a random split would let a model peek at the same days. Why Random Forest over Gradient Boosting? Our rule picked the best score among the models that catch more Danger days; the two were almost tied. Why did no model beat copy-today? Tomorrow's level is the same as today's on most days, and the models only see today's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2222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2E1406"/>
        </a:solidFill>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9525">
            <a:solidFill>
              <a:srgbClr val="F6C9A0"/>
            </a:solidFill>
            <a:prstDash val="solid"/>
          </a:ln>
        </p:spPr>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4EC"/>
        </a:solidFill>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9525">
            <a:solidFill>
              <a:srgbClr val="2E1406"/>
            </a:solidFill>
            <a:prstDash val="solid"/>
          </a:ln>
        </p:spPr>
      </p:sp>
      <p:sp>
        <p:nvSpPr>
          <p:cNvPr id="3" name="Text 1"/>
          <p:cNvSpPr/>
          <p:nvPr>
            <p:ph idx="101" type="title" hasCustomPrompt="1"/>
          </p:nvPr>
        </p:nvSpPr>
        <p:spPr>
          <a:xfrm>
            <a:off x="868680" y="640080"/>
            <a:ext cx="10469880" cy="685800"/>
          </a:xfrm>
          <a:prstGeom prst="rect">
            <a:avLst/>
          </a:prstGeom>
          <a:noFill/>
          <a:ln/>
        </p:spPr>
        <p:txBody>
          <a:bodyPr wrap="square" rtlCol="0"/>
          <a:lstStyle>
            <a:lvl1pPr algn="ctr" indent="0" marL="0">
              <a:buNone/>
              <a:defRPr lang="en-US" sz="3400" spc="500" kern="0" dirty="0">
                <a:solidFill>
                  <a:schemeClr val="tx1"/>
                </a:solidFill>
                <a:latin typeface="Cambria" pitchFamily="34" charset="0"/>
                <a:ea typeface="Cambria" pitchFamily="34" charset="-122"/>
                <a:cs typeface="Cambria" pitchFamily="34" charset="-120"/>
              </a:defRPr>
            </a:lvl1pPr>
          </a:lstStyle>
          <a:p>
            <a:pPr algn="ctr" indent="0" marL="0">
              <a:buNone/>
            </a:pPr>
            <a:endParaRPr lang="en-US" sz="3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uthors"/>
          <p:cNvSpPr txBox="1"/>
          <p:nvPr/>
        </p:nvSpPr>
        <p:spPr>
          <a:xfrm>
            <a:off x="2804008" y="960120"/>
            <a:ext cx="658368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Edrian Tala   ·   Harry Verdeflor   ·   Marc Lawrence David</a:t>
            </a:r>
            <a:endParaRPr lang="en-US" sz="1500" dirty="0"/>
          </a:p>
        </p:txBody>
      </p:sp>
      <p:sp>
        <p:nvSpPr>
          <p:cNvPr id="3" name="Title"/>
          <p:cNvSpPr txBox="1"/>
          <p:nvPr/>
        </p:nvSpPr>
        <p:spPr>
          <a:xfrm>
            <a:off x="822960" y="224028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HEATCAST NCR</a:t>
            </a:r>
            <a:endParaRPr lang="en-US" sz="6600" dirty="0"/>
          </a:p>
        </p:txBody>
      </p:sp>
      <p:sp>
        <p:nvSpPr>
          <p:cNvPr id="4" name="Question"/>
          <p:cNvSpPr txBox="1"/>
          <p:nvPr/>
        </p:nvSpPr>
        <p:spPr>
          <a:xfrm>
            <a:off x="1463040" y="3429000"/>
            <a:ext cx="9265615" cy="822960"/>
          </a:xfrm>
          <a:prstGeom prst="rect">
            <a:avLst/>
          </a:prstGeom>
          <a:noFill/>
          <a:ln/>
        </p:spPr>
        <p:txBody>
          <a:bodyPr wrap="square" rtlCol="0" anchor="t"/>
          <a:lstStyle/>
          <a:p>
            <a:pPr algn="ctr" indent="0" marL="0">
              <a:buNone/>
            </a:pPr>
            <a:r>
              <a:rPr lang="en-US" sz="2400" i="1" dirty="0">
                <a:solidFill>
                  <a:srgbClr val="A63A0C"/>
                </a:solidFill>
                <a:latin typeface="Cambria" pitchFamily="34" charset="0"/>
                <a:ea typeface="Cambria" pitchFamily="34" charset="-122"/>
                <a:cs typeface="Cambria" pitchFamily="34" charset="-120"/>
              </a:rPr>
              <a:t>Can machine learning predict tomorrow's heat level in Metro Manila better than just copying today's?</a:t>
            </a:r>
            <a:endParaRPr lang="en-US" sz="2400" dirty="0"/>
          </a:p>
        </p:txBody>
      </p:sp>
      <p:sp>
        <p:nvSpPr>
          <p:cNvPr id="5" name="Course"/>
          <p:cNvSpPr txBox="1"/>
          <p:nvPr/>
        </p:nvSpPr>
        <p:spPr>
          <a:xfrm>
            <a:off x="1371600" y="5577840"/>
            <a:ext cx="9448495" cy="365760"/>
          </a:xfrm>
          <a:prstGeom prst="rect">
            <a:avLst/>
          </a:prstGeom>
          <a:noFill/>
          <a:ln/>
        </p:spPr>
        <p:txBody>
          <a:bodyPr wrap="square" rtlCol="0" anchor="ctr"/>
          <a:lstStyle/>
          <a:p>
            <a:pPr algn="ctr" indent="0" marL="0">
              <a:buNone/>
            </a:pPr>
            <a:r>
              <a:rPr lang="en-US" sz="1400" dirty="0">
                <a:solidFill>
                  <a:schemeClr val="tx1"/>
                </a:solidFill>
              </a:rPr>
              <a:t>CCMACLRL Introduction to Machine Learning  ·  COM241ML  ·  Dr. Armida P. Salazar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QUICK QUESTION</a:t>
            </a:r>
            <a:endParaRPr lang="en-US" sz="3400" dirty="0"/>
          </a:p>
        </p:txBody>
      </p:sp>
      <p:sp>
        <p:nvSpPr>
          <p:cNvPr id="3" name="Subtitle pill"/>
          <p:cNvSpPr txBox="1"/>
          <p:nvPr/>
        </p:nvSpPr>
        <p:spPr>
          <a:xfrm>
            <a:off x="4632808" y="1417320"/>
            <a:ext cx="292608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Raise your hand</a:t>
            </a:r>
            <a:endParaRPr lang="en-US" sz="1500" dirty="0"/>
          </a:p>
        </p:txBody>
      </p:sp>
      <p:sp>
        <p:nvSpPr>
          <p:cNvPr id="4" name="Question text"/>
          <p:cNvSpPr txBox="1"/>
          <p:nvPr/>
        </p:nvSpPr>
        <p:spPr>
          <a:xfrm>
            <a:off x="1280160" y="2148840"/>
            <a:ext cx="9631375" cy="914400"/>
          </a:xfrm>
          <a:prstGeom prst="rect">
            <a:avLst/>
          </a:prstGeom>
          <a:noFill/>
          <a:ln/>
        </p:spPr>
        <p:txBody>
          <a:bodyPr wrap="square" rtlCol="0" anchor="ctr"/>
          <a:lstStyle/>
          <a:p>
            <a:pPr algn="ctr" indent="0" marL="0">
              <a:buNone/>
            </a:pPr>
            <a:r>
              <a:rPr lang="en-US" sz="2800" dirty="0">
                <a:solidFill>
                  <a:srgbClr val="2E1406"/>
                </a:solidFill>
                <a:latin typeface="Cambria" pitchFamily="34" charset="0"/>
                <a:ea typeface="Cambria" pitchFamily="34" charset="-122"/>
                <a:cs typeface="Cambria" pitchFamily="34" charset="-120"/>
              </a:rPr>
              <a:t>Today, Manila's heat index reached 44 °C, which is Danger. What will tomorrow's level be?</a:t>
            </a:r>
            <a:endParaRPr lang="en-US" sz="2800" dirty="0"/>
          </a:p>
        </p:txBody>
      </p:sp>
      <p:sp>
        <p:nvSpPr>
          <p:cNvPr id="5" name="Option A"/>
          <p:cNvSpPr/>
          <p:nvPr/>
        </p:nvSpPr>
        <p:spPr>
          <a:xfrm>
            <a:off x="868680" y="3429000"/>
            <a:ext cx="3307080" cy="2331720"/>
          </a:xfrm>
          <a:prstGeom prst="rect">
            <a:avLst/>
          </a:prstGeom>
          <a:solidFill>
            <a:srgbClr val="FDEBDC"/>
          </a:solidFill>
          <a:ln/>
        </p:spPr>
      </p:sp>
      <p:sp>
        <p:nvSpPr>
          <p:cNvPr id="6" name="Option dot A"/>
          <p:cNvSpPr/>
          <p:nvPr/>
        </p:nvSpPr>
        <p:spPr>
          <a:xfrm>
            <a:off x="1143000" y="3703320"/>
            <a:ext cx="640080" cy="640080"/>
          </a:xfrm>
          <a:prstGeom prst="ellipse">
            <a:avLst/>
          </a:prstGeom>
          <a:solidFill>
            <a:srgbClr val="A63A0C"/>
          </a:solidFill>
          <a:ln/>
        </p:spPr>
      </p:sp>
      <p:sp>
        <p:nvSpPr>
          <p:cNvPr id="7" name="Text 5"/>
          <p:cNvSpPr txBox="1"/>
          <p:nvPr/>
        </p:nvSpPr>
        <p:spPr>
          <a:xfrm>
            <a:off x="11430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A</a:t>
            </a:r>
            <a:endParaRPr lang="en-US" sz="2600" dirty="0"/>
          </a:p>
        </p:txBody>
      </p:sp>
      <p:sp>
        <p:nvSpPr>
          <p:cNvPr id="8" name="Option text A"/>
          <p:cNvSpPr txBox="1"/>
          <p:nvPr/>
        </p:nvSpPr>
        <p:spPr>
          <a:xfrm>
            <a:off x="1143000" y="4480560"/>
            <a:ext cx="2758440" cy="1097280"/>
          </a:xfrm>
          <a:prstGeom prst="rect">
            <a:avLst/>
          </a:prstGeom>
          <a:noFill/>
          <a:ln/>
        </p:spPr>
        <p:txBody>
          <a:bodyPr wrap="square" lIns="0" tIns="0" rIns="0" bIns="0" rtlCol="0" anchor="t"/>
          <a:lstStyle/>
          <a:p>
            <a:pPr indent="0" marL="0">
              <a:buNone/>
            </a:pPr>
            <a:r>
              <a:rPr lang="en-US" sz="2400" dirty="0">
                <a:solidFill>
                  <a:srgbClr val="2E1406"/>
                </a:solidFill>
              </a:rPr>
              <a:t>Hotter: Extreme Danger</a:t>
            </a:r>
            <a:endParaRPr lang="en-US" sz="2400" dirty="0"/>
          </a:p>
        </p:txBody>
      </p:sp>
      <p:sp>
        <p:nvSpPr>
          <p:cNvPr id="9" name="Option B"/>
          <p:cNvSpPr/>
          <p:nvPr/>
        </p:nvSpPr>
        <p:spPr>
          <a:xfrm>
            <a:off x="4450080" y="3429000"/>
            <a:ext cx="3307080" cy="2331720"/>
          </a:xfrm>
          <a:prstGeom prst="rect">
            <a:avLst/>
          </a:prstGeom>
          <a:solidFill>
            <a:srgbClr val="FDEBDC"/>
          </a:solidFill>
          <a:ln/>
        </p:spPr>
      </p:sp>
      <p:sp>
        <p:nvSpPr>
          <p:cNvPr id="10" name="Option dot B"/>
          <p:cNvSpPr/>
          <p:nvPr/>
        </p:nvSpPr>
        <p:spPr>
          <a:xfrm>
            <a:off x="4724400" y="3703320"/>
            <a:ext cx="640080" cy="640080"/>
          </a:xfrm>
          <a:prstGeom prst="ellipse">
            <a:avLst/>
          </a:prstGeom>
          <a:solidFill>
            <a:srgbClr val="A63A0C"/>
          </a:solidFill>
          <a:ln/>
        </p:spPr>
      </p:sp>
      <p:sp>
        <p:nvSpPr>
          <p:cNvPr id="11" name="Text 9"/>
          <p:cNvSpPr txBox="1"/>
          <p:nvPr/>
        </p:nvSpPr>
        <p:spPr>
          <a:xfrm>
            <a:off x="47244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B</a:t>
            </a:r>
            <a:endParaRPr lang="en-US" sz="2600" dirty="0"/>
          </a:p>
        </p:txBody>
      </p:sp>
      <p:sp>
        <p:nvSpPr>
          <p:cNvPr id="12" name="Option text B"/>
          <p:cNvSpPr txBox="1"/>
          <p:nvPr/>
        </p:nvSpPr>
        <p:spPr>
          <a:xfrm>
            <a:off x="4724400" y="4480560"/>
            <a:ext cx="2758440" cy="1097280"/>
          </a:xfrm>
          <a:prstGeom prst="rect">
            <a:avLst/>
          </a:prstGeom>
          <a:noFill/>
          <a:ln/>
        </p:spPr>
        <p:txBody>
          <a:bodyPr wrap="square" lIns="0" tIns="0" rIns="0" bIns="0" rtlCol="0" anchor="t"/>
          <a:lstStyle/>
          <a:p>
            <a:pPr indent="0" marL="0">
              <a:buNone/>
            </a:pPr>
            <a:r>
              <a:rPr lang="en-US" sz="2400" dirty="0">
                <a:solidFill>
                  <a:srgbClr val="2E1406"/>
                </a:solidFill>
              </a:rPr>
              <a:t>The same level: Danger again</a:t>
            </a:r>
            <a:endParaRPr lang="en-US" sz="2400" dirty="0"/>
          </a:p>
        </p:txBody>
      </p:sp>
      <p:sp>
        <p:nvSpPr>
          <p:cNvPr id="13" name="Option C"/>
          <p:cNvSpPr/>
          <p:nvPr/>
        </p:nvSpPr>
        <p:spPr>
          <a:xfrm>
            <a:off x="8031480" y="3429000"/>
            <a:ext cx="3307080" cy="2331720"/>
          </a:xfrm>
          <a:prstGeom prst="rect">
            <a:avLst/>
          </a:prstGeom>
          <a:solidFill>
            <a:srgbClr val="FDEBDC"/>
          </a:solidFill>
          <a:ln/>
        </p:spPr>
      </p:sp>
      <p:sp>
        <p:nvSpPr>
          <p:cNvPr id="14" name="Option dot C"/>
          <p:cNvSpPr/>
          <p:nvPr/>
        </p:nvSpPr>
        <p:spPr>
          <a:xfrm>
            <a:off x="8305800" y="3703320"/>
            <a:ext cx="640080" cy="640080"/>
          </a:xfrm>
          <a:prstGeom prst="ellipse">
            <a:avLst/>
          </a:prstGeom>
          <a:solidFill>
            <a:srgbClr val="A63A0C"/>
          </a:solidFill>
          <a:ln/>
        </p:spPr>
      </p:sp>
      <p:sp>
        <p:nvSpPr>
          <p:cNvPr id="15" name="Text 13"/>
          <p:cNvSpPr txBox="1"/>
          <p:nvPr/>
        </p:nvSpPr>
        <p:spPr>
          <a:xfrm>
            <a:off x="83058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C</a:t>
            </a:r>
            <a:endParaRPr lang="en-US" sz="2600" dirty="0"/>
          </a:p>
        </p:txBody>
      </p:sp>
      <p:sp>
        <p:nvSpPr>
          <p:cNvPr id="16" name="Option text C"/>
          <p:cNvSpPr txBox="1"/>
          <p:nvPr/>
        </p:nvSpPr>
        <p:spPr>
          <a:xfrm>
            <a:off x="8305800" y="4480560"/>
            <a:ext cx="2758440" cy="1097280"/>
          </a:xfrm>
          <a:prstGeom prst="rect">
            <a:avLst/>
          </a:prstGeom>
          <a:noFill/>
          <a:ln/>
        </p:spPr>
        <p:txBody>
          <a:bodyPr wrap="square" lIns="0" tIns="0" rIns="0" bIns="0" rtlCol="0" anchor="t"/>
          <a:lstStyle/>
          <a:p>
            <a:pPr indent="0" marL="0">
              <a:buNone/>
            </a:pPr>
            <a:r>
              <a:rPr lang="en-US" sz="2400" dirty="0">
                <a:solidFill>
                  <a:srgbClr val="2E1406"/>
                </a:solidFill>
              </a:rPr>
              <a:t>Cooler: Extreme Caution or lower</a:t>
            </a:r>
            <a:endParaRPr lang="en-US" sz="2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ig number"/>
          <p:cNvSpPr txBox="1"/>
          <p:nvPr/>
        </p:nvSpPr>
        <p:spPr>
          <a:xfrm>
            <a:off x="822960" y="1234440"/>
            <a:ext cx="10545775" cy="1737360"/>
          </a:xfrm>
          <a:prstGeom prst="rect">
            <a:avLst/>
          </a:prstGeom>
          <a:noFill/>
          <a:ln/>
        </p:spPr>
        <p:txBody>
          <a:bodyPr wrap="square" rtlCol="0" anchor="ctr"/>
          <a:lstStyle/>
          <a:p>
            <a:pPr algn="ctr" indent="0" marL="0">
              <a:buNone/>
            </a:pPr>
            <a:r>
              <a:rPr lang="en-US" sz="13000" dirty="0">
                <a:solidFill>
                  <a:srgbClr val="F6C9A0"/>
                </a:solidFill>
                <a:latin typeface="Cambria" pitchFamily="34" charset="0"/>
                <a:ea typeface="Cambria" pitchFamily="34" charset="-122"/>
                <a:cs typeface="Cambria" pitchFamily="34" charset="-120"/>
              </a:rPr>
              <a:t>82%</a:t>
            </a:r>
            <a:endParaRPr lang="en-US" sz="13000" dirty="0"/>
          </a:p>
        </p:txBody>
      </p:sp>
      <p:sp>
        <p:nvSpPr>
          <p:cNvPr id="3" name="Statement"/>
          <p:cNvSpPr txBox="1"/>
          <p:nvPr/>
        </p:nvSpPr>
        <p:spPr>
          <a:xfrm>
            <a:off x="1280160" y="3017520"/>
            <a:ext cx="9631375" cy="822960"/>
          </a:xfrm>
          <a:prstGeom prst="rect">
            <a:avLst/>
          </a:prstGeom>
          <a:noFill/>
          <a:ln/>
        </p:spPr>
        <p:txBody>
          <a:bodyPr wrap="square" rtlCol="0" anchor="ctr"/>
          <a:lstStyle/>
          <a:p>
            <a:pPr algn="ctr" indent="0" marL="0">
              <a:buNone/>
            </a:pPr>
            <a:r>
              <a:rPr lang="en-US" sz="3000" dirty="0">
                <a:solidFill>
                  <a:srgbClr val="FBF4EC"/>
                </a:solidFill>
                <a:latin typeface="Cambria" pitchFamily="34" charset="0"/>
                <a:ea typeface="Cambria" pitchFamily="34" charset="-122"/>
                <a:cs typeface="Cambria" pitchFamily="34" charset="-120"/>
              </a:rPr>
              <a:t>of the time in 2025, tomorrow's heat level was the same as today's.</a:t>
            </a:r>
            <a:endParaRPr lang="en-US" sz="3000" dirty="0"/>
          </a:p>
        </p:txBody>
      </p:sp>
      <p:sp>
        <p:nvSpPr>
          <p:cNvPr id="4" name="So what"/>
          <p:cNvSpPr txBox="1"/>
          <p:nvPr/>
        </p:nvSpPr>
        <p:spPr>
          <a:xfrm>
            <a:off x="1828800" y="4160520"/>
            <a:ext cx="8534095" cy="914400"/>
          </a:xfrm>
          <a:prstGeom prst="rect">
            <a:avLst/>
          </a:prstGeom>
          <a:noFill/>
          <a:ln/>
        </p:spPr>
        <p:txBody>
          <a:bodyPr wrap="square" rtlCol="0" anchor="t"/>
          <a:lstStyle/>
          <a:p>
            <a:pPr algn="ctr" indent="0" marL="0">
              <a:buNone/>
            </a:pPr>
            <a:r>
              <a:rPr lang="en-US" sz="2000" dirty="0">
                <a:solidFill>
                  <a:srgbClr val="F6C9A0"/>
                </a:solidFill>
              </a:rPr>
              <a:t>So simply copying today's level is already a strong forecast. We call it the copy-today rule, and it is the rule our models had to beat.</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6C9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THE PROBLEM AND THE DATA</a:t>
            </a:r>
            <a:endParaRPr lang="en-US" sz="3400" dirty="0"/>
          </a:p>
        </p:txBody>
      </p:sp>
      <p:sp>
        <p:nvSpPr>
          <p:cNvPr id="3" name="Subtitle pill"/>
          <p:cNvSpPr txBox="1"/>
          <p:nvPr/>
        </p:nvSpPr>
        <p:spPr>
          <a:xfrm>
            <a:off x="3078328" y="1417320"/>
            <a:ext cx="603504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Who needs a one-day heat warning, and what we used</a:t>
            </a:r>
            <a:endParaRPr lang="en-US" sz="1500" dirty="0"/>
          </a:p>
        </p:txBody>
      </p:sp>
      <p:sp>
        <p:nvSpPr>
          <p:cNvPr id="4" name="Problem text"/>
          <p:cNvSpPr txBox="1"/>
          <p:nvPr/>
        </p:nvSpPr>
        <p:spPr>
          <a:xfrm>
            <a:off x="868680" y="2103120"/>
            <a:ext cx="4846320" cy="2514600"/>
          </a:xfrm>
          <a:prstGeom prst="rect">
            <a:avLst/>
          </a:prstGeom>
          <a:noFill/>
          <a:ln/>
        </p:spPr>
        <p:txBody>
          <a:bodyPr wrap="square" lIns="0" tIns="0" rIns="0" bIns="0" rtlCol="0" anchor="t"/>
          <a:lstStyle/>
          <a:p>
            <a:pPr indent="0" marL="0">
              <a:buNone/>
            </a:pPr>
            <a:r>
              <a:rPr lang="en-US" sz="2000" dirty="0">
                <a:solidFill>
                  <a:srgbClr val="A63A0C"/>
                </a:solidFill>
                <a:latin typeface="Cambria" pitchFamily="34" charset="0"/>
                <a:ea typeface="Cambria" pitchFamily="34" charset="-122"/>
                <a:cs typeface="Cambria" pitchFamily="34" charset="-120"/>
              </a:rPr>
              <a:t>Who needs it</a:t>
            </a:r>
            <a:endParaRPr lang="en-US" sz="2000" dirty="0"/>
          </a:p>
          <a:p>
            <a:pPr indent="0" marL="0">
              <a:spcAft>
                <a:spcPts val="1400"/>
              </a:spcAft>
              <a:buNone/>
            </a:pPr>
            <a:r>
              <a:rPr lang="en-US" sz="1700" dirty="0">
                <a:solidFill>
                  <a:srgbClr val="2E1406"/>
                </a:solidFill>
              </a:rPr>
              <a:t>Schools, employers of outdoor workers and city offices. A day ahead, they decide to move activities, prepare water and cooling, or warn residents.</a:t>
            </a:r>
            <a:endParaRPr lang="en-US" sz="2000" dirty="0"/>
          </a:p>
          <a:p>
            <a:pPr indent="0" marL="0">
              <a:buNone/>
            </a:pPr>
            <a:r>
              <a:rPr lang="en-US" sz="2000" dirty="0">
                <a:solidFill>
                  <a:srgbClr val="A63A0C"/>
                </a:solidFill>
                <a:latin typeface="Cambria" pitchFamily="34" charset="0"/>
                <a:ea typeface="Cambria" pitchFamily="34" charset="-122"/>
                <a:cs typeface="Cambria" pitchFamily="34" charset="-120"/>
              </a:rPr>
              <a:t>Our task</a:t>
            </a:r>
            <a:endParaRPr lang="en-US" sz="2000" dirty="0"/>
          </a:p>
          <a:p>
            <a:pPr indent="0" marL="0">
              <a:buNone/>
            </a:pPr>
            <a:r>
              <a:rPr lang="en-US" sz="1700" dirty="0">
                <a:solidFill>
                  <a:srgbClr val="2E1406"/>
                </a:solidFill>
              </a:rPr>
              <a:t>Predict tomorrow's PAGASA heat level for each city, using only today's weather in that city.</a:t>
            </a:r>
            <a:endParaRPr lang="en-US" sz="2000" dirty="0"/>
          </a:p>
        </p:txBody>
      </p:sp>
      <p:sp>
        <p:nvSpPr>
          <p:cNvPr id="5" name="Levels label"/>
          <p:cNvSpPr txBox="1"/>
          <p:nvPr/>
        </p:nvSpPr>
        <p:spPr>
          <a:xfrm>
            <a:off x="868680" y="4681728"/>
            <a:ext cx="5120640" cy="274320"/>
          </a:xfrm>
          <a:prstGeom prst="rect">
            <a:avLst/>
          </a:prstGeom>
          <a:noFill/>
          <a:ln/>
        </p:spPr>
        <p:txBody>
          <a:bodyPr wrap="square" lIns="0" tIns="0" rIns="0" bIns="0" rtlCol="0" anchor="ctr"/>
          <a:lstStyle/>
          <a:p>
            <a:pPr indent="0" marL="0">
              <a:buNone/>
            </a:pPr>
            <a:r>
              <a:rPr lang="en-US" sz="1200" dirty="0">
                <a:solidFill>
                  <a:srgbClr val="6F5C51"/>
                </a:solidFill>
              </a:rPr>
              <a:t>The PAGASA heat index levels (the heat index is how hot it feels)</a:t>
            </a:r>
            <a:endParaRPr lang="en-US" sz="1200" dirty="0"/>
          </a:p>
        </p:txBody>
      </p:sp>
      <p:sp>
        <p:nvSpPr>
          <p:cNvPr id="6" name="Level Not Hazardous"/>
          <p:cNvSpPr txBox="1"/>
          <p:nvPr/>
        </p:nvSpPr>
        <p:spPr>
          <a:xfrm>
            <a:off x="868680" y="4983480"/>
            <a:ext cx="923544" cy="713232"/>
          </a:xfrm>
          <a:prstGeom prst="rect">
            <a:avLst/>
          </a:prstGeom>
          <a:solidFill>
            <a:srgbClr val="4C9BE8"/>
          </a:solidFill>
          <a:ln/>
        </p:spPr>
        <p:txBody>
          <a:bodyPr wrap="square" lIns="25400" tIns="25400" rIns="25400" bIns="25400" rtlCol="0" anchor="ctr"/>
          <a:lstStyle/>
          <a:p>
            <a:pPr algn="ctr" indent="0" marL="0">
              <a:buNone/>
            </a:pPr>
            <a:r>
              <a:rPr lang="en-US" sz="1200" b="1" dirty="0">
                <a:solidFill>
                  <a:srgbClr val="FFFFFF"/>
                </a:solidFill>
              </a:rPr>
              <a:t>Not Hazardous</a:t>
            </a:r>
            <a:endParaRPr lang="en-US" sz="1200" dirty="0"/>
          </a:p>
          <a:p>
            <a:pPr algn="ctr" indent="0" marL="0">
              <a:buNone/>
            </a:pPr>
            <a:r>
              <a:rPr lang="en-US" sz="1200" dirty="0">
                <a:solidFill>
                  <a:srgbClr val="FFFFFF"/>
                </a:solidFill>
              </a:rPr>
              <a:t>below 27 °C</a:t>
            </a:r>
            <a:endParaRPr lang="en-US" sz="1200" dirty="0"/>
          </a:p>
        </p:txBody>
      </p:sp>
      <p:sp>
        <p:nvSpPr>
          <p:cNvPr id="7" name="Level Caution"/>
          <p:cNvSpPr txBox="1"/>
          <p:nvPr/>
        </p:nvSpPr>
        <p:spPr>
          <a:xfrm>
            <a:off x="1847088" y="4983480"/>
            <a:ext cx="923544" cy="713232"/>
          </a:xfrm>
          <a:prstGeom prst="rect">
            <a:avLst/>
          </a:prstGeom>
          <a:solidFill>
            <a:srgbClr val="F2C14E"/>
          </a:solidFill>
          <a:ln/>
        </p:spPr>
        <p:txBody>
          <a:bodyPr wrap="square" lIns="25400" tIns="25400" rIns="25400" bIns="25400" rtlCol="0" anchor="ctr"/>
          <a:lstStyle/>
          <a:p>
            <a:pPr algn="ctr" indent="0" marL="0">
              <a:buNone/>
            </a:pPr>
            <a:r>
              <a:rPr lang="en-US" sz="1200" b="1" dirty="0">
                <a:solidFill>
                  <a:srgbClr val="2E1406"/>
                </a:solidFill>
              </a:rPr>
              <a:t>Caution</a:t>
            </a:r>
            <a:endParaRPr lang="en-US" sz="1200" dirty="0"/>
          </a:p>
          <a:p>
            <a:pPr algn="ctr" indent="0" marL="0">
              <a:buNone/>
            </a:pPr>
            <a:r>
              <a:rPr lang="en-US" sz="1200" dirty="0">
                <a:solidFill>
                  <a:srgbClr val="2E1406"/>
                </a:solidFill>
              </a:rPr>
              <a:t>27–32 °C</a:t>
            </a:r>
            <a:endParaRPr lang="en-US" sz="1200" dirty="0"/>
          </a:p>
        </p:txBody>
      </p:sp>
      <p:sp>
        <p:nvSpPr>
          <p:cNvPr id="8" name="Level Extreme Caution"/>
          <p:cNvSpPr txBox="1"/>
          <p:nvPr/>
        </p:nvSpPr>
        <p:spPr>
          <a:xfrm>
            <a:off x="2825496" y="4983480"/>
            <a:ext cx="923544" cy="713232"/>
          </a:xfrm>
          <a:prstGeom prst="rect">
            <a:avLst/>
          </a:prstGeom>
          <a:solidFill>
            <a:srgbClr val="F28C28"/>
          </a:solidFill>
          <a:ln/>
        </p:spPr>
        <p:txBody>
          <a:bodyPr wrap="square" lIns="25400" tIns="25400" rIns="25400" bIns="25400" rtlCol="0" anchor="ctr"/>
          <a:lstStyle/>
          <a:p>
            <a:pPr algn="ctr" indent="0" marL="0">
              <a:buNone/>
            </a:pPr>
            <a:r>
              <a:rPr lang="en-US" sz="1200" b="1" dirty="0">
                <a:solidFill>
                  <a:srgbClr val="2E1406"/>
                </a:solidFill>
              </a:rPr>
              <a:t>Extreme Caution</a:t>
            </a:r>
            <a:endParaRPr lang="en-US" sz="1200" dirty="0"/>
          </a:p>
          <a:p>
            <a:pPr algn="ctr" indent="0" marL="0">
              <a:buNone/>
            </a:pPr>
            <a:r>
              <a:rPr lang="en-US" sz="1200" dirty="0">
                <a:solidFill>
                  <a:srgbClr val="2E1406"/>
                </a:solidFill>
              </a:rPr>
              <a:t>33–41 °C</a:t>
            </a:r>
            <a:endParaRPr lang="en-US" sz="1200" dirty="0"/>
          </a:p>
        </p:txBody>
      </p:sp>
      <p:sp>
        <p:nvSpPr>
          <p:cNvPr id="9" name="Level Danger"/>
          <p:cNvSpPr txBox="1"/>
          <p:nvPr/>
        </p:nvSpPr>
        <p:spPr>
          <a:xfrm>
            <a:off x="3803904" y="4983480"/>
            <a:ext cx="923544" cy="713232"/>
          </a:xfrm>
          <a:prstGeom prst="rect">
            <a:avLst/>
          </a:prstGeom>
          <a:solidFill>
            <a:srgbClr val="C0392B"/>
          </a:solidFill>
          <a:ln/>
        </p:spPr>
        <p:txBody>
          <a:bodyPr wrap="square" lIns="25400" tIns="25400" rIns="25400" bIns="25400" rtlCol="0" anchor="ctr"/>
          <a:lstStyle/>
          <a:p>
            <a:pPr algn="ctr" indent="0" marL="0">
              <a:buNone/>
            </a:pPr>
            <a:r>
              <a:rPr lang="en-US" sz="1200" b="1" dirty="0">
                <a:solidFill>
                  <a:srgbClr val="FFFFFF"/>
                </a:solidFill>
              </a:rPr>
              <a:t>Danger</a:t>
            </a:r>
            <a:endParaRPr lang="en-US" sz="1200" dirty="0"/>
          </a:p>
          <a:p>
            <a:pPr algn="ctr" indent="0" marL="0">
              <a:buNone/>
            </a:pPr>
            <a:r>
              <a:rPr lang="en-US" sz="1200" dirty="0">
                <a:solidFill>
                  <a:srgbClr val="FFFFFF"/>
                </a:solidFill>
              </a:rPr>
              <a:t>42–51 °C</a:t>
            </a:r>
            <a:endParaRPr lang="en-US" sz="1200" dirty="0"/>
          </a:p>
        </p:txBody>
      </p:sp>
      <p:sp>
        <p:nvSpPr>
          <p:cNvPr id="10" name="Level Extreme Danger"/>
          <p:cNvSpPr txBox="1"/>
          <p:nvPr/>
        </p:nvSpPr>
        <p:spPr>
          <a:xfrm>
            <a:off x="4782312" y="4983480"/>
            <a:ext cx="923544" cy="713232"/>
          </a:xfrm>
          <a:prstGeom prst="rect">
            <a:avLst/>
          </a:prstGeom>
          <a:solidFill>
            <a:srgbClr val="6E0000"/>
          </a:solidFill>
          <a:ln/>
        </p:spPr>
        <p:txBody>
          <a:bodyPr wrap="square" lIns="25400" tIns="25400" rIns="25400" bIns="25400" rtlCol="0" anchor="ctr"/>
          <a:lstStyle/>
          <a:p>
            <a:pPr algn="ctr" indent="0" marL="0">
              <a:buNone/>
            </a:pPr>
            <a:r>
              <a:rPr lang="en-US" sz="1200" b="1" dirty="0">
                <a:solidFill>
                  <a:srgbClr val="FFFFFF"/>
                </a:solidFill>
              </a:rPr>
              <a:t>Extreme Danger</a:t>
            </a:r>
            <a:endParaRPr lang="en-US" sz="1200" dirty="0"/>
          </a:p>
          <a:p>
            <a:pPr algn="ctr" indent="0" marL="0">
              <a:buNone/>
            </a:pPr>
            <a:r>
              <a:rPr lang="en-US" sz="1200" dirty="0">
                <a:solidFill>
                  <a:srgbClr val="FFFFFF"/>
                </a:solidFill>
              </a:rPr>
              <a:t>52 °C and up</a:t>
            </a:r>
            <a:endParaRPr lang="en-US" sz="1200" dirty="0"/>
          </a:p>
        </p:txBody>
      </p:sp>
      <p:sp>
        <p:nvSpPr>
          <p:cNvPr id="11" name="Tile 16"/>
          <p:cNvSpPr/>
          <p:nvPr/>
        </p:nvSpPr>
        <p:spPr>
          <a:xfrm>
            <a:off x="6172200" y="2103120"/>
            <a:ext cx="2514600" cy="1691640"/>
          </a:xfrm>
          <a:prstGeom prst="rect">
            <a:avLst/>
          </a:prstGeom>
          <a:solidFill>
            <a:srgbClr val="FDEBDC"/>
          </a:solidFill>
          <a:ln/>
        </p:spPr>
      </p:sp>
      <p:sp>
        <p:nvSpPr>
          <p:cNvPr id="12" name="Text 10"/>
          <p:cNvSpPr txBox="1"/>
          <p:nvPr/>
        </p:nvSpPr>
        <p:spPr>
          <a:xfrm>
            <a:off x="6355080" y="22402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16</a:t>
            </a:r>
            <a:endParaRPr lang="en-US" sz="4000" dirty="0"/>
          </a:p>
        </p:txBody>
      </p:sp>
      <p:sp>
        <p:nvSpPr>
          <p:cNvPr id="13" name="Text 11"/>
          <p:cNvSpPr txBox="1"/>
          <p:nvPr/>
        </p:nvSpPr>
        <p:spPr>
          <a:xfrm>
            <a:off x="6355080" y="2926080"/>
            <a:ext cx="2148840" cy="777240"/>
          </a:xfrm>
          <a:prstGeom prst="rect">
            <a:avLst/>
          </a:prstGeom>
          <a:noFill/>
          <a:ln/>
        </p:spPr>
        <p:txBody>
          <a:bodyPr wrap="square" lIns="0" tIns="0" rIns="0" bIns="0" rtlCol="0" anchor="t"/>
          <a:lstStyle/>
          <a:p>
            <a:pPr indent="0" marL="0">
              <a:buNone/>
            </a:pPr>
            <a:r>
              <a:rPr lang="en-US" sz="1400" dirty="0">
                <a:solidFill>
                  <a:schemeClr val="tx1"/>
                </a:solidFill>
              </a:rPr>
              <a:t>cities of Metro Manila (NCR)</a:t>
            </a:r>
            <a:endParaRPr lang="en-US" sz="1400" dirty="0"/>
          </a:p>
        </p:txBody>
      </p:sp>
      <p:sp>
        <p:nvSpPr>
          <p:cNvPr id="14" name="Tile 29,168"/>
          <p:cNvSpPr/>
          <p:nvPr/>
        </p:nvSpPr>
        <p:spPr>
          <a:xfrm>
            <a:off x="8823960" y="2103120"/>
            <a:ext cx="2514600" cy="1691640"/>
          </a:xfrm>
          <a:prstGeom prst="rect">
            <a:avLst/>
          </a:prstGeom>
          <a:solidFill>
            <a:srgbClr val="FDEBDC"/>
          </a:solidFill>
          <a:ln/>
        </p:spPr>
      </p:sp>
      <p:sp>
        <p:nvSpPr>
          <p:cNvPr id="15" name="Text 13"/>
          <p:cNvSpPr txBox="1"/>
          <p:nvPr/>
        </p:nvSpPr>
        <p:spPr>
          <a:xfrm>
            <a:off x="9006840" y="22402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29,168</a:t>
            </a:r>
            <a:endParaRPr lang="en-US" sz="4000" dirty="0"/>
          </a:p>
        </p:txBody>
      </p:sp>
      <p:sp>
        <p:nvSpPr>
          <p:cNvPr id="16" name="Text 14"/>
          <p:cNvSpPr txBox="1"/>
          <p:nvPr/>
        </p:nvSpPr>
        <p:spPr>
          <a:xfrm>
            <a:off x="9006840" y="2926080"/>
            <a:ext cx="2148840" cy="777240"/>
          </a:xfrm>
          <a:prstGeom prst="rect">
            <a:avLst/>
          </a:prstGeom>
          <a:noFill/>
          <a:ln/>
        </p:spPr>
        <p:txBody>
          <a:bodyPr wrap="square" lIns="0" tIns="0" rIns="0" bIns="0" rtlCol="0" anchor="t"/>
          <a:lstStyle/>
          <a:p>
            <a:pPr indent="0" marL="0">
              <a:buNone/>
            </a:pPr>
            <a:r>
              <a:rPr lang="en-US" sz="1400" dirty="0">
                <a:solidFill>
                  <a:schemeClr val="tx1"/>
                </a:solidFill>
              </a:rPr>
              <a:t>rows: one per city per day, 2021 to 2025</a:t>
            </a:r>
            <a:endParaRPr lang="en-US" sz="1400" dirty="0"/>
          </a:p>
        </p:txBody>
      </p:sp>
      <p:sp>
        <p:nvSpPr>
          <p:cNvPr id="17" name="Tile 5"/>
          <p:cNvSpPr/>
          <p:nvPr/>
        </p:nvSpPr>
        <p:spPr>
          <a:xfrm>
            <a:off x="6172200" y="3931920"/>
            <a:ext cx="2514600" cy="1691640"/>
          </a:xfrm>
          <a:prstGeom prst="rect">
            <a:avLst/>
          </a:prstGeom>
          <a:solidFill>
            <a:srgbClr val="FDEBDC"/>
          </a:solidFill>
          <a:ln/>
        </p:spPr>
      </p:sp>
      <p:sp>
        <p:nvSpPr>
          <p:cNvPr id="18" name="Text 16"/>
          <p:cNvSpPr txBox="1"/>
          <p:nvPr/>
        </p:nvSpPr>
        <p:spPr>
          <a:xfrm>
            <a:off x="6355080" y="40690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5</a:t>
            </a:r>
            <a:endParaRPr lang="en-US" sz="4000" dirty="0"/>
          </a:p>
        </p:txBody>
      </p:sp>
      <p:sp>
        <p:nvSpPr>
          <p:cNvPr id="19" name="Text 17"/>
          <p:cNvSpPr txBox="1"/>
          <p:nvPr/>
        </p:nvSpPr>
        <p:spPr>
          <a:xfrm>
            <a:off x="6355080" y="4754880"/>
            <a:ext cx="2148840" cy="777240"/>
          </a:xfrm>
          <a:prstGeom prst="rect">
            <a:avLst/>
          </a:prstGeom>
          <a:noFill/>
          <a:ln/>
        </p:spPr>
        <p:txBody>
          <a:bodyPr wrap="square" lIns="0" tIns="0" rIns="0" bIns="0" rtlCol="0" anchor="t"/>
          <a:lstStyle/>
          <a:p>
            <a:pPr indent="0" marL="0">
              <a:buNone/>
            </a:pPr>
            <a:r>
              <a:rPr lang="en-US" sz="1400" dirty="0">
                <a:solidFill>
                  <a:schemeClr val="tx1"/>
                </a:solidFill>
              </a:rPr>
              <a:t>weather readings about today: heat index, lowest temperature, rain, air pressure, sunshine</a:t>
            </a:r>
            <a:endParaRPr lang="en-US" sz="1400" dirty="0"/>
          </a:p>
        </p:txBody>
      </p:sp>
      <p:sp>
        <p:nvSpPr>
          <p:cNvPr id="20" name="Tile 1 day"/>
          <p:cNvSpPr/>
          <p:nvPr/>
        </p:nvSpPr>
        <p:spPr>
          <a:xfrm>
            <a:off x="8823960" y="3931920"/>
            <a:ext cx="2514600" cy="1691640"/>
          </a:xfrm>
          <a:prstGeom prst="rect">
            <a:avLst/>
          </a:prstGeom>
          <a:solidFill>
            <a:srgbClr val="FDEBDC"/>
          </a:solidFill>
          <a:ln/>
        </p:spPr>
      </p:sp>
      <p:sp>
        <p:nvSpPr>
          <p:cNvPr id="21" name="Text 19"/>
          <p:cNvSpPr txBox="1"/>
          <p:nvPr/>
        </p:nvSpPr>
        <p:spPr>
          <a:xfrm>
            <a:off x="9006840" y="4069080"/>
            <a:ext cx="2148840" cy="640080"/>
          </a:xfrm>
          <a:prstGeom prst="rect">
            <a:avLst/>
          </a:prstGeom>
          <a:noFill/>
          <a:ln/>
        </p:spPr>
        <p:txBody>
          <a:bodyPr wrap="square" lIns="0" tIns="0" rIns="0" bIns="0" rtlCol="0" anchor="ctr"/>
          <a:lstStyle/>
          <a:p>
            <a:pPr indent="0" marL="0">
              <a:buNone/>
            </a:pPr>
            <a:r>
              <a:rPr lang="en-US" sz="4000" dirty="0">
                <a:solidFill>
                  <a:srgbClr val="A63A0C"/>
                </a:solidFill>
                <a:latin typeface="Cambria" pitchFamily="34" charset="0"/>
                <a:ea typeface="Cambria" pitchFamily="34" charset="-122"/>
                <a:cs typeface="Cambria" pitchFamily="34" charset="-120"/>
              </a:rPr>
              <a:t>1 day</a:t>
            </a:r>
            <a:endParaRPr lang="en-US" sz="4000" dirty="0"/>
          </a:p>
        </p:txBody>
      </p:sp>
      <p:sp>
        <p:nvSpPr>
          <p:cNvPr id="22" name="Text 20"/>
          <p:cNvSpPr txBox="1"/>
          <p:nvPr/>
        </p:nvSpPr>
        <p:spPr>
          <a:xfrm>
            <a:off x="9006840" y="4754880"/>
            <a:ext cx="2148840" cy="777240"/>
          </a:xfrm>
          <a:prstGeom prst="rect">
            <a:avLst/>
          </a:prstGeom>
          <a:noFill/>
          <a:ln/>
        </p:spPr>
        <p:txBody>
          <a:bodyPr wrap="square" lIns="0" tIns="0" rIns="0" bIns="0" rtlCol="0" anchor="t"/>
          <a:lstStyle/>
          <a:p>
            <a:pPr indent="0" marL="0">
              <a:buNone/>
            </a:pPr>
            <a:r>
              <a:rPr lang="en-US" sz="1400" dirty="0">
                <a:solidFill>
                  <a:schemeClr val="tx1"/>
                </a:solidFill>
              </a:rPr>
              <a:t>ahead: we predict tomorrow's level in the same city</a:t>
            </a:r>
            <a:endParaRPr lang="en-US" sz="1400" dirty="0"/>
          </a:p>
        </p:txBody>
      </p:sp>
      <p:sp>
        <p:nvSpPr>
          <p:cNvPr id="23" name="Text 21"/>
          <p:cNvSpPr txBox="1"/>
          <p:nvPr/>
        </p:nvSpPr>
        <p:spPr>
          <a:xfrm>
            <a:off x="6172200" y="5779008"/>
            <a:ext cx="5166360" cy="256032"/>
          </a:xfrm>
          <a:prstGeom prst="rect">
            <a:avLst/>
          </a:prstGeom>
          <a:noFill/>
          <a:ln/>
        </p:spPr>
        <p:txBody>
          <a:bodyPr wrap="square" lIns="0" tIns="0" rIns="0" bIns="0" rtlCol="0" anchor="ctr"/>
          <a:lstStyle/>
          <a:p>
            <a:pPr indent="0" marL="0">
              <a:buNone/>
            </a:pPr>
            <a:r>
              <a:rPr lang="en-US" sz="1100" dirty="0">
                <a:solidFill>
                  <a:srgbClr val="6F5C51"/>
                </a:solidFill>
              </a:rPr>
              <a:t>Weather: hourly estimates from Open-Meteo (ERA5)</a:t>
            </a:r>
            <a:endParaRPr lang="en-US" sz="11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WHAT THE DATA SHOWED</a:t>
            </a:r>
            <a:endParaRPr lang="en-US" sz="3400" dirty="0"/>
          </a:p>
        </p:txBody>
      </p:sp>
      <p:sp>
        <p:nvSpPr>
          <p:cNvPr id="3" name="Subtitle pill"/>
          <p:cNvSpPr txBox="1"/>
          <p:nvPr/>
        </p:nvSpPr>
        <p:spPr>
          <a:xfrm>
            <a:off x="3535528" y="1417320"/>
            <a:ext cx="512064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Three findings, and what each one changed</a:t>
            </a:r>
            <a:endParaRPr lang="en-US" sz="1500" dirty="0"/>
          </a:p>
        </p:txBody>
      </p:sp>
      <p:sp>
        <p:nvSpPr>
          <p:cNvPr id="4" name="Finding number 1"/>
          <p:cNvSpPr txBox="1"/>
          <p:nvPr/>
        </p:nvSpPr>
        <p:spPr>
          <a:xfrm>
            <a:off x="868680" y="210312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8%</a:t>
            </a:r>
            <a:endParaRPr lang="en-US" sz="3200" dirty="0"/>
          </a:p>
        </p:txBody>
      </p:sp>
      <p:sp>
        <p:nvSpPr>
          <p:cNvPr id="5" name="Finding text 1"/>
          <p:cNvSpPr txBox="1"/>
          <p:nvPr/>
        </p:nvSpPr>
        <p:spPr>
          <a:xfrm>
            <a:off x="2788920" y="210312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of city-days were Danger, and 78.5% were Extreme Caution</a:t>
            </a:r>
            <a:endParaRPr lang="en-US" sz="1400" dirty="0"/>
          </a:p>
          <a:p>
            <a:pPr indent="0" marL="0">
              <a:spcAft>
                <a:spcPts val="400"/>
              </a:spcAft>
              <a:buNone/>
            </a:pPr>
            <a:r>
              <a:rPr lang="en-US" sz="1400" dirty="0">
                <a:solidFill>
                  <a:srgbClr val="6F5C51"/>
                </a:solidFill>
              </a:rPr>
              <a:t>So "percent correct" misleads: always guessing Extreme Caution is already 78% right.</a:t>
            </a:r>
            <a:endParaRPr lang="en-US" sz="1400" dirty="0"/>
          </a:p>
        </p:txBody>
      </p:sp>
      <p:sp>
        <p:nvSpPr>
          <p:cNvPr id="6" name="Finding number 2"/>
          <p:cNvSpPr txBox="1"/>
          <p:nvPr/>
        </p:nvSpPr>
        <p:spPr>
          <a:xfrm>
            <a:off x="868680" y="342900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May</a:t>
            </a:r>
            <a:endParaRPr lang="en-US" sz="3200" dirty="0"/>
          </a:p>
        </p:txBody>
      </p:sp>
      <p:sp>
        <p:nvSpPr>
          <p:cNvPr id="7" name="Finding text 2"/>
          <p:cNvSpPr txBox="1"/>
          <p:nvPr/>
        </p:nvSpPr>
        <p:spPr>
          <a:xfrm>
            <a:off x="2788920" y="342900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Danger peaks in April to June (nearly 1 in 3 May days) and never happens December to February</a:t>
            </a:r>
            <a:endParaRPr lang="en-US" sz="1400" dirty="0"/>
          </a:p>
          <a:p>
            <a:pPr indent="0" marL="0">
              <a:spcAft>
                <a:spcPts val="400"/>
              </a:spcAft>
              <a:buNone/>
            </a:pPr>
            <a:r>
              <a:rPr lang="en-US" sz="1400" dirty="0">
                <a:solidFill>
                  <a:srgbClr val="6F5C51"/>
                </a:solidFill>
              </a:rPr>
              <a:t>So we split the data by time, like real forecasting.</a:t>
            </a:r>
            <a:endParaRPr lang="en-US" sz="1400" dirty="0"/>
          </a:p>
        </p:txBody>
      </p:sp>
      <p:sp>
        <p:nvSpPr>
          <p:cNvPr id="8" name="Finding number 3"/>
          <p:cNvSpPr txBox="1"/>
          <p:nvPr/>
        </p:nvSpPr>
        <p:spPr>
          <a:xfrm>
            <a:off x="868680" y="4754880"/>
            <a:ext cx="1874520" cy="685800"/>
          </a:xfrm>
          <a:prstGeom prst="rect">
            <a:avLst/>
          </a:prstGeom>
          <a:noFill/>
          <a:ln/>
        </p:spPr>
        <p:txBody>
          <a:bodyPr wrap="square" lIns="0" tIns="0" rIns="0" bIns="0" rtlCol="0" anchor="t"/>
          <a:lstStyle/>
          <a:p>
            <a:pPr indent="0" marL="0">
              <a:buNone/>
            </a:pPr>
            <a:r>
              <a:rPr lang="en-US" sz="3200" dirty="0">
                <a:solidFill>
                  <a:srgbClr val="A63A0C"/>
                </a:solidFill>
                <a:latin typeface="Cambria" pitchFamily="34" charset="0"/>
                <a:ea typeface="Cambria" pitchFamily="34" charset="-122"/>
                <a:cs typeface="Cambria" pitchFamily="34" charset="-120"/>
              </a:rPr>
              <a:t>17% vs 2%</a:t>
            </a:r>
            <a:endParaRPr lang="en-US" sz="3200" dirty="0"/>
          </a:p>
        </p:txBody>
      </p:sp>
      <p:sp>
        <p:nvSpPr>
          <p:cNvPr id="9" name="Finding text 3"/>
          <p:cNvSpPr txBox="1"/>
          <p:nvPr/>
        </p:nvSpPr>
        <p:spPr>
          <a:xfrm>
            <a:off x="2788920" y="4754880"/>
            <a:ext cx="32461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Some cities get far more Danger days: Malabon, Navotas, Valenzuela vs Muntinlupa, San Juan</a:t>
            </a:r>
            <a:endParaRPr lang="en-US" sz="1400" dirty="0"/>
          </a:p>
          <a:p>
            <a:pPr indent="0" marL="0">
              <a:spcAft>
                <a:spcPts val="400"/>
              </a:spcAft>
              <a:buNone/>
            </a:pPr>
            <a:r>
              <a:rPr lang="en-US" sz="1400" dirty="0">
                <a:solidFill>
                  <a:srgbClr val="6F5C51"/>
                </a:solidFill>
              </a:rPr>
              <a:t>So every city keeps its own rows, and the city is an input.</a:t>
            </a:r>
            <a:endParaRPr lang="en-US" sz="1400" dirty="0"/>
          </a:p>
        </p:txBody>
      </p:sp>
      <p:graphicFrame>
        <p:nvGraphicFramePr>
          <p:cNvPr id="10" name="Chart level by month" descr=""/>
          <p:cNvGraphicFramePr/>
          <p:nvPr/>
        </p:nvGraphicFramePr>
        <p:xfrm>
          <a:off x="6263640" y="2011680"/>
          <a:ext cx="5120640" cy="39776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A FAIR TEST, LIKE AN EXAM</a:t>
            </a:r>
            <a:endParaRPr lang="en-US" sz="3400" dirty="0"/>
          </a:p>
        </p:txBody>
      </p:sp>
      <p:sp>
        <p:nvSpPr>
          <p:cNvPr id="3" name="Subtitle pill"/>
          <p:cNvSpPr txBox="1"/>
          <p:nvPr/>
        </p:nvSpPr>
        <p:spPr>
          <a:xfrm>
            <a:off x="2712568" y="1417320"/>
            <a:ext cx="67665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Every model studied the same days and took the same final exam</a:t>
            </a:r>
            <a:endParaRPr lang="en-US" sz="1500" dirty="0"/>
          </a:p>
        </p:txBody>
      </p:sp>
      <p:sp>
        <p:nvSpPr>
          <p:cNvPr id="4" name="Text 2"/>
          <p:cNvSpPr txBox="1"/>
          <p:nvPr/>
        </p:nvSpPr>
        <p:spPr>
          <a:xfrm>
            <a:off x="86868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2021</a:t>
            </a:r>
            <a:endParaRPr lang="en-US" sz="1200" dirty="0"/>
          </a:p>
        </p:txBody>
      </p:sp>
      <p:sp>
        <p:nvSpPr>
          <p:cNvPr id="5" name="Text 3"/>
          <p:cNvSpPr txBox="1"/>
          <p:nvPr/>
        </p:nvSpPr>
        <p:spPr>
          <a:xfrm>
            <a:off x="293751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2022</a:t>
            </a:r>
            <a:endParaRPr lang="en-US" sz="1200" dirty="0"/>
          </a:p>
        </p:txBody>
      </p:sp>
      <p:sp>
        <p:nvSpPr>
          <p:cNvPr id="6" name="Text 4"/>
          <p:cNvSpPr txBox="1"/>
          <p:nvPr/>
        </p:nvSpPr>
        <p:spPr>
          <a:xfrm>
            <a:off x="500634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2023</a:t>
            </a:r>
            <a:endParaRPr lang="en-US" sz="1200" dirty="0"/>
          </a:p>
        </p:txBody>
      </p:sp>
      <p:sp>
        <p:nvSpPr>
          <p:cNvPr id="7" name="Text 5"/>
          <p:cNvSpPr txBox="1"/>
          <p:nvPr/>
        </p:nvSpPr>
        <p:spPr>
          <a:xfrm>
            <a:off x="7075170"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2024</a:t>
            </a:r>
            <a:endParaRPr lang="en-US" sz="1200" dirty="0"/>
          </a:p>
        </p:txBody>
      </p:sp>
      <p:sp>
        <p:nvSpPr>
          <p:cNvPr id="8" name="Text 6"/>
          <p:cNvSpPr txBox="1"/>
          <p:nvPr/>
        </p:nvSpPr>
        <p:spPr>
          <a:xfrm>
            <a:off x="9253728" y="2011680"/>
            <a:ext cx="914400" cy="274320"/>
          </a:xfrm>
          <a:prstGeom prst="rect">
            <a:avLst/>
          </a:prstGeom>
          <a:noFill/>
          <a:ln/>
        </p:spPr>
        <p:txBody>
          <a:bodyPr wrap="square" lIns="0" tIns="0" rIns="0" bIns="0" rtlCol="0" anchor="ctr"/>
          <a:lstStyle/>
          <a:p>
            <a:pPr indent="0" marL="0">
              <a:buNone/>
            </a:pPr>
            <a:r>
              <a:rPr lang="en-US" sz="1200" dirty="0">
                <a:solidFill>
                  <a:srgbClr val="6F5C51"/>
                </a:solidFill>
              </a:rPr>
              <a:t>2025</a:t>
            </a:r>
            <a:endParaRPr lang="en-US" sz="1200" dirty="0"/>
          </a:p>
        </p:txBody>
      </p:sp>
      <p:sp>
        <p:nvSpPr>
          <p:cNvPr id="9" name="Training bar"/>
          <p:cNvSpPr txBox="1"/>
          <p:nvPr/>
        </p:nvSpPr>
        <p:spPr>
          <a:xfrm>
            <a:off x="868680" y="2331720"/>
            <a:ext cx="8275320" cy="502920"/>
          </a:xfrm>
          <a:prstGeom prst="rect">
            <a:avLst/>
          </a:prstGeom>
          <a:solidFill>
            <a:srgbClr val="F6C9A0"/>
          </a:solidFill>
          <a:ln/>
        </p:spPr>
        <p:txBody>
          <a:bodyPr wrap="square" rtlCol="0" anchor="ctr"/>
          <a:lstStyle/>
          <a:p>
            <a:pPr algn="ctr" indent="0" marL="0">
              <a:buNone/>
            </a:pPr>
            <a:r>
              <a:rPr lang="en-US" sz="1600" dirty="0">
                <a:solidFill>
                  <a:srgbClr val="2E1406"/>
                </a:solidFill>
              </a:rPr>
              <a:t>Study: the models learn only from 2021 to 2024</a:t>
            </a:r>
            <a:endParaRPr lang="en-US" sz="1600" dirty="0"/>
          </a:p>
        </p:txBody>
      </p:sp>
      <p:sp>
        <p:nvSpPr>
          <p:cNvPr id="10" name="Test bar"/>
          <p:cNvSpPr txBox="1"/>
          <p:nvPr/>
        </p:nvSpPr>
        <p:spPr>
          <a:xfrm>
            <a:off x="9253728" y="2331720"/>
            <a:ext cx="2084832" cy="502920"/>
          </a:xfrm>
          <a:prstGeom prst="rect">
            <a:avLst/>
          </a:prstGeom>
          <a:solidFill>
            <a:srgbClr val="A63A0C"/>
          </a:solidFill>
          <a:ln/>
        </p:spPr>
        <p:txBody>
          <a:bodyPr wrap="square" rtlCol="0" anchor="ctr"/>
          <a:lstStyle/>
          <a:p>
            <a:pPr algn="ctr" indent="0" marL="0">
              <a:buNone/>
            </a:pPr>
            <a:r>
              <a:rPr lang="en-US" sz="1500" b="1" dirty="0">
                <a:solidFill>
                  <a:srgbClr val="FFFFFF"/>
                </a:solidFill>
              </a:rPr>
              <a:t>Final exam: 2025, once</a:t>
            </a:r>
            <a:endParaRPr lang="en-US" sz="1500" dirty="0"/>
          </a:p>
        </p:txBody>
      </p:sp>
      <p:sp>
        <p:nvSpPr>
          <p:cNvPr id="11" name="Quiz study 1"/>
          <p:cNvSpPr/>
          <p:nvPr/>
        </p:nvSpPr>
        <p:spPr>
          <a:xfrm>
            <a:off x="868680" y="3063240"/>
            <a:ext cx="1397206" cy="182880"/>
          </a:xfrm>
          <a:prstGeom prst="rect">
            <a:avLst/>
          </a:prstGeom>
          <a:solidFill>
            <a:srgbClr val="EBC9A6"/>
          </a:solidFill>
          <a:ln/>
        </p:spPr>
      </p:sp>
      <p:sp>
        <p:nvSpPr>
          <p:cNvPr id="12" name="Quiz check 1"/>
          <p:cNvSpPr/>
          <p:nvPr/>
        </p:nvSpPr>
        <p:spPr>
          <a:xfrm>
            <a:off x="2271565" y="3063240"/>
            <a:ext cx="1374487" cy="182880"/>
          </a:xfrm>
          <a:prstGeom prst="rect">
            <a:avLst/>
          </a:prstGeom>
          <a:solidFill>
            <a:srgbClr val="F28C28"/>
          </a:solidFill>
          <a:ln/>
        </p:spPr>
      </p:sp>
      <p:sp>
        <p:nvSpPr>
          <p:cNvPr id="13" name="Quiz study 2"/>
          <p:cNvSpPr/>
          <p:nvPr/>
        </p:nvSpPr>
        <p:spPr>
          <a:xfrm>
            <a:off x="868680" y="3310128"/>
            <a:ext cx="2771693" cy="182880"/>
          </a:xfrm>
          <a:prstGeom prst="rect">
            <a:avLst/>
          </a:prstGeom>
          <a:solidFill>
            <a:srgbClr val="EBC9A6"/>
          </a:solidFill>
          <a:ln/>
        </p:spPr>
      </p:sp>
      <p:sp>
        <p:nvSpPr>
          <p:cNvPr id="14" name="Quiz check 2"/>
          <p:cNvSpPr/>
          <p:nvPr/>
        </p:nvSpPr>
        <p:spPr>
          <a:xfrm>
            <a:off x="3646052" y="3310128"/>
            <a:ext cx="1374487" cy="182880"/>
          </a:xfrm>
          <a:prstGeom prst="rect">
            <a:avLst/>
          </a:prstGeom>
          <a:solidFill>
            <a:srgbClr val="F28C28"/>
          </a:solidFill>
          <a:ln/>
        </p:spPr>
      </p:sp>
      <p:sp>
        <p:nvSpPr>
          <p:cNvPr id="15" name="Quiz study 3"/>
          <p:cNvSpPr/>
          <p:nvPr/>
        </p:nvSpPr>
        <p:spPr>
          <a:xfrm>
            <a:off x="868680" y="3557016"/>
            <a:ext cx="4146180" cy="182880"/>
          </a:xfrm>
          <a:prstGeom prst="rect">
            <a:avLst/>
          </a:prstGeom>
          <a:solidFill>
            <a:srgbClr val="EBC9A6"/>
          </a:solidFill>
          <a:ln/>
        </p:spPr>
      </p:sp>
      <p:sp>
        <p:nvSpPr>
          <p:cNvPr id="16" name="Quiz check 3"/>
          <p:cNvSpPr/>
          <p:nvPr/>
        </p:nvSpPr>
        <p:spPr>
          <a:xfrm>
            <a:off x="5020539" y="3557016"/>
            <a:ext cx="1374487" cy="182880"/>
          </a:xfrm>
          <a:prstGeom prst="rect">
            <a:avLst/>
          </a:prstGeom>
          <a:solidFill>
            <a:srgbClr val="F28C28"/>
          </a:solidFill>
          <a:ln/>
        </p:spPr>
      </p:sp>
      <p:sp>
        <p:nvSpPr>
          <p:cNvPr id="17" name="Quiz study 4"/>
          <p:cNvSpPr/>
          <p:nvPr/>
        </p:nvSpPr>
        <p:spPr>
          <a:xfrm>
            <a:off x="868680" y="3803904"/>
            <a:ext cx="5520666" cy="182880"/>
          </a:xfrm>
          <a:prstGeom prst="rect">
            <a:avLst/>
          </a:prstGeom>
          <a:solidFill>
            <a:srgbClr val="EBC9A6"/>
          </a:solidFill>
          <a:ln/>
        </p:spPr>
      </p:sp>
      <p:sp>
        <p:nvSpPr>
          <p:cNvPr id="18" name="Quiz check 4"/>
          <p:cNvSpPr/>
          <p:nvPr/>
        </p:nvSpPr>
        <p:spPr>
          <a:xfrm>
            <a:off x="6395026" y="3803904"/>
            <a:ext cx="1374487" cy="182880"/>
          </a:xfrm>
          <a:prstGeom prst="rect">
            <a:avLst/>
          </a:prstGeom>
          <a:solidFill>
            <a:srgbClr val="F28C28"/>
          </a:solidFill>
          <a:ln/>
        </p:spPr>
      </p:sp>
      <p:sp>
        <p:nvSpPr>
          <p:cNvPr id="19" name="Quiz study 5"/>
          <p:cNvSpPr/>
          <p:nvPr/>
        </p:nvSpPr>
        <p:spPr>
          <a:xfrm>
            <a:off x="868680" y="4050792"/>
            <a:ext cx="6895153" cy="182880"/>
          </a:xfrm>
          <a:prstGeom prst="rect">
            <a:avLst/>
          </a:prstGeom>
          <a:solidFill>
            <a:srgbClr val="EBC9A6"/>
          </a:solidFill>
          <a:ln/>
        </p:spPr>
      </p:sp>
      <p:sp>
        <p:nvSpPr>
          <p:cNvPr id="20" name="Quiz check 5"/>
          <p:cNvSpPr/>
          <p:nvPr/>
        </p:nvSpPr>
        <p:spPr>
          <a:xfrm>
            <a:off x="7769513" y="4050792"/>
            <a:ext cx="1374487" cy="182880"/>
          </a:xfrm>
          <a:prstGeom prst="rect">
            <a:avLst/>
          </a:prstGeom>
          <a:solidFill>
            <a:srgbClr val="F28C28"/>
          </a:solidFill>
          <a:ln/>
        </p:spPr>
      </p:sp>
      <p:sp>
        <p:nvSpPr>
          <p:cNvPr id="21" name="Text 19"/>
          <p:cNvSpPr txBox="1"/>
          <p:nvPr/>
        </p:nvSpPr>
        <p:spPr>
          <a:xfrm>
            <a:off x="9253728" y="3017520"/>
            <a:ext cx="2103120" cy="292608"/>
          </a:xfrm>
          <a:prstGeom prst="rect">
            <a:avLst/>
          </a:prstGeom>
          <a:noFill/>
          <a:ln/>
        </p:spPr>
        <p:txBody>
          <a:bodyPr wrap="square" lIns="0" tIns="0" rIns="0" bIns="0" rtlCol="0" anchor="ctr"/>
          <a:lstStyle/>
          <a:p>
            <a:pPr indent="0" marL="0">
              <a:buNone/>
            </a:pPr>
            <a:r>
              <a:rPr lang="en-US" sz="1300" b="1" dirty="0">
                <a:solidFill>
                  <a:srgbClr val="2E1406"/>
                </a:solidFill>
              </a:rPr>
              <a:t>5 practice quizzes</a:t>
            </a:r>
            <a:endParaRPr lang="en-US" sz="1300" dirty="0"/>
          </a:p>
        </p:txBody>
      </p:sp>
      <p:sp>
        <p:nvSpPr>
          <p:cNvPr id="22" name="Shape 20"/>
          <p:cNvSpPr/>
          <p:nvPr/>
        </p:nvSpPr>
        <p:spPr>
          <a:xfrm>
            <a:off x="9253728" y="3429000"/>
            <a:ext cx="201168" cy="164592"/>
          </a:xfrm>
          <a:prstGeom prst="rect">
            <a:avLst/>
          </a:prstGeom>
          <a:solidFill>
            <a:srgbClr val="EBC9A6"/>
          </a:solidFill>
          <a:ln/>
        </p:spPr>
      </p:sp>
      <p:sp>
        <p:nvSpPr>
          <p:cNvPr id="23" name="Text 21"/>
          <p:cNvSpPr txBox="1"/>
          <p:nvPr/>
        </p:nvSpPr>
        <p:spPr>
          <a:xfrm>
            <a:off x="9528048" y="3364992"/>
            <a:ext cx="1828800" cy="292608"/>
          </a:xfrm>
          <a:prstGeom prst="rect">
            <a:avLst/>
          </a:prstGeom>
          <a:noFill/>
          <a:ln/>
        </p:spPr>
        <p:txBody>
          <a:bodyPr wrap="square" lIns="0" tIns="0" rIns="0" bIns="0" rtlCol="0" anchor="ctr"/>
          <a:lstStyle/>
          <a:p>
            <a:pPr indent="0" marL="0">
              <a:buNone/>
            </a:pPr>
            <a:r>
              <a:rPr lang="en-US" sz="1200" dirty="0">
                <a:solidFill>
                  <a:srgbClr val="2E1406"/>
                </a:solidFill>
              </a:rPr>
              <a:t>study earlier days</a:t>
            </a:r>
            <a:endParaRPr lang="en-US" sz="1200" dirty="0"/>
          </a:p>
        </p:txBody>
      </p:sp>
      <p:sp>
        <p:nvSpPr>
          <p:cNvPr id="24" name="Shape 22"/>
          <p:cNvSpPr/>
          <p:nvPr/>
        </p:nvSpPr>
        <p:spPr>
          <a:xfrm>
            <a:off x="9253728" y="3767328"/>
            <a:ext cx="201168" cy="164592"/>
          </a:xfrm>
          <a:prstGeom prst="rect">
            <a:avLst/>
          </a:prstGeom>
          <a:solidFill>
            <a:srgbClr val="F28C28"/>
          </a:solidFill>
          <a:ln/>
        </p:spPr>
      </p:sp>
      <p:sp>
        <p:nvSpPr>
          <p:cNvPr id="25" name="Text 23"/>
          <p:cNvSpPr txBox="1"/>
          <p:nvPr/>
        </p:nvSpPr>
        <p:spPr>
          <a:xfrm>
            <a:off x="9528048" y="3703320"/>
            <a:ext cx="1828800" cy="292608"/>
          </a:xfrm>
          <a:prstGeom prst="rect">
            <a:avLst/>
          </a:prstGeom>
          <a:noFill/>
          <a:ln/>
        </p:spPr>
        <p:txBody>
          <a:bodyPr wrap="square" lIns="0" tIns="0" rIns="0" bIns="0" rtlCol="0" anchor="ctr"/>
          <a:lstStyle/>
          <a:p>
            <a:pPr indent="0" marL="0">
              <a:buNone/>
            </a:pPr>
            <a:r>
              <a:rPr lang="en-US" sz="1200" dirty="0">
                <a:solidFill>
                  <a:srgbClr val="2E1406"/>
                </a:solidFill>
              </a:rPr>
              <a:t>quiz on the next days</a:t>
            </a:r>
            <a:endParaRPr lang="en-US" sz="1200" dirty="0"/>
          </a:p>
        </p:txBody>
      </p:sp>
      <p:sp>
        <p:nvSpPr>
          <p:cNvPr id="26" name="Card The score"/>
          <p:cNvSpPr/>
          <p:nvPr/>
        </p:nvSpPr>
        <p:spPr>
          <a:xfrm>
            <a:off x="868680" y="4434840"/>
            <a:ext cx="3374136" cy="1463040"/>
          </a:xfrm>
          <a:prstGeom prst="rect">
            <a:avLst/>
          </a:prstGeom>
          <a:solidFill>
            <a:srgbClr val="FDEBDC"/>
          </a:solidFill>
          <a:ln/>
        </p:spPr>
      </p:sp>
      <p:sp>
        <p:nvSpPr>
          <p:cNvPr id="27" name="Text 25"/>
          <p:cNvSpPr txBox="1"/>
          <p:nvPr/>
        </p:nvSpPr>
        <p:spPr>
          <a:xfrm>
            <a:off x="1051560"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score</a:t>
            </a:r>
            <a:endParaRPr lang="en-US" sz="1900" dirty="0"/>
          </a:p>
          <a:p>
            <a:pPr indent="0" marL="0">
              <a:spcAft>
                <a:spcPts val="400"/>
              </a:spcAft>
              <a:buNone/>
            </a:pPr>
            <a:r>
              <a:rPr lang="en-US" sz="1400" dirty="0">
                <a:solidFill>
                  <a:srgbClr val="2E1406"/>
                </a:solidFill>
              </a:rPr>
              <a:t>How well a model does on Caution, Extreme Caution and Danger, each counted equally (0 to 1, higher is better).</a:t>
            </a:r>
            <a:endParaRPr lang="en-US" sz="1900" dirty="0"/>
          </a:p>
        </p:txBody>
      </p:sp>
      <p:sp>
        <p:nvSpPr>
          <p:cNvPr id="28" name="Card The rule"/>
          <p:cNvSpPr/>
          <p:nvPr/>
        </p:nvSpPr>
        <p:spPr>
          <a:xfrm>
            <a:off x="4416552" y="4434840"/>
            <a:ext cx="3374136" cy="1463040"/>
          </a:xfrm>
          <a:prstGeom prst="rect">
            <a:avLst/>
          </a:prstGeom>
          <a:solidFill>
            <a:srgbClr val="FDEBDC"/>
          </a:solidFill>
          <a:ln/>
        </p:spPr>
      </p:sp>
      <p:sp>
        <p:nvSpPr>
          <p:cNvPr id="29" name="Text 27"/>
          <p:cNvSpPr txBox="1"/>
          <p:nvPr/>
        </p:nvSpPr>
        <p:spPr>
          <a:xfrm>
            <a:off x="4599432"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rule</a:t>
            </a:r>
            <a:endParaRPr lang="en-US" sz="1900" dirty="0"/>
          </a:p>
          <a:p>
            <a:pPr indent="0" marL="0">
              <a:spcAft>
                <a:spcPts val="400"/>
              </a:spcAft>
              <a:buNone/>
            </a:pPr>
            <a:r>
              <a:rPr lang="en-US" sz="1400" dirty="0">
                <a:solidFill>
                  <a:srgbClr val="2E1406"/>
                </a:solidFill>
              </a:rPr>
              <a:t>First, catch more Danger days than the copy-today rule. Then the best score wins.</a:t>
            </a:r>
            <a:endParaRPr lang="en-US" sz="1900" dirty="0"/>
          </a:p>
        </p:txBody>
      </p:sp>
      <p:sp>
        <p:nvSpPr>
          <p:cNvPr id="30" name="Card The baseline"/>
          <p:cNvSpPr/>
          <p:nvPr/>
        </p:nvSpPr>
        <p:spPr>
          <a:xfrm>
            <a:off x="7964424" y="4434840"/>
            <a:ext cx="3374136" cy="1463040"/>
          </a:xfrm>
          <a:prstGeom prst="rect">
            <a:avLst/>
          </a:prstGeom>
          <a:solidFill>
            <a:srgbClr val="FDEBDC"/>
          </a:solidFill>
          <a:ln/>
        </p:spPr>
      </p:sp>
      <p:sp>
        <p:nvSpPr>
          <p:cNvPr id="31" name="Text 29"/>
          <p:cNvSpPr txBox="1"/>
          <p:nvPr/>
        </p:nvSpPr>
        <p:spPr>
          <a:xfrm>
            <a:off x="8147304" y="4526280"/>
            <a:ext cx="3017520" cy="1325880"/>
          </a:xfrm>
          <a:prstGeom prst="rect">
            <a:avLst/>
          </a:prstGeom>
          <a:noFill/>
          <a:ln/>
        </p:spPr>
        <p:txBody>
          <a:bodyPr wrap="square" lIns="0" tIns="0" rIns="0" bIns="0" rtlCol="0" anchor="t"/>
          <a:lstStyle/>
          <a:p>
            <a:pPr indent="0" marL="0">
              <a:spcAft>
                <a:spcPts val="400"/>
              </a:spcAft>
              <a:buNone/>
            </a:pPr>
            <a:r>
              <a:rPr lang="en-US" sz="1900" dirty="0">
                <a:solidFill>
                  <a:srgbClr val="A63A0C"/>
                </a:solidFill>
                <a:latin typeface="Cambria" pitchFamily="34" charset="0"/>
                <a:ea typeface="Cambria" pitchFamily="34" charset="-122"/>
                <a:cs typeface="Cambria" pitchFamily="34" charset="-120"/>
              </a:rPr>
              <a:t>The baseline</a:t>
            </a:r>
            <a:endParaRPr lang="en-US" sz="1900" dirty="0"/>
          </a:p>
          <a:p>
            <a:pPr indent="0" marL="0">
              <a:spcAft>
                <a:spcPts val="400"/>
              </a:spcAft>
              <a:buNone/>
            </a:pPr>
            <a:r>
              <a:rPr lang="en-US" sz="1400" dirty="0">
                <a:solidFill>
                  <a:srgbClr val="2E1406"/>
                </a:solidFill>
              </a:rPr>
              <a:t>Copy today: tomorrow's level is today's level in the same city.</a:t>
            </a:r>
            <a:endParaRPr lang="en-US" sz="1900" dirty="0"/>
          </a:p>
        </p:txBody>
      </p:sp>
      <p:sp>
        <p:nvSpPr>
          <p:cNvPr id="32" name="Text 30"/>
          <p:cNvSpPr txBox="1"/>
          <p:nvPr/>
        </p:nvSpPr>
        <p:spPr>
          <a:xfrm>
            <a:off x="868680" y="5989320"/>
            <a:ext cx="8229600" cy="256032"/>
          </a:xfrm>
          <a:prstGeom prst="rect">
            <a:avLst/>
          </a:prstGeom>
          <a:noFill/>
          <a:ln/>
        </p:spPr>
        <p:txBody>
          <a:bodyPr wrap="square" lIns="0" tIns="0" rIns="0" bIns="0" rtlCol="0" anchor="ctr"/>
          <a:lstStyle/>
          <a:p>
            <a:pPr indent="0" marL="0">
              <a:buNone/>
            </a:pPr>
            <a:r>
              <a:rPr lang="en-US" sz="1100" i="1" dirty="0">
                <a:solidFill>
                  <a:srgbClr val="6F5C51"/>
                </a:solidFill>
              </a:rPr>
              <a:t>In technical terms: chronological split, 5-fold time-series cross-validation, macro F1.</a:t>
            </a:r>
            <a:endParaRPr lang="en-US" sz="11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WHICH MISTAKE IS WORSE?</a:t>
            </a:r>
            <a:endParaRPr lang="en-US" sz="3400" dirty="0"/>
          </a:p>
        </p:txBody>
      </p:sp>
      <p:sp>
        <p:nvSpPr>
          <p:cNvPr id="3" name="Subtitle pill"/>
          <p:cNvSpPr txBox="1"/>
          <p:nvPr/>
        </p:nvSpPr>
        <p:spPr>
          <a:xfrm>
            <a:off x="3992728" y="1417320"/>
            <a:ext cx="420624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Vote: raise your hand for A or B</a:t>
            </a:r>
            <a:endParaRPr lang="en-US" sz="1500" dirty="0"/>
          </a:p>
        </p:txBody>
      </p:sp>
      <p:sp>
        <p:nvSpPr>
          <p:cNvPr id="4" name="Option A"/>
          <p:cNvSpPr/>
          <p:nvPr/>
        </p:nvSpPr>
        <p:spPr>
          <a:xfrm>
            <a:off x="868680" y="2148840"/>
            <a:ext cx="5097780" cy="3017520"/>
          </a:xfrm>
          <a:prstGeom prst="rect">
            <a:avLst/>
          </a:prstGeom>
          <a:solidFill>
            <a:srgbClr val="F8D5CF"/>
          </a:solidFill>
          <a:ln/>
        </p:spPr>
      </p:sp>
      <p:sp>
        <p:nvSpPr>
          <p:cNvPr id="5" name="Option dot A"/>
          <p:cNvSpPr/>
          <p:nvPr/>
        </p:nvSpPr>
        <p:spPr>
          <a:xfrm>
            <a:off x="1143000" y="2423160"/>
            <a:ext cx="640080" cy="640080"/>
          </a:xfrm>
          <a:prstGeom prst="ellipse">
            <a:avLst/>
          </a:prstGeom>
          <a:solidFill>
            <a:srgbClr val="A63A0C"/>
          </a:solidFill>
          <a:ln/>
        </p:spPr>
      </p:sp>
      <p:sp>
        <p:nvSpPr>
          <p:cNvPr id="6" name="Text 4"/>
          <p:cNvSpPr txBox="1"/>
          <p:nvPr/>
        </p:nvSpPr>
        <p:spPr>
          <a:xfrm>
            <a:off x="1143000" y="242316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A</a:t>
            </a:r>
            <a:endParaRPr lang="en-US" sz="2600" dirty="0"/>
          </a:p>
        </p:txBody>
      </p:sp>
      <p:sp>
        <p:nvSpPr>
          <p:cNvPr id="7" name="Option text A"/>
          <p:cNvSpPr txBox="1"/>
          <p:nvPr/>
        </p:nvSpPr>
        <p:spPr>
          <a:xfrm>
            <a:off x="1143000" y="3200400"/>
            <a:ext cx="4549140" cy="1783080"/>
          </a:xfrm>
          <a:prstGeom prst="rect">
            <a:avLst/>
          </a:prstGeom>
          <a:noFill/>
          <a:ln/>
        </p:spPr>
        <p:txBody>
          <a:bodyPr wrap="square" lIns="0" tIns="0" rIns="0" bIns="0" rtlCol="0" anchor="t"/>
          <a:lstStyle/>
          <a:p>
            <a:pPr indent="0" marL="0">
              <a:buNone/>
            </a:pPr>
            <a:r>
              <a:rPr lang="en-US" sz="2000" dirty="0">
                <a:solidFill>
                  <a:srgbClr val="2E1406"/>
                </a:solidFill>
              </a:rPr>
              <a:t>Missing a real Danger day. Nobody prepares, and students play outside at 44 °C.</a:t>
            </a:r>
            <a:endParaRPr lang="en-US" sz="2000" dirty="0"/>
          </a:p>
        </p:txBody>
      </p:sp>
      <p:sp>
        <p:nvSpPr>
          <p:cNvPr id="8" name="Option B"/>
          <p:cNvSpPr/>
          <p:nvPr/>
        </p:nvSpPr>
        <p:spPr>
          <a:xfrm>
            <a:off x="6240780" y="2148840"/>
            <a:ext cx="5097780" cy="3017520"/>
          </a:xfrm>
          <a:prstGeom prst="rect">
            <a:avLst/>
          </a:prstGeom>
          <a:solidFill>
            <a:srgbClr val="FDEBDC"/>
          </a:solidFill>
          <a:ln/>
        </p:spPr>
      </p:sp>
      <p:sp>
        <p:nvSpPr>
          <p:cNvPr id="9" name="Option dot B"/>
          <p:cNvSpPr/>
          <p:nvPr/>
        </p:nvSpPr>
        <p:spPr>
          <a:xfrm>
            <a:off x="6515100" y="2423160"/>
            <a:ext cx="640080" cy="640080"/>
          </a:xfrm>
          <a:prstGeom prst="ellipse">
            <a:avLst/>
          </a:prstGeom>
          <a:solidFill>
            <a:srgbClr val="A63A0C"/>
          </a:solidFill>
          <a:ln/>
        </p:spPr>
      </p:sp>
      <p:sp>
        <p:nvSpPr>
          <p:cNvPr id="10" name="Text 8"/>
          <p:cNvSpPr txBox="1"/>
          <p:nvPr/>
        </p:nvSpPr>
        <p:spPr>
          <a:xfrm>
            <a:off x="6515100" y="242316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B</a:t>
            </a:r>
            <a:endParaRPr lang="en-US" sz="2600" dirty="0"/>
          </a:p>
        </p:txBody>
      </p:sp>
      <p:sp>
        <p:nvSpPr>
          <p:cNvPr id="11" name="Option text B"/>
          <p:cNvSpPr txBox="1"/>
          <p:nvPr/>
        </p:nvSpPr>
        <p:spPr>
          <a:xfrm>
            <a:off x="6515100" y="3200400"/>
            <a:ext cx="4549140" cy="1783080"/>
          </a:xfrm>
          <a:prstGeom prst="rect">
            <a:avLst/>
          </a:prstGeom>
          <a:noFill/>
          <a:ln/>
        </p:spPr>
        <p:txBody>
          <a:bodyPr wrap="square" lIns="0" tIns="0" rIns="0" bIns="0" rtlCol="0" anchor="t"/>
          <a:lstStyle/>
          <a:p>
            <a:pPr indent="0" marL="0">
              <a:buNone/>
            </a:pPr>
            <a:r>
              <a:rPr lang="en-US" sz="2000" dirty="0">
                <a:solidFill>
                  <a:srgbClr val="2E1406"/>
                </a:solidFill>
              </a:rPr>
              <a:t>A false alarm. Activities are moved indoors, but the day was not that hot.</a:t>
            </a:r>
            <a:endParaRPr lang="en-US" sz="2000" dirty="0"/>
          </a:p>
        </p:txBody>
      </p:sp>
      <p:sp>
        <p:nvSpPr>
          <p:cNvPr id="12" name="Our choice"/>
          <p:cNvSpPr txBox="1"/>
          <p:nvPr/>
        </p:nvSpPr>
        <p:spPr>
          <a:xfrm>
            <a:off x="868680" y="5440680"/>
            <a:ext cx="10469880" cy="457200"/>
          </a:xfrm>
          <a:prstGeom prst="rect">
            <a:avLst/>
          </a:prstGeom>
          <a:noFill/>
          <a:ln/>
        </p:spPr>
        <p:txBody>
          <a:bodyPr wrap="square" rtlCol="0" anchor="ctr"/>
          <a:lstStyle/>
          <a:p>
            <a:pPr algn="ctr" indent="0" marL="0">
              <a:buNone/>
            </a:pPr>
            <a:r>
              <a:rPr lang="en-US" sz="2000" i="1" dirty="0">
                <a:solidFill>
                  <a:srgbClr val="A63A0C"/>
                </a:solidFill>
                <a:latin typeface="Cambria" pitchFamily="34" charset="0"/>
                <a:ea typeface="Cambria" pitchFamily="34" charset="-122"/>
                <a:cs typeface="Cambria" pitchFamily="34" charset="-120"/>
              </a:rPr>
              <a:t>Our choice: A is worse. That is why a model must first catch more Danger days than copy-today.</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THREE MODELS VS. COPY-TODAY</a:t>
            </a:r>
            <a:endParaRPr lang="en-US" sz="3400" dirty="0"/>
          </a:p>
        </p:txBody>
      </p:sp>
      <p:sp>
        <p:nvSpPr>
          <p:cNvPr id="3" name="Subtitle pill"/>
          <p:cNvSpPr txBox="1"/>
          <p:nvPr/>
        </p:nvSpPr>
        <p:spPr>
          <a:xfrm>
            <a:off x="3169768" y="1417320"/>
            <a:ext cx="58521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Practice-quiz results: the average of the 5 quizzes</a:t>
            </a:r>
            <a:endParaRPr lang="en-US" sz="1500" dirty="0"/>
          </a:p>
        </p:txBody>
      </p:sp>
      <p:graphicFrame>
        <p:nvGraphicFramePr>
          <p:cNvPr id="4" name="Chart score" descr=""/>
          <p:cNvGraphicFramePr/>
          <p:nvPr/>
        </p:nvGraphicFramePr>
        <p:xfrm>
          <a:off x="777240" y="1965960"/>
          <a:ext cx="6126480" cy="20116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Danger caught" descr=""/>
          <p:cNvGraphicFramePr/>
          <p:nvPr/>
        </p:nvGraphicFramePr>
        <p:xfrm>
          <a:off x="777240" y="4023360"/>
          <a:ext cx="6126480" cy="2011680"/>
        </p:xfrm>
        <a:graphic xmlns:a="http://schemas.openxmlformats.org/drawingml/2006/main">
          <a:graphicData uri="http://schemas.openxmlformats.org/drawingml/2006/chart">
            <c:chart xmlns:c="http://schemas.openxmlformats.org/drawingml/2006/chart" r:id="rId2"/>
          </a:graphicData>
        </a:graphic>
      </p:graphicFrame>
      <p:sp>
        <p:nvSpPr>
          <p:cNvPr id="6" name="Model Logistic Regression"/>
          <p:cNvSpPr/>
          <p:nvPr/>
        </p:nvSpPr>
        <p:spPr>
          <a:xfrm>
            <a:off x="7178040" y="2011680"/>
            <a:ext cx="4160520" cy="1216152"/>
          </a:xfrm>
          <a:prstGeom prst="rect">
            <a:avLst/>
          </a:prstGeom>
          <a:solidFill>
            <a:srgbClr val="FDEBDC"/>
          </a:solidFill>
          <a:ln/>
        </p:spPr>
      </p:sp>
      <p:sp>
        <p:nvSpPr>
          <p:cNvPr id="7" name="Text 3"/>
          <p:cNvSpPr txBox="1"/>
          <p:nvPr/>
        </p:nvSpPr>
        <p:spPr>
          <a:xfrm>
            <a:off x="7360920" y="208483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Logistic Regression</a:t>
            </a:r>
            <a:pPr indent="0" marL="0">
              <a:buNone/>
            </a:pPr>
            <a:r>
              <a:rPr lang="en-US" sz="1200" dirty="0">
                <a:solidFill>
                  <a:srgbClr val="6F5C51"/>
                </a:solidFill>
              </a:rPr>
              <a:t>   Harry</a:t>
            </a:r>
            <a:endParaRPr lang="en-US" sz="1800" dirty="0"/>
          </a:p>
          <a:p>
            <a:pPr indent="0" marL="0">
              <a:buNone/>
            </a:pPr>
            <a:r>
              <a:rPr lang="en-US" sz="1300" dirty="0">
                <a:solidFill>
                  <a:srgbClr val="6F5C51"/>
                </a:solidFill>
              </a:rPr>
              <a:t>Draws straight dividing lines between the levels.</a:t>
            </a:r>
            <a:endParaRPr lang="en-US" sz="1800" dirty="0"/>
          </a:p>
          <a:p>
            <a:pPr indent="0" marL="0">
              <a:buNone/>
            </a:pPr>
            <a:r>
              <a:rPr lang="en-US" sz="1400" dirty="0">
                <a:solidFill>
                  <a:srgbClr val="2E1406"/>
                </a:solidFill>
              </a:rPr>
              <a:t>Careful, but caught only 28% of Danger days.</a:t>
            </a:r>
            <a:endParaRPr lang="en-US" sz="1800" dirty="0"/>
          </a:p>
        </p:txBody>
      </p:sp>
      <p:sp>
        <p:nvSpPr>
          <p:cNvPr id="8" name="Model Random Forest"/>
          <p:cNvSpPr/>
          <p:nvPr/>
        </p:nvSpPr>
        <p:spPr>
          <a:xfrm>
            <a:off x="7178040" y="3337560"/>
            <a:ext cx="4160520" cy="1216152"/>
          </a:xfrm>
          <a:prstGeom prst="rect">
            <a:avLst/>
          </a:prstGeom>
          <a:solidFill>
            <a:srgbClr val="F6C9A0"/>
          </a:solidFill>
          <a:ln/>
        </p:spPr>
      </p:sp>
      <p:sp>
        <p:nvSpPr>
          <p:cNvPr id="9" name="Text 5"/>
          <p:cNvSpPr txBox="1"/>
          <p:nvPr/>
        </p:nvSpPr>
        <p:spPr>
          <a:xfrm>
            <a:off x="7360920" y="341071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Random Forest</a:t>
            </a:r>
            <a:pPr indent="0" marL="0">
              <a:buNone/>
            </a:pPr>
            <a:r>
              <a:rPr lang="en-US" sz="1200" dirty="0">
                <a:solidFill>
                  <a:srgbClr val="6F5C51"/>
                </a:solidFill>
              </a:rPr>
              <a:t>   Edrian</a:t>
            </a:r>
            <a:endParaRPr lang="en-US" sz="1800" dirty="0"/>
          </a:p>
          <a:p>
            <a:pPr indent="0" marL="0">
              <a:buNone/>
            </a:pPr>
            <a:r>
              <a:rPr lang="en-US" sz="1300" dirty="0">
                <a:solidFill>
                  <a:srgbClr val="6F5C51"/>
                </a:solidFill>
              </a:rPr>
              <a:t>500 decision trees that vote on the answer.</a:t>
            </a:r>
            <a:endParaRPr lang="en-US" sz="1800" dirty="0"/>
          </a:p>
          <a:p>
            <a:pPr indent="0" marL="0">
              <a:buNone/>
            </a:pPr>
            <a:r>
              <a:rPr lang="en-US" sz="1400" dirty="0">
                <a:solidFill>
                  <a:srgbClr val="2E1406"/>
                </a:solidFill>
              </a:rPr>
              <a:t>Caught 67% of Danger days with the best score of the three.</a:t>
            </a:r>
            <a:endParaRPr lang="en-US" sz="1800" dirty="0"/>
          </a:p>
        </p:txBody>
      </p:sp>
      <p:sp>
        <p:nvSpPr>
          <p:cNvPr id="10" name="Selected tag"/>
          <p:cNvSpPr txBox="1"/>
          <p:nvPr/>
        </p:nvSpPr>
        <p:spPr>
          <a:xfrm>
            <a:off x="10241280" y="3447288"/>
            <a:ext cx="960120" cy="292608"/>
          </a:xfrm>
          <a:prstGeom prst="rect">
            <a:avLst/>
          </a:prstGeom>
          <a:solidFill>
            <a:srgbClr val="A63A0C"/>
          </a:solidFill>
          <a:ln/>
        </p:spPr>
        <p:txBody>
          <a:bodyPr wrap="square" lIns="0" tIns="0" rIns="0" bIns="0" rtlCol="0" anchor="ctr"/>
          <a:lstStyle/>
          <a:p>
            <a:pPr algn="ctr" indent="0" marL="0">
              <a:buNone/>
            </a:pPr>
            <a:r>
              <a:rPr lang="en-US" sz="1100" b="1" spc="100" kern="0" dirty="0">
                <a:solidFill>
                  <a:srgbClr val="FFFFFF"/>
                </a:solidFill>
              </a:rPr>
              <a:t>SELECTED</a:t>
            </a:r>
            <a:endParaRPr lang="en-US" sz="1100" dirty="0"/>
          </a:p>
        </p:txBody>
      </p:sp>
      <p:sp>
        <p:nvSpPr>
          <p:cNvPr id="11" name="Model Gradient Boosting"/>
          <p:cNvSpPr/>
          <p:nvPr/>
        </p:nvSpPr>
        <p:spPr>
          <a:xfrm>
            <a:off x="7178040" y="4663440"/>
            <a:ext cx="4160520" cy="1216152"/>
          </a:xfrm>
          <a:prstGeom prst="rect">
            <a:avLst/>
          </a:prstGeom>
          <a:solidFill>
            <a:srgbClr val="FDEBDC"/>
          </a:solidFill>
          <a:ln/>
        </p:spPr>
      </p:sp>
      <p:sp>
        <p:nvSpPr>
          <p:cNvPr id="12" name="Text 8"/>
          <p:cNvSpPr txBox="1"/>
          <p:nvPr/>
        </p:nvSpPr>
        <p:spPr>
          <a:xfrm>
            <a:off x="7360920" y="4736592"/>
            <a:ext cx="3840480" cy="109728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Gradient Boosting</a:t>
            </a:r>
            <a:pPr indent="0" marL="0">
              <a:buNone/>
            </a:pPr>
            <a:r>
              <a:rPr lang="en-US" sz="1200" dirty="0">
                <a:solidFill>
                  <a:srgbClr val="6F5C51"/>
                </a:solidFill>
              </a:rPr>
              <a:t>   Marc</a:t>
            </a:r>
            <a:endParaRPr lang="en-US" sz="1800" dirty="0"/>
          </a:p>
          <a:p>
            <a:pPr indent="0" marL="0">
              <a:buNone/>
            </a:pPr>
            <a:r>
              <a:rPr lang="en-US" sz="1300" dirty="0">
                <a:solidFill>
                  <a:srgbClr val="6F5C51"/>
                </a:solidFill>
              </a:rPr>
              <a:t>Trees built one after another, each fixing the last one's mistakes.</a:t>
            </a:r>
            <a:endParaRPr lang="en-US" sz="1800" dirty="0"/>
          </a:p>
          <a:p>
            <a:pPr indent="0" marL="0">
              <a:buNone/>
            </a:pPr>
            <a:r>
              <a:rPr lang="en-US" sz="1400" dirty="0">
                <a:solidFill>
                  <a:srgbClr val="2E1406"/>
                </a:solidFill>
              </a:rPr>
              <a:t>Almost tied with Random Forest.</a:t>
            </a:r>
            <a:endParaRPr lang="en-US" sz="18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YOUR GUESS</a:t>
            </a:r>
            <a:endParaRPr lang="en-US" sz="3400" dirty="0"/>
          </a:p>
        </p:txBody>
      </p:sp>
      <p:sp>
        <p:nvSpPr>
          <p:cNvPr id="3" name="Subtitle pill"/>
          <p:cNvSpPr txBox="1"/>
          <p:nvPr/>
        </p:nvSpPr>
        <p:spPr>
          <a:xfrm>
            <a:off x="3718408" y="1417320"/>
            <a:ext cx="475488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The final exam: 2025, opened once</a:t>
            </a:r>
            <a:endParaRPr lang="en-US" sz="1500" dirty="0"/>
          </a:p>
        </p:txBody>
      </p:sp>
      <p:sp>
        <p:nvSpPr>
          <p:cNvPr id="4" name="Guess question"/>
          <p:cNvSpPr txBox="1"/>
          <p:nvPr/>
        </p:nvSpPr>
        <p:spPr>
          <a:xfrm>
            <a:off x="1280160" y="2148840"/>
            <a:ext cx="9631375" cy="914400"/>
          </a:xfrm>
          <a:prstGeom prst="rect">
            <a:avLst/>
          </a:prstGeom>
          <a:noFill/>
          <a:ln/>
        </p:spPr>
        <p:txBody>
          <a:bodyPr wrap="square" rtlCol="0" anchor="ctr"/>
          <a:lstStyle/>
          <a:p>
            <a:pPr algn="ctr" indent="0" marL="0">
              <a:buNone/>
            </a:pPr>
            <a:r>
              <a:rPr lang="en-US" sz="2800" dirty="0">
                <a:solidFill>
                  <a:srgbClr val="2E1406"/>
                </a:solidFill>
                <a:latin typeface="Cambria" pitchFamily="34" charset="0"/>
                <a:ea typeface="Cambria" pitchFamily="34" charset="-122"/>
                <a:cs typeface="Cambria" pitchFamily="34" charset="-120"/>
              </a:rPr>
              <a:t>In 2025 there were 347 Danger days across the 16 cities. How many did our Random Forest catch?</a:t>
            </a:r>
            <a:endParaRPr lang="en-US" sz="2800" dirty="0"/>
          </a:p>
        </p:txBody>
      </p:sp>
      <p:sp>
        <p:nvSpPr>
          <p:cNvPr id="5" name="Option A"/>
          <p:cNvSpPr/>
          <p:nvPr/>
        </p:nvSpPr>
        <p:spPr>
          <a:xfrm>
            <a:off x="868680" y="3429000"/>
            <a:ext cx="3307080" cy="2011680"/>
          </a:xfrm>
          <a:prstGeom prst="rect">
            <a:avLst/>
          </a:prstGeom>
          <a:solidFill>
            <a:srgbClr val="FDEBDC"/>
          </a:solidFill>
          <a:ln/>
        </p:spPr>
      </p:sp>
      <p:sp>
        <p:nvSpPr>
          <p:cNvPr id="6" name="Option dot A"/>
          <p:cNvSpPr/>
          <p:nvPr/>
        </p:nvSpPr>
        <p:spPr>
          <a:xfrm>
            <a:off x="1143000" y="3703320"/>
            <a:ext cx="640080" cy="640080"/>
          </a:xfrm>
          <a:prstGeom prst="ellipse">
            <a:avLst/>
          </a:prstGeom>
          <a:solidFill>
            <a:srgbClr val="A63A0C"/>
          </a:solidFill>
          <a:ln/>
        </p:spPr>
      </p:sp>
      <p:sp>
        <p:nvSpPr>
          <p:cNvPr id="7" name="Text 5"/>
          <p:cNvSpPr txBox="1"/>
          <p:nvPr/>
        </p:nvSpPr>
        <p:spPr>
          <a:xfrm>
            <a:off x="11430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A</a:t>
            </a:r>
            <a:endParaRPr lang="en-US" sz="2600" dirty="0"/>
          </a:p>
        </p:txBody>
      </p:sp>
      <p:sp>
        <p:nvSpPr>
          <p:cNvPr id="8" name="Option text A"/>
          <p:cNvSpPr txBox="1"/>
          <p:nvPr/>
        </p:nvSpPr>
        <p:spPr>
          <a:xfrm>
            <a:off x="1143000" y="4480560"/>
            <a:ext cx="2758440" cy="777240"/>
          </a:xfrm>
          <a:prstGeom prst="rect">
            <a:avLst/>
          </a:prstGeom>
          <a:noFill/>
          <a:ln/>
        </p:spPr>
        <p:txBody>
          <a:bodyPr wrap="square" lIns="0" tIns="0" rIns="0" bIns="0" rtlCol="0" anchor="t"/>
          <a:lstStyle/>
          <a:p>
            <a:pPr indent="0" marL="0">
              <a:buNone/>
            </a:pPr>
            <a:r>
              <a:rPr lang="en-US" sz="2400" dirty="0">
                <a:solidFill>
                  <a:srgbClr val="2E1406"/>
                </a:solidFill>
              </a:rPr>
              <a:t>About 100</a:t>
            </a:r>
            <a:endParaRPr lang="en-US" sz="2400" dirty="0"/>
          </a:p>
        </p:txBody>
      </p:sp>
      <p:sp>
        <p:nvSpPr>
          <p:cNvPr id="9" name="Option B"/>
          <p:cNvSpPr/>
          <p:nvPr/>
        </p:nvSpPr>
        <p:spPr>
          <a:xfrm>
            <a:off x="4450080" y="3429000"/>
            <a:ext cx="3307080" cy="2011680"/>
          </a:xfrm>
          <a:prstGeom prst="rect">
            <a:avLst/>
          </a:prstGeom>
          <a:solidFill>
            <a:srgbClr val="FDEBDC"/>
          </a:solidFill>
          <a:ln/>
        </p:spPr>
      </p:sp>
      <p:sp>
        <p:nvSpPr>
          <p:cNvPr id="10" name="Option dot B"/>
          <p:cNvSpPr/>
          <p:nvPr/>
        </p:nvSpPr>
        <p:spPr>
          <a:xfrm>
            <a:off x="4724400" y="3703320"/>
            <a:ext cx="640080" cy="640080"/>
          </a:xfrm>
          <a:prstGeom prst="ellipse">
            <a:avLst/>
          </a:prstGeom>
          <a:solidFill>
            <a:srgbClr val="A63A0C"/>
          </a:solidFill>
          <a:ln/>
        </p:spPr>
      </p:sp>
      <p:sp>
        <p:nvSpPr>
          <p:cNvPr id="11" name="Text 9"/>
          <p:cNvSpPr txBox="1"/>
          <p:nvPr/>
        </p:nvSpPr>
        <p:spPr>
          <a:xfrm>
            <a:off x="47244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B</a:t>
            </a:r>
            <a:endParaRPr lang="en-US" sz="2600" dirty="0"/>
          </a:p>
        </p:txBody>
      </p:sp>
      <p:sp>
        <p:nvSpPr>
          <p:cNvPr id="12" name="Option text B"/>
          <p:cNvSpPr txBox="1"/>
          <p:nvPr/>
        </p:nvSpPr>
        <p:spPr>
          <a:xfrm>
            <a:off x="4724400" y="4480560"/>
            <a:ext cx="2758440" cy="777240"/>
          </a:xfrm>
          <a:prstGeom prst="rect">
            <a:avLst/>
          </a:prstGeom>
          <a:noFill/>
          <a:ln/>
        </p:spPr>
        <p:txBody>
          <a:bodyPr wrap="square" lIns="0" tIns="0" rIns="0" bIns="0" rtlCol="0" anchor="t"/>
          <a:lstStyle/>
          <a:p>
            <a:pPr indent="0" marL="0">
              <a:buNone/>
            </a:pPr>
            <a:r>
              <a:rPr lang="en-US" sz="2400" dirty="0">
                <a:solidFill>
                  <a:srgbClr val="2E1406"/>
                </a:solidFill>
              </a:rPr>
              <a:t>About 200</a:t>
            </a:r>
            <a:endParaRPr lang="en-US" sz="2400" dirty="0"/>
          </a:p>
        </p:txBody>
      </p:sp>
      <p:sp>
        <p:nvSpPr>
          <p:cNvPr id="13" name="Option C"/>
          <p:cNvSpPr/>
          <p:nvPr/>
        </p:nvSpPr>
        <p:spPr>
          <a:xfrm>
            <a:off x="8031480" y="3429000"/>
            <a:ext cx="3307080" cy="2011680"/>
          </a:xfrm>
          <a:prstGeom prst="rect">
            <a:avLst/>
          </a:prstGeom>
          <a:solidFill>
            <a:srgbClr val="FDEBDC"/>
          </a:solidFill>
          <a:ln/>
        </p:spPr>
      </p:sp>
      <p:sp>
        <p:nvSpPr>
          <p:cNvPr id="14" name="Option dot C"/>
          <p:cNvSpPr/>
          <p:nvPr/>
        </p:nvSpPr>
        <p:spPr>
          <a:xfrm>
            <a:off x="8305800" y="3703320"/>
            <a:ext cx="640080" cy="640080"/>
          </a:xfrm>
          <a:prstGeom prst="ellipse">
            <a:avLst/>
          </a:prstGeom>
          <a:solidFill>
            <a:srgbClr val="A63A0C"/>
          </a:solidFill>
          <a:ln/>
        </p:spPr>
      </p:sp>
      <p:sp>
        <p:nvSpPr>
          <p:cNvPr id="15" name="Text 13"/>
          <p:cNvSpPr txBox="1"/>
          <p:nvPr/>
        </p:nvSpPr>
        <p:spPr>
          <a:xfrm>
            <a:off x="8305800" y="370332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Cambria" pitchFamily="34" charset="0"/>
                <a:ea typeface="Cambria" pitchFamily="34" charset="-122"/>
                <a:cs typeface="Cambria" pitchFamily="34" charset="-120"/>
              </a:rPr>
              <a:t>C</a:t>
            </a:r>
            <a:endParaRPr lang="en-US" sz="2600" dirty="0"/>
          </a:p>
        </p:txBody>
      </p:sp>
      <p:sp>
        <p:nvSpPr>
          <p:cNvPr id="16" name="Option text C"/>
          <p:cNvSpPr txBox="1"/>
          <p:nvPr/>
        </p:nvSpPr>
        <p:spPr>
          <a:xfrm>
            <a:off x="8305800" y="4480560"/>
            <a:ext cx="2758440" cy="777240"/>
          </a:xfrm>
          <a:prstGeom prst="rect">
            <a:avLst/>
          </a:prstGeom>
          <a:noFill/>
          <a:ln/>
        </p:spPr>
        <p:txBody>
          <a:bodyPr wrap="square" lIns="0" tIns="0" rIns="0" bIns="0" rtlCol="0" anchor="t"/>
          <a:lstStyle/>
          <a:p>
            <a:pPr indent="0" marL="0">
              <a:buNone/>
            </a:pPr>
            <a:r>
              <a:rPr lang="en-US" sz="2400" dirty="0">
                <a:solidFill>
                  <a:srgbClr val="2E1406"/>
                </a:solidFill>
              </a:rPr>
              <a:t>About 300</a:t>
            </a:r>
            <a:endParaRPr lang="en-US" sz="2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FINAL EXAM RESULT</a:t>
            </a:r>
            <a:endParaRPr lang="en-US" sz="3400" dirty="0"/>
          </a:p>
        </p:txBody>
      </p:sp>
      <p:sp>
        <p:nvSpPr>
          <p:cNvPr id="3" name="Subtitle pill"/>
          <p:cNvSpPr txBox="1"/>
          <p:nvPr/>
        </p:nvSpPr>
        <p:spPr>
          <a:xfrm>
            <a:off x="2804008" y="1417320"/>
            <a:ext cx="658368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The selected Random Forest on 2025, compared with copy-today</a:t>
            </a:r>
            <a:endParaRPr lang="en-US" sz="1500" dirty="0"/>
          </a:p>
        </p:txBody>
      </p:sp>
      <p:sp>
        <p:nvSpPr>
          <p:cNvPr id="4" name="Stat 293"/>
          <p:cNvSpPr/>
          <p:nvPr/>
        </p:nvSpPr>
        <p:spPr>
          <a:xfrm>
            <a:off x="868680" y="2103120"/>
            <a:ext cx="3374136" cy="2514600"/>
          </a:xfrm>
          <a:prstGeom prst="rect">
            <a:avLst/>
          </a:prstGeom>
          <a:solidFill>
            <a:srgbClr val="FDEBDC"/>
          </a:solidFill>
          <a:ln/>
        </p:spPr>
      </p:sp>
      <p:sp>
        <p:nvSpPr>
          <p:cNvPr id="5" name="Text 3"/>
          <p:cNvSpPr txBox="1"/>
          <p:nvPr/>
        </p:nvSpPr>
        <p:spPr>
          <a:xfrm>
            <a:off x="1097280" y="2240280"/>
            <a:ext cx="2926080" cy="1143000"/>
          </a:xfrm>
          <a:prstGeom prst="rect">
            <a:avLst/>
          </a:prstGeom>
          <a:noFill/>
          <a:ln/>
        </p:spPr>
        <p:txBody>
          <a:bodyPr wrap="square" lIns="0" tIns="0" rIns="0" bIns="0" rtlCol="0" anchor="ctr"/>
          <a:lstStyle/>
          <a:p>
            <a:pPr indent="0" marL="0">
              <a:buNone/>
            </a:pPr>
            <a:r>
              <a:rPr lang="en-US" sz="6600" dirty="0">
                <a:solidFill>
                  <a:srgbClr val="C0392B"/>
                </a:solidFill>
                <a:latin typeface="Cambria" pitchFamily="34" charset="0"/>
                <a:ea typeface="Cambria" pitchFamily="34" charset="-122"/>
                <a:cs typeface="Cambria" pitchFamily="34" charset="-120"/>
              </a:rPr>
              <a:t>293</a:t>
            </a:r>
            <a:endParaRPr lang="en-US" sz="6600" dirty="0"/>
          </a:p>
        </p:txBody>
      </p:sp>
      <p:sp>
        <p:nvSpPr>
          <p:cNvPr id="6" name="Text 4"/>
          <p:cNvSpPr txBox="1"/>
          <p:nvPr/>
        </p:nvSpPr>
        <p:spPr>
          <a:xfrm>
            <a:off x="1097280"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of 347 Danger days caught (84%)</a:t>
            </a:r>
            <a:endParaRPr lang="en-US" sz="1700" dirty="0"/>
          </a:p>
        </p:txBody>
      </p:sp>
      <p:sp>
        <p:nvSpPr>
          <p:cNvPr id="7" name="Text 5"/>
          <p:cNvSpPr txBox="1"/>
          <p:nvPr/>
        </p:nvSpPr>
        <p:spPr>
          <a:xfrm>
            <a:off x="1097280"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Copy-today caught 207 (60%)</a:t>
            </a:r>
            <a:endParaRPr lang="en-US" sz="1300" dirty="0"/>
          </a:p>
        </p:txBody>
      </p:sp>
      <p:sp>
        <p:nvSpPr>
          <p:cNvPr id="8" name="Stat 36%"/>
          <p:cNvSpPr/>
          <p:nvPr/>
        </p:nvSpPr>
        <p:spPr>
          <a:xfrm>
            <a:off x="4416552" y="2103120"/>
            <a:ext cx="3374136" cy="2514600"/>
          </a:xfrm>
          <a:prstGeom prst="rect">
            <a:avLst/>
          </a:prstGeom>
          <a:solidFill>
            <a:srgbClr val="FDEBDC"/>
          </a:solidFill>
          <a:ln/>
        </p:spPr>
      </p:sp>
      <p:sp>
        <p:nvSpPr>
          <p:cNvPr id="9" name="Text 7"/>
          <p:cNvSpPr txBox="1"/>
          <p:nvPr/>
        </p:nvSpPr>
        <p:spPr>
          <a:xfrm>
            <a:off x="4645152" y="2240280"/>
            <a:ext cx="2926080" cy="1143000"/>
          </a:xfrm>
          <a:prstGeom prst="rect">
            <a:avLst/>
          </a:prstGeom>
          <a:noFill/>
          <a:ln/>
        </p:spPr>
        <p:txBody>
          <a:bodyPr wrap="square" lIns="0" tIns="0" rIns="0" bIns="0" rtlCol="0" anchor="ctr"/>
          <a:lstStyle/>
          <a:p>
            <a:pPr indent="0" marL="0">
              <a:buNone/>
            </a:pPr>
            <a:r>
              <a:rPr lang="en-US" sz="6600" dirty="0">
                <a:solidFill>
                  <a:srgbClr val="A63A0C"/>
                </a:solidFill>
                <a:latin typeface="Cambria" pitchFamily="34" charset="0"/>
                <a:ea typeface="Cambria" pitchFamily="34" charset="-122"/>
                <a:cs typeface="Cambria" pitchFamily="34" charset="-120"/>
              </a:rPr>
              <a:t>36%</a:t>
            </a:r>
            <a:endParaRPr lang="en-US" sz="6600" dirty="0"/>
          </a:p>
        </p:txBody>
      </p:sp>
      <p:sp>
        <p:nvSpPr>
          <p:cNvPr id="10" name="Text 8"/>
          <p:cNvSpPr txBox="1"/>
          <p:nvPr/>
        </p:nvSpPr>
        <p:spPr>
          <a:xfrm>
            <a:off x="4645152"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of its Danger warnings were right</a:t>
            </a:r>
            <a:endParaRPr lang="en-US" sz="1700" dirty="0"/>
          </a:p>
        </p:txBody>
      </p:sp>
      <p:sp>
        <p:nvSpPr>
          <p:cNvPr id="11" name="Text 9"/>
          <p:cNvSpPr txBox="1"/>
          <p:nvPr/>
        </p:nvSpPr>
        <p:spPr>
          <a:xfrm>
            <a:off x="4645152"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293 of 816: about 2 false alarms for each real Danger day</a:t>
            </a:r>
            <a:endParaRPr lang="en-US" sz="1300" dirty="0"/>
          </a:p>
        </p:txBody>
      </p:sp>
      <p:sp>
        <p:nvSpPr>
          <p:cNvPr id="12" name="Stat 0.61"/>
          <p:cNvSpPr/>
          <p:nvPr/>
        </p:nvSpPr>
        <p:spPr>
          <a:xfrm>
            <a:off x="7964424" y="2103120"/>
            <a:ext cx="3374136" cy="2514600"/>
          </a:xfrm>
          <a:prstGeom prst="rect">
            <a:avLst/>
          </a:prstGeom>
          <a:solidFill>
            <a:srgbClr val="FDEBDC"/>
          </a:solidFill>
          <a:ln/>
        </p:spPr>
      </p:sp>
      <p:sp>
        <p:nvSpPr>
          <p:cNvPr id="13" name="Text 11"/>
          <p:cNvSpPr txBox="1"/>
          <p:nvPr/>
        </p:nvSpPr>
        <p:spPr>
          <a:xfrm>
            <a:off x="8193024" y="2240280"/>
            <a:ext cx="2926080" cy="1143000"/>
          </a:xfrm>
          <a:prstGeom prst="rect">
            <a:avLst/>
          </a:prstGeom>
          <a:noFill/>
          <a:ln/>
        </p:spPr>
        <p:txBody>
          <a:bodyPr wrap="square" lIns="0" tIns="0" rIns="0" bIns="0" rtlCol="0" anchor="ctr"/>
          <a:lstStyle/>
          <a:p>
            <a:pPr indent="0" marL="0">
              <a:buNone/>
            </a:pPr>
            <a:r>
              <a:rPr lang="en-US" sz="6600" dirty="0">
                <a:solidFill>
                  <a:srgbClr val="2E1406"/>
                </a:solidFill>
                <a:latin typeface="Cambria" pitchFamily="34" charset="0"/>
                <a:ea typeface="Cambria" pitchFamily="34" charset="-122"/>
                <a:cs typeface="Cambria" pitchFamily="34" charset="-120"/>
              </a:rPr>
              <a:t>0.61</a:t>
            </a:r>
            <a:endParaRPr lang="en-US" sz="6600" dirty="0"/>
          </a:p>
        </p:txBody>
      </p:sp>
      <p:sp>
        <p:nvSpPr>
          <p:cNvPr id="14" name="Text 12"/>
          <p:cNvSpPr txBox="1"/>
          <p:nvPr/>
        </p:nvSpPr>
        <p:spPr>
          <a:xfrm>
            <a:off x="8193024" y="3429000"/>
            <a:ext cx="2926080" cy="548640"/>
          </a:xfrm>
          <a:prstGeom prst="rect">
            <a:avLst/>
          </a:prstGeom>
          <a:noFill/>
          <a:ln/>
        </p:spPr>
        <p:txBody>
          <a:bodyPr wrap="square" lIns="0" tIns="0" rIns="0" bIns="0" rtlCol="0" anchor="t"/>
          <a:lstStyle/>
          <a:p>
            <a:pPr indent="0" marL="0">
              <a:buNone/>
            </a:pPr>
            <a:r>
              <a:rPr lang="en-US" sz="1700" b="1" dirty="0">
                <a:solidFill>
                  <a:srgbClr val="2E1406"/>
                </a:solidFill>
              </a:rPr>
              <a:t>score, below copy-today's 0.68</a:t>
            </a:r>
            <a:endParaRPr lang="en-US" sz="1700" dirty="0"/>
          </a:p>
        </p:txBody>
      </p:sp>
      <p:sp>
        <p:nvSpPr>
          <p:cNvPr id="15" name="Text 13"/>
          <p:cNvSpPr txBox="1"/>
          <p:nvPr/>
        </p:nvSpPr>
        <p:spPr>
          <a:xfrm>
            <a:off x="8193024" y="4005072"/>
            <a:ext cx="2926080" cy="548640"/>
          </a:xfrm>
          <a:prstGeom prst="rect">
            <a:avLst/>
          </a:prstGeom>
          <a:noFill/>
          <a:ln/>
        </p:spPr>
        <p:txBody>
          <a:bodyPr wrap="square" lIns="0" tIns="0" rIns="0" bIns="0" rtlCol="0" anchor="t"/>
          <a:lstStyle/>
          <a:p>
            <a:pPr indent="0" marL="0">
              <a:buNone/>
            </a:pPr>
            <a:r>
              <a:rPr lang="en-US" sz="1300" dirty="0">
                <a:solidFill>
                  <a:srgbClr val="6F5C51"/>
                </a:solidFill>
              </a:rPr>
              <a:t>It did not beat copy-today overall</a:t>
            </a:r>
            <a:endParaRPr lang="en-US" sz="1300" dirty="0"/>
          </a:p>
        </p:txBody>
      </p:sp>
      <p:sp>
        <p:nvSpPr>
          <p:cNvPr id="16" name="Takeaway"/>
          <p:cNvSpPr txBox="1"/>
          <p:nvPr/>
        </p:nvSpPr>
        <p:spPr>
          <a:xfrm>
            <a:off x="868680" y="4846320"/>
            <a:ext cx="10469880" cy="1005840"/>
          </a:xfrm>
          <a:prstGeom prst="rect">
            <a:avLst/>
          </a:prstGeom>
          <a:solidFill>
            <a:srgbClr val="2E1406"/>
          </a:solidFill>
          <a:ln/>
        </p:spPr>
        <p:txBody>
          <a:bodyPr wrap="square" lIns="228600" tIns="228600" rIns="228600" bIns="228600" rtlCol="0" anchor="ctr"/>
          <a:lstStyle/>
          <a:p>
            <a:pPr algn="ctr" indent="0" marL="0">
              <a:buNone/>
            </a:pPr>
            <a:r>
              <a:rPr lang="en-US" sz="2000" i="1" dirty="0">
                <a:solidFill>
                  <a:srgbClr val="FBF4EC"/>
                </a:solidFill>
                <a:latin typeface="Cambria" pitchFamily="34" charset="0"/>
                <a:ea typeface="Cambria" pitchFamily="34" charset="-122"/>
                <a:cs typeface="Cambria" pitchFamily="34" charset="-120"/>
              </a:rPr>
              <a:t>Not a better all-round forecaster, but a good early warning: it catches far more Danger days than copying today, at the price of more false alarms.</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LIVE DEMO</a:t>
            </a:r>
            <a:endParaRPr lang="en-US" sz="3400" dirty="0"/>
          </a:p>
        </p:txBody>
      </p:sp>
      <p:sp>
        <p:nvSpPr>
          <p:cNvPr id="3" name="Subtitle pill"/>
          <p:cNvSpPr txBox="1"/>
          <p:nvPr/>
        </p:nvSpPr>
        <p:spPr>
          <a:xfrm>
            <a:off x="4175608" y="1417320"/>
            <a:ext cx="3840480" cy="420624"/>
          </a:xfrm>
          <a:prstGeom prst="rect">
            <a:avLst/>
          </a:prstGeom>
          <a:solidFill>
            <a:srgbClr val="F6C9A0"/>
          </a:solidFill>
          <a:ln/>
        </p:spPr>
        <p:txBody>
          <a:bodyPr wrap="square" lIns="50800" tIns="50800" rIns="50800" bIns="50800" rtlCol="0" anchor="ctr"/>
          <a:lstStyle/>
          <a:p>
            <a:pPr algn="ctr" indent="0" marL="0">
              <a:buNone/>
            </a:pPr>
            <a:r>
              <a:rPr lang="en-US" sz="1500" b="1" spc="100" kern="0" dirty="0">
                <a:solidFill>
                  <a:srgbClr val="2E1406"/>
                </a:solidFill>
              </a:rPr>
              <a:t>heatcast-ncr.streamlit.app</a:t>
            </a:r>
            <a:endParaRPr lang="en-US" sz="1500" dirty="0"/>
          </a:p>
        </p:txBody>
      </p:sp>
      <p:sp>
        <p:nvSpPr>
          <p:cNvPr id="4" name="Step dot 1"/>
          <p:cNvSpPr/>
          <p:nvPr/>
        </p:nvSpPr>
        <p:spPr>
          <a:xfrm>
            <a:off x="868680" y="2148840"/>
            <a:ext cx="566928" cy="566928"/>
          </a:xfrm>
          <a:prstGeom prst="ellipse">
            <a:avLst/>
          </a:prstGeom>
          <a:solidFill>
            <a:srgbClr val="A63A0C"/>
          </a:solidFill>
          <a:ln/>
        </p:spPr>
      </p:sp>
      <p:sp>
        <p:nvSpPr>
          <p:cNvPr id="5" name="Text 3"/>
          <p:cNvSpPr txBox="1"/>
          <p:nvPr/>
        </p:nvSpPr>
        <p:spPr>
          <a:xfrm>
            <a:off x="868680" y="214884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1</a:t>
            </a:r>
            <a:endParaRPr lang="en-US" sz="2200" dirty="0"/>
          </a:p>
        </p:txBody>
      </p:sp>
      <p:sp>
        <p:nvSpPr>
          <p:cNvPr id="6" name="Step 1"/>
          <p:cNvSpPr txBox="1"/>
          <p:nvPr/>
        </p:nvSpPr>
        <p:spPr>
          <a:xfrm>
            <a:off x="1691640" y="2103120"/>
            <a:ext cx="5394960" cy="109728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You pick a city</a:t>
            </a:r>
            <a:endParaRPr lang="en-US" sz="2000" dirty="0"/>
          </a:p>
          <a:p>
            <a:pPr indent="0" marL="0">
              <a:buNone/>
            </a:pPr>
            <a:r>
              <a:rPr lang="en-US" sz="1500" dirty="0">
                <a:solidFill>
                  <a:srgbClr val="6F5C51"/>
                </a:solidFill>
              </a:rPr>
              <a:t>Call out any of the 16 cities. We type a hot day: heat index 45.5 °C, lowest 29 °C, no rain, 1,008 hPa, sunshine 7,000.</a:t>
            </a:r>
            <a:endParaRPr lang="en-US" sz="2000" dirty="0"/>
          </a:p>
        </p:txBody>
      </p:sp>
      <p:sp>
        <p:nvSpPr>
          <p:cNvPr id="7" name="Step dot 2"/>
          <p:cNvSpPr/>
          <p:nvPr/>
        </p:nvSpPr>
        <p:spPr>
          <a:xfrm>
            <a:off x="868680" y="3337560"/>
            <a:ext cx="566928" cy="566928"/>
          </a:xfrm>
          <a:prstGeom prst="ellipse">
            <a:avLst/>
          </a:prstGeom>
          <a:solidFill>
            <a:srgbClr val="A63A0C"/>
          </a:solidFill>
          <a:ln/>
        </p:spPr>
      </p:sp>
      <p:sp>
        <p:nvSpPr>
          <p:cNvPr id="8" name="Text 6"/>
          <p:cNvSpPr txBox="1"/>
          <p:nvPr/>
        </p:nvSpPr>
        <p:spPr>
          <a:xfrm>
            <a:off x="868680" y="333756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2</a:t>
            </a:r>
            <a:endParaRPr lang="en-US" sz="2200" dirty="0"/>
          </a:p>
        </p:txBody>
      </p:sp>
      <p:sp>
        <p:nvSpPr>
          <p:cNvPr id="9" name="Step 2"/>
          <p:cNvSpPr txBox="1"/>
          <p:nvPr/>
        </p:nvSpPr>
        <p:spPr>
          <a:xfrm>
            <a:off x="1691640" y="3291840"/>
            <a:ext cx="5394960" cy="109728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A mistake on purpose</a:t>
            </a:r>
            <a:endParaRPr lang="en-US" sz="2000" dirty="0"/>
          </a:p>
          <a:p>
            <a:pPr indent="0" marL="0">
              <a:buNone/>
            </a:pPr>
            <a:r>
              <a:rPr lang="en-US" sz="1500" dirty="0">
                <a:solidFill>
                  <a:srgbClr val="6F5C51"/>
                </a:solidFill>
              </a:rPr>
              <a:t>Rain of −5 mm is impossible: the app shows the accepted range and gives no prediction.</a:t>
            </a:r>
            <a:endParaRPr lang="en-US" sz="2000" dirty="0"/>
          </a:p>
        </p:txBody>
      </p:sp>
      <p:sp>
        <p:nvSpPr>
          <p:cNvPr id="10" name="Step dot 3"/>
          <p:cNvSpPr/>
          <p:nvPr/>
        </p:nvSpPr>
        <p:spPr>
          <a:xfrm>
            <a:off x="868680" y="4526280"/>
            <a:ext cx="566928" cy="566928"/>
          </a:xfrm>
          <a:prstGeom prst="ellipse">
            <a:avLst/>
          </a:prstGeom>
          <a:solidFill>
            <a:srgbClr val="A63A0C"/>
          </a:solidFill>
          <a:ln/>
        </p:spPr>
      </p:sp>
      <p:sp>
        <p:nvSpPr>
          <p:cNvPr id="11" name="Text 9"/>
          <p:cNvSpPr txBox="1"/>
          <p:nvPr/>
        </p:nvSpPr>
        <p:spPr>
          <a:xfrm>
            <a:off x="868680" y="452628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3</a:t>
            </a:r>
            <a:endParaRPr lang="en-US" sz="2200" dirty="0"/>
          </a:p>
        </p:txBody>
      </p:sp>
      <p:sp>
        <p:nvSpPr>
          <p:cNvPr id="12" name="Step 3"/>
          <p:cNvSpPr txBox="1"/>
          <p:nvPr/>
        </p:nvSpPr>
        <p:spPr>
          <a:xfrm>
            <a:off x="1691640" y="4480560"/>
            <a:ext cx="5394960" cy="1097280"/>
          </a:xfrm>
          <a:prstGeom prst="rect">
            <a:avLst/>
          </a:prstGeom>
          <a:noFill/>
          <a:ln/>
        </p:spPr>
        <p:txBody>
          <a:bodyPr wrap="square" lIns="0" tIns="0" rIns="0" bIns="0" rtlCol="0" anchor="t"/>
          <a:lstStyle/>
          <a:p>
            <a:pPr indent="0" marL="0">
              <a:buNone/>
            </a:pPr>
            <a:r>
              <a:rPr lang="en-US" sz="2000" dirty="0">
                <a:solidFill>
                  <a:srgbClr val="2E1406"/>
                </a:solidFill>
                <a:latin typeface="Cambria" pitchFamily="34" charset="0"/>
                <a:ea typeface="Cambria" pitchFamily="34" charset="-122"/>
                <a:cs typeface="Cambria" pitchFamily="34" charset="-120"/>
              </a:rPr>
              <a:t>An empty form</a:t>
            </a:r>
            <a:endParaRPr lang="en-US" sz="2000" dirty="0"/>
          </a:p>
          <a:p>
            <a:pPr indent="0" marL="0">
              <a:buNone/>
            </a:pPr>
            <a:r>
              <a:rPr lang="en-US" sz="1500" dirty="0">
                <a:solidFill>
                  <a:srgbClr val="6F5C51"/>
                </a:solidFill>
              </a:rPr>
              <a:t>Every missing value is named by the app; nothing is filled in silently.</a:t>
            </a:r>
            <a:endParaRPr lang="en-US" sz="2000" dirty="0"/>
          </a:p>
        </p:txBody>
      </p:sp>
      <p:sp>
        <p:nvSpPr>
          <p:cNvPr id="13" name="Text 11"/>
          <p:cNvSpPr txBox="1"/>
          <p:nvPr/>
        </p:nvSpPr>
        <p:spPr>
          <a:xfrm>
            <a:off x="868680" y="5715000"/>
            <a:ext cx="6035040" cy="320040"/>
          </a:xfrm>
          <a:prstGeom prst="rect">
            <a:avLst/>
          </a:prstGeom>
          <a:noFill/>
          <a:ln/>
        </p:spPr>
        <p:txBody>
          <a:bodyPr wrap="square" lIns="0" tIns="0" rIns="0" bIns="0" rtlCol="0" anchor="t"/>
          <a:lstStyle/>
          <a:p>
            <a:pPr indent="0" marL="0">
              <a:buNone/>
            </a:pPr>
            <a:r>
              <a:rPr lang="en-US" sz="1300" i="1" dirty="0">
                <a:solidFill>
                  <a:srgbClr val="6F5C51"/>
                </a:solidFill>
              </a:rPr>
              <a:t>The app uses the same saved Random Forest that took the final exam.</a:t>
            </a:r>
            <a:endParaRPr lang="en-US" sz="1300" dirty="0"/>
          </a:p>
        </p:txBody>
      </p:sp>
      <p:pic>
        <p:nvPicPr>
          <p:cNvPr id="14" name="App screenshot" descr="Screenshot of the HeatCast NCR app: a Danger prediction for Manila, the map and the error messages">    </p:cNvPr>
          <p:cNvPicPr>
            <a:picLocks noChangeAspect="1"/>
          </p:cNvPicPr>
          <p:nvPr/>
        </p:nvPicPr>
        <p:blipFill>
          <a:blip r:embed="rId1"/>
          <a:stretch>
            <a:fillRect/>
          </a:stretch>
        </p:blipFill>
        <p:spPr>
          <a:xfrm>
            <a:off x="8212266" y="1965960"/>
            <a:ext cx="3126294" cy="4069080"/>
          </a:xfrm>
          <a:prstGeom prst="rect">
            <a:avLst/>
          </a:prstGeom>
        </p:spPr>
      </p:pic>
      <p:sp>
        <p:nvSpPr>
          <p:cNvPr id="15" name="Screenshot frame"/>
          <p:cNvSpPr/>
          <p:nvPr/>
        </p:nvSpPr>
        <p:spPr>
          <a:xfrm>
            <a:off x="8212266" y="1965960"/>
            <a:ext cx="3126294" cy="4069080"/>
          </a:xfrm>
          <a:prstGeom prst="rect">
            <a:avLst/>
          </a:prstGeom>
          <a:ln w="9525">
            <a:solidFill>
              <a:srgbClr val="E2CDBB"/>
            </a:solidFill>
            <a:prstDash val="solid"/>
          </a:ln>
        </p:spPr>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CONCLUSION</a:t>
            </a:r>
            <a:endParaRPr lang="en-US" sz="3400" dirty="0"/>
          </a:p>
        </p:txBody>
      </p:sp>
      <p:sp>
        <p:nvSpPr>
          <p:cNvPr id="3" name="Subtitle pill"/>
          <p:cNvSpPr txBox="1"/>
          <p:nvPr/>
        </p:nvSpPr>
        <p:spPr>
          <a:xfrm>
            <a:off x="4541368" y="1417320"/>
            <a:ext cx="3108960" cy="420624"/>
          </a:xfrm>
          <a:prstGeom prst="rect">
            <a:avLst/>
          </a:prstGeom>
          <a:solidFill>
            <a:srgbClr val="F6C9A0"/>
          </a:solidFill>
          <a:ln/>
        </p:spPr>
        <p:txBody>
          <a:bodyPr wrap="square" lIns="50800" tIns="50800" rIns="50800" bIns="50800" rtlCol="0" anchor="ctr"/>
          <a:lstStyle/>
          <a:p>
            <a:pPr algn="ctr" indent="0" marL="0">
              <a:buNone/>
            </a:pPr>
            <a:r>
              <a:rPr lang="en-US" sz="1500" spc="100" kern="0" dirty="0">
                <a:solidFill>
                  <a:srgbClr val="2E1406"/>
                </a:solidFill>
              </a:rPr>
              <a:t>What we learned</a:t>
            </a:r>
            <a:endParaRPr lang="en-US" sz="1500" dirty="0"/>
          </a:p>
        </p:txBody>
      </p:sp>
      <p:sp>
        <p:nvSpPr>
          <p:cNvPr id="4" name="Conclusion 01"/>
          <p:cNvSpPr/>
          <p:nvPr/>
        </p:nvSpPr>
        <p:spPr>
          <a:xfrm>
            <a:off x="868680" y="2103120"/>
            <a:ext cx="3374136" cy="3611880"/>
          </a:xfrm>
          <a:prstGeom prst="rect">
            <a:avLst/>
          </a:prstGeom>
          <a:solidFill>
            <a:srgbClr val="FDEBDC"/>
          </a:solidFill>
          <a:ln/>
        </p:spPr>
      </p:sp>
      <p:sp>
        <p:nvSpPr>
          <p:cNvPr id="5" name="Text 3"/>
          <p:cNvSpPr txBox="1"/>
          <p:nvPr/>
        </p:nvSpPr>
        <p:spPr>
          <a:xfrm>
            <a:off x="1143000"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01</a:t>
            </a:r>
            <a:endParaRPr lang="en-US" sz="4400" dirty="0"/>
          </a:p>
        </p:txBody>
      </p:sp>
      <p:sp>
        <p:nvSpPr>
          <p:cNvPr id="6" name="Text 4"/>
          <p:cNvSpPr txBox="1"/>
          <p:nvPr/>
        </p:nvSpPr>
        <p:spPr>
          <a:xfrm>
            <a:off x="1143000" y="3200400"/>
            <a:ext cx="2834640" cy="2377440"/>
          </a:xfrm>
          <a:prstGeom prst="rect">
            <a:avLst/>
          </a:prstGeom>
          <a:noFill/>
          <a:ln/>
        </p:spPr>
        <p:txBody>
          <a:bodyPr wrap="square" lIns="0" tIns="0" rIns="0" bIns="0" rtlCol="0" anchor="t"/>
          <a:lstStyle/>
          <a:p>
            <a:pPr indent="0" marL="0">
              <a:spcAft>
                <a:spcPts val="800"/>
              </a:spcAft>
              <a:buNone/>
            </a:pPr>
            <a:r>
              <a:rPr lang="en-US" sz="2100" dirty="0">
                <a:solidFill>
                  <a:srgbClr val="2E1406"/>
                </a:solidFill>
                <a:latin typeface="Cambria" pitchFamily="34" charset="0"/>
                <a:ea typeface="Cambria" pitchFamily="34" charset="-122"/>
                <a:cs typeface="Cambria" pitchFamily="34" charset="-120"/>
              </a:rPr>
              <a:t>The answer</a:t>
            </a:r>
            <a:endParaRPr lang="en-US" sz="2100" dirty="0"/>
          </a:p>
          <a:p>
            <a:pPr indent="0" marL="0">
              <a:spcAft>
                <a:spcPts val="800"/>
              </a:spcAft>
              <a:buNone/>
            </a:pPr>
            <a:r>
              <a:rPr lang="en-US" sz="1600" dirty="0">
                <a:solidFill>
                  <a:srgbClr val="2E1406"/>
                </a:solidFill>
              </a:rPr>
              <a:t>No. None of our models beat copying today's level on overall score: tomorrow's heat is mostly today's heat.</a:t>
            </a:r>
            <a:endParaRPr lang="en-US" sz="2100" dirty="0"/>
          </a:p>
        </p:txBody>
      </p:sp>
      <p:sp>
        <p:nvSpPr>
          <p:cNvPr id="7" name="Conclusion 02"/>
          <p:cNvSpPr/>
          <p:nvPr/>
        </p:nvSpPr>
        <p:spPr>
          <a:xfrm>
            <a:off x="4416552" y="2103120"/>
            <a:ext cx="3374136" cy="3611880"/>
          </a:xfrm>
          <a:prstGeom prst="rect">
            <a:avLst/>
          </a:prstGeom>
          <a:solidFill>
            <a:srgbClr val="F6C9A0"/>
          </a:solidFill>
          <a:ln/>
        </p:spPr>
      </p:sp>
      <p:sp>
        <p:nvSpPr>
          <p:cNvPr id="8" name="Text 6"/>
          <p:cNvSpPr txBox="1"/>
          <p:nvPr/>
        </p:nvSpPr>
        <p:spPr>
          <a:xfrm>
            <a:off x="4690872"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02</a:t>
            </a:r>
            <a:endParaRPr lang="en-US" sz="4400" dirty="0"/>
          </a:p>
        </p:txBody>
      </p:sp>
      <p:sp>
        <p:nvSpPr>
          <p:cNvPr id="9" name="Text 7"/>
          <p:cNvSpPr txBox="1"/>
          <p:nvPr/>
        </p:nvSpPr>
        <p:spPr>
          <a:xfrm>
            <a:off x="4690872" y="3200400"/>
            <a:ext cx="2834640" cy="2377440"/>
          </a:xfrm>
          <a:prstGeom prst="rect">
            <a:avLst/>
          </a:prstGeom>
          <a:noFill/>
          <a:ln/>
        </p:spPr>
        <p:txBody>
          <a:bodyPr wrap="square" lIns="0" tIns="0" rIns="0" bIns="0" rtlCol="0" anchor="t"/>
          <a:lstStyle/>
          <a:p>
            <a:pPr indent="0" marL="0">
              <a:spcAft>
                <a:spcPts val="800"/>
              </a:spcAft>
              <a:buNone/>
            </a:pPr>
            <a:r>
              <a:rPr lang="en-US" sz="2100" dirty="0">
                <a:solidFill>
                  <a:srgbClr val="2E1406"/>
                </a:solidFill>
                <a:latin typeface="Cambria" pitchFamily="34" charset="0"/>
                <a:ea typeface="Cambria" pitchFamily="34" charset="-122"/>
                <a:cs typeface="Cambria" pitchFamily="34" charset="-120"/>
              </a:rPr>
              <a:t>What ML adds</a:t>
            </a:r>
            <a:endParaRPr lang="en-US" sz="2100" dirty="0"/>
          </a:p>
          <a:p>
            <a:pPr indent="0" marL="0">
              <a:spcAft>
                <a:spcPts val="800"/>
              </a:spcAft>
              <a:buNone/>
            </a:pPr>
            <a:r>
              <a:rPr lang="en-US" sz="1600" dirty="0">
                <a:solidFill>
                  <a:srgbClr val="2E1406"/>
                </a:solidFill>
              </a:rPr>
              <a:t>Told that Danger days matter more, the Random Forest caught 84% of them in 2025. We deployed it as an early warning.</a:t>
            </a:r>
            <a:endParaRPr lang="en-US" sz="2100" dirty="0"/>
          </a:p>
        </p:txBody>
      </p:sp>
      <p:sp>
        <p:nvSpPr>
          <p:cNvPr id="10" name="Conclusion 03"/>
          <p:cNvSpPr/>
          <p:nvPr/>
        </p:nvSpPr>
        <p:spPr>
          <a:xfrm>
            <a:off x="7964424" y="2103120"/>
            <a:ext cx="3374136" cy="3611880"/>
          </a:xfrm>
          <a:prstGeom prst="rect">
            <a:avLst/>
          </a:prstGeom>
          <a:solidFill>
            <a:srgbClr val="FDEBDC"/>
          </a:solidFill>
          <a:ln/>
        </p:spPr>
      </p:sp>
      <p:sp>
        <p:nvSpPr>
          <p:cNvPr id="11" name="Text 9"/>
          <p:cNvSpPr txBox="1"/>
          <p:nvPr/>
        </p:nvSpPr>
        <p:spPr>
          <a:xfrm>
            <a:off x="8238744"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03</a:t>
            </a:r>
            <a:endParaRPr lang="en-US" sz="4400" dirty="0"/>
          </a:p>
        </p:txBody>
      </p:sp>
      <p:sp>
        <p:nvSpPr>
          <p:cNvPr id="12" name="Text 10"/>
          <p:cNvSpPr txBox="1"/>
          <p:nvPr/>
        </p:nvSpPr>
        <p:spPr>
          <a:xfrm>
            <a:off x="8238744" y="3200400"/>
            <a:ext cx="2834640" cy="2377440"/>
          </a:xfrm>
          <a:prstGeom prst="rect">
            <a:avLst/>
          </a:prstGeom>
          <a:noFill/>
          <a:ln/>
        </p:spPr>
        <p:txBody>
          <a:bodyPr wrap="square" lIns="0" tIns="0" rIns="0" bIns="0" rtlCol="0" anchor="t"/>
          <a:lstStyle/>
          <a:p>
            <a:pPr indent="0" marL="0">
              <a:spcAft>
                <a:spcPts val="800"/>
              </a:spcAft>
              <a:buNone/>
            </a:pPr>
            <a:r>
              <a:rPr lang="en-US" sz="2100" dirty="0">
                <a:solidFill>
                  <a:srgbClr val="2E1406"/>
                </a:solidFill>
                <a:latin typeface="Cambria" pitchFamily="34" charset="0"/>
                <a:ea typeface="Cambria" pitchFamily="34" charset="-122"/>
                <a:cs typeface="Cambria" pitchFamily="34" charset="-120"/>
              </a:rPr>
              <a:t>Limits and next steps</a:t>
            </a:r>
            <a:endParaRPr lang="en-US" sz="2100" dirty="0"/>
          </a:p>
          <a:p>
            <a:pPr indent="0" marL="0">
              <a:spcAft>
                <a:spcPts val="800"/>
              </a:spcAft>
              <a:buNone/>
            </a:pPr>
            <a:r>
              <a:rPr lang="en-US" sz="1600" dirty="0">
                <a:solidFill>
                  <a:srgbClr val="2E1406"/>
                </a:solidFill>
              </a:rPr>
              <a:t>Weather estimates, not station readings; only five years. Next: add the month and recent days, a weather forecast, and more years.</a:t>
            </a:r>
            <a:endParaRPr lang="en-US" sz="21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ank you"/>
          <p:cNvSpPr txBox="1"/>
          <p:nvPr/>
        </p:nvSpPr>
        <p:spPr>
          <a:xfrm>
            <a:off x="822960" y="228600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THANK YOU</a:t>
            </a:r>
            <a:endParaRPr lang="en-US" sz="6600" dirty="0"/>
          </a:p>
        </p:txBody>
      </p:sp>
      <p:sp>
        <p:nvSpPr>
          <p:cNvPr id="3" name="Questions"/>
          <p:cNvSpPr txBox="1"/>
          <p:nvPr/>
        </p:nvSpPr>
        <p:spPr>
          <a:xfrm>
            <a:off x="822960" y="3383280"/>
            <a:ext cx="10545775" cy="640080"/>
          </a:xfrm>
          <a:prstGeom prst="rect">
            <a:avLst/>
          </a:prstGeom>
          <a:noFill/>
          <a:ln/>
        </p:spPr>
        <p:txBody>
          <a:bodyPr wrap="square" rtlCol="0" anchor="ctr"/>
          <a:lstStyle/>
          <a:p>
            <a:pPr algn="ctr" indent="0" marL="0">
              <a:buNone/>
            </a:pPr>
            <a:r>
              <a:rPr lang="en-US" sz="3000" i="1" dirty="0">
                <a:solidFill>
                  <a:srgbClr val="A63A0C"/>
                </a:solidFill>
                <a:latin typeface="Cambria" pitchFamily="34" charset="0"/>
                <a:ea typeface="Cambria" pitchFamily="34" charset="-122"/>
                <a:cs typeface="Cambria" pitchFamily="34" charset="-120"/>
              </a:rPr>
              <a:t>Questions?</a:t>
            </a:r>
            <a:endParaRPr lang="en-US" sz="3000" dirty="0"/>
          </a:p>
        </p:txBody>
      </p:sp>
      <p:sp>
        <p:nvSpPr>
          <p:cNvPr id="4" name="Links"/>
          <p:cNvSpPr txBox="1"/>
          <p:nvPr/>
        </p:nvSpPr>
        <p:spPr>
          <a:xfrm>
            <a:off x="1798168" y="4572000"/>
            <a:ext cx="859536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Try it: heatcast-ncr.streamlit.app   ·   Code: github.com/keyyum/heatcast-ncr-simple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algn="ctr" indent="0" marL="0">
              <a:buNone/>
            </a:pPr>
            <a:r>
              <a:rPr lang="en-US" sz="3400" spc="500" kern="0" dirty="0">
                <a:solidFill>
                  <a:schemeClr val="tx1"/>
                </a:solidFill>
                <a:latin typeface="Cambria" pitchFamily="34" charset="0"/>
                <a:ea typeface="Cambria" pitchFamily="34" charset="-122"/>
                <a:cs typeface="Cambria" pitchFamily="34" charset="-120"/>
              </a:rPr>
              <a:t>BACKUP: KEY TERMS</a:t>
            </a:r>
            <a:endParaRPr lang="en-US" sz="3400" dirty="0"/>
          </a:p>
        </p:txBody>
      </p:sp>
      <p:sp>
        <p:nvSpPr>
          <p:cNvPr id="3" name="Subtitle pill"/>
          <p:cNvSpPr txBox="1"/>
          <p:nvPr/>
        </p:nvSpPr>
        <p:spPr>
          <a:xfrm>
            <a:off x="3444088" y="1417320"/>
            <a:ext cx="5303520" cy="420624"/>
          </a:xfrm>
          <a:prstGeom prst="rect">
            <a:avLst/>
          </a:prstGeom>
          <a:solidFill>
            <a:srgbClr val="FDEBDC"/>
          </a:solidFill>
          <a:ln/>
        </p:spPr>
        <p:txBody>
          <a:bodyPr wrap="square" lIns="50800" tIns="50800" rIns="50800" bIns="50800" rtlCol="0" anchor="ctr"/>
          <a:lstStyle/>
          <a:p>
            <a:pPr algn="ctr" indent="0" marL="0">
              <a:buNone/>
            </a:pPr>
            <a:r>
              <a:rPr lang="en-US" sz="1500" spc="100" kern="0" dirty="0">
                <a:solidFill>
                  <a:srgbClr val="2E1406"/>
                </a:solidFill>
              </a:rPr>
              <a:t>For questions only; we do not present this slide</a:t>
            </a:r>
            <a:endParaRPr lang="en-US" sz="1500" dirty="0"/>
          </a:p>
        </p:txBody>
      </p:sp>
      <p:graphicFrame>
        <p:nvGraphicFramePr>
          <p:cNvPr id="15" name="Key terms"/>
          <p:cNvGraphicFramePr>
            <a:graphicFrameLocks noGrp="1"/>
          </p:cNvGraphicFramePr>
          <p:nvPr>
            <p:extLst>
              <p:ext uri="{D42A27DB-BD31-4B8C-83A1-F6EECF244321}">
                <p14:modId xmlns:p14="http://schemas.microsoft.com/office/powerpoint/2010/main" val="1579011935"/>
              </p:ext>
            </p:extLst>
          </p:nvPr>
        </p:nvGraphicFramePr>
        <p:xfrm>
          <a:off x="868680" y="2011680"/>
          <a:ext cx="10469880" cy="914400"/>
        </p:xfrm>
        <a:graphic>
          <a:graphicData uri="http://schemas.openxmlformats.org/drawingml/2006/table">
            <a:tbl>
              <a:tblPr/>
              <a:tblGrid>
                <a:gridCol w="2926080"/>
                <a:gridCol w="7543800"/>
              </a:tblGrid>
              <a:tr h="42976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Word on the slides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A63A0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A63A0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Heat index</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How hot it feels, from temperature and humidity (US National Weather Service formula).</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Copy-today rule</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The persistence baseline: tomorrow's level = today's level in the same city.</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Score (macro F1)</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F1 for each level, averaged over Caution, Extreme Caution and Danger; each level counts equally.</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Danger days caught</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Danger recall: of the real Danger days, the share the model called Danger.</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Warnings that were right</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Danger precision: of the model's Danger calls, the share that really were Danger.</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Told Danger matters more</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Balanced class weights: rare levels count more while the model learns.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Practice quizzes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5-fold time-series cross-validation inside 2021 to 2024; never learns from later days.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DEBDC"/>
                    </a:solidFill>
                  </a:tcPr>
                </a:tc>
              </a:tr>
              <a:tr h="429768">
                <a:tc>
                  <a:txBody>
                    <a:bodyPr/>
                    <a:lstStyle/>
                    <a:p>
                      <a:pPr indent="0" marL="0">
                        <a:buNone/>
                      </a:pPr>
                      <a:r>
                        <a:rPr lang="en-US" sz="1400" b="1" dirty="0">
                          <a:solidFill>
                            <a:srgbClr val="2E1406"/>
                          </a:solidFill>
                          <a:latin typeface="Calibri" pitchFamily="34" charset="0"/>
                          <a:ea typeface="Calibri" pitchFamily="34" charset="-122"/>
                          <a:cs typeface="Calibri" pitchFamily="34" charset="-120"/>
                        </a:rPr>
                        <a:t>Weather estimates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c>
                  <a:txBody>
                    <a:bodyPr/>
                    <a:lstStyle/>
                    <a:p>
                      <a:pPr indent="0" marL="0">
                        <a:buNone/>
                      </a:pPr>
                      <a:r>
                        <a:rPr lang="en-US" sz="1400" dirty="0">
                          <a:solidFill>
                            <a:srgbClr val="2E1406"/>
                          </a:solidFill>
                          <a:latin typeface="Calibri" pitchFamily="34" charset="0"/>
                          <a:ea typeface="Calibri" pitchFamily="34" charset="-122"/>
                          <a:cs typeface="Calibri" pitchFamily="34" charset="-120"/>
                        </a:rPr>
                        <a:t>ERA5 reanalysis via Open-Meteo: a grid of about 25 km, not station readings.</a:t>
                      </a:r>
                      <a:endParaRPr lang="en-US" sz="1400" dirty="0">
                        <a:latin typeface="Calibri" charset="0"/>
                        <a:ea typeface="Calibri" charset="0"/>
                        <a:cs typeface="Calibri" charset="0"/>
                      </a:endParaRPr>
                    </a:p>
                  </a:txBody>
                  <a:tcPr marL="54864" marR="54864" marT="54864" marB="54864" anchor="ctr">
                    <a:lnL w="6350" cap="flat" cmpd="sng" algn="ctr">
                      <a:solidFill>
                        <a:srgbClr val="E2CDBB"/>
                      </a:solidFill>
                      <a:prstDash val="solid"/>
                      <a:round/>
                      <a:headEnd type="none" w="med" len="med"/>
                      <a:tailEnd type="none" w="med" len="med"/>
                    </a:lnL>
                    <a:lnR w="6350" cap="flat" cmpd="sng" algn="ctr">
                      <a:solidFill>
                        <a:srgbClr val="E2CDBB"/>
                      </a:solidFill>
                      <a:prstDash val="solid"/>
                      <a:round/>
                      <a:headEnd type="none" w="med" len="med"/>
                      <a:tailEnd type="none" w="med" len="med"/>
                    </a:lnR>
                    <a:lnT w="6350" cap="flat" cmpd="sng" algn="ctr">
                      <a:solidFill>
                        <a:srgbClr val="E2CDBB"/>
                      </a:solidFill>
                      <a:prstDash val="solid"/>
                      <a:round/>
                      <a:headEnd type="none" w="med" len="med"/>
                      <a:tailEnd type="none" w="med" len="med"/>
                    </a:lnT>
                    <a:lnB w="6350" cap="flat" cmpd="sng" algn="ctr">
                      <a:solidFill>
                        <a:srgbClr val="E2CDBB"/>
                      </a:solidFill>
                      <a:prstDash val="solid"/>
                      <a:round/>
                      <a:headEnd type="none" w="med" len="med"/>
                      <a:tailEnd type="none" w="med" len="med"/>
                    </a:lnB>
                    <a:solidFill>
                      <a:srgbClr val="FBF4EC"/>
                    </a:solidFill>
                  </a:tcPr>
                </a:tc>
              </a:tr>
            </a:tbl>
          </a:graphicData>
        </a:graphic>
      </p:graphicFrame>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F5C51"/>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HeatCast NCR">
  <a:themeElements>
    <a:clrScheme name="HeatCast NCR">
      <a:dk1>
        <a:srgbClr val="2E1406"/>
      </a:dk1>
      <a:lt1>
        <a:srgbClr val="FFFFFF"/>
      </a:lt1>
      <a:dk2>
        <a:srgbClr val="A63A0C"/>
      </a:dk2>
      <a:lt2>
        <a:srgbClr val="FBF4EC"/>
      </a:lt2>
      <a:accent1>
        <a:srgbClr val="A63A0C"/>
      </a:accent1>
      <a:accent2>
        <a:srgbClr val="F28C28"/>
      </a:accent2>
      <a:accent3>
        <a:srgbClr val="F2C14E"/>
      </a:accent3>
      <a:accent4>
        <a:srgbClr val="C0392B"/>
      </a:accent4>
      <a:accent5>
        <a:srgbClr val="6F5C51"/>
      </a:accent5>
      <a:accent6>
        <a:srgbClr val="4C9BE8"/>
      </a:accent6>
      <a:hlink>
        <a:srgbClr val="A63A0C"/>
      </a:hlink>
      <a:folHlink>
        <a:srgbClr val="6F5C51"/>
      </a:folHlink>
    </a:clrScheme>
    <a:fontScheme name="HeatCast NC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HeatCast NCR</dc:title>
  <dc:subject>PptxGenJS Presentation</dc:subject>
  <dc:creator>Edrian Tala, Harry Verdeflor, Marc Lawrence David</dc:creator>
  <cp:lastModifiedBy>Edrian Tala, Harry Verdeflor, Marc Lawrence David</cp:lastModifiedBy>
  <cp:revision>1</cp:revision>
  <dcterms:created xsi:type="dcterms:W3CDTF">2026-10-14T15:52:08Z</dcterms:created>
  <dcterms:modified xsi:type="dcterms:W3CDTF">2026-10-14T15:52:08Z</dcterms:modified>
</cp:coreProperties>
</file>