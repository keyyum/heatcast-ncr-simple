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338540d-c311-90af-3f1b-d0e690bfba50}">
          <p14:sldIdLst>
            <p14:sldId id="256"/>
            <p14:sldId id="257"/>
          </p14:sldIdLst>
        </p14:section>
        <p14:section name="Data" id="{5411c116-6c1d-20f7-6c36-547a3913bb3c}">
          <p14:sldIdLst>
            <p14:sldId id="258"/>
          </p14:sldIdLst>
        </p14:section>
        <p14:section name="Method" id="{4189958c-b2fc-a163-80e3-13f27150b351}">
          <p14:sldIdLst>
            <p14:sldId id="259"/>
            <p14:sldId id="260"/>
          </p14:sldIdLst>
        </p14:section>
        <p14:section name="Results" id="{f9275112-0185-d4e7-b73f-1a1bae169e5d}">
          <p14:sldIdLst>
            <p14:sldId id="261"/>
            <p14:sldId id="262"/>
          </p14:sldIdLst>
        </p14:section>
        <p14:section name="Conclusion" id="{5e915823-6a58-2e71-6089-3c7b0483058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2E1406"/>
                </a:solidFill>
                <a:latin typeface="+mn-lt"/>
              </a:defRPr>
            </a:pPr>
            <a:r>
              <a:rPr sz="1400" b="0" i="0" u="none" strike="noStrike">
                <a:solidFill>
                  <a:srgbClr val="2E1406"/>
                </a:solidFill>
                <a:latin typeface="+mn-lt"/>
              </a:rPr>
              <a:t>Share of each level by month</a:t>
            </a:r>
          </a:p>
        </c:rich>
      </c:tx>
      <c:layout/>
      <c:overlay val="0"/>
    </c:title>
    <c:autoTitleDeleted val="0"/>
    <c:plotArea>
      <c:layout/>
      <c:barChart>
        <c:barDir val="col"/>
        <c:grouping val="percentStacked"/>
        <c:varyColors val="0"/>
        <c:ser>
          <c:idx val="0"/>
          <c:order val="0"/>
          <c:tx>
            <c:strRef>
              <c:f>Sheet1!$B$1</c:f>
              <c:strCache>
                <c:ptCount val="1"/>
                <c:pt idx="0">
                  <c:v>Not Hazardous</c:v>
                </c:pt>
              </c:strCache>
            </c:strRef>
          </c:tx>
          <c:spPr>
            <a:solidFill>
              <a:srgbClr val="4C9BE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c:v>
                  </c:pt>
                  <c:pt idx="1">
                    <c:v>F</c:v>
                  </c:pt>
                  <c:pt idx="2">
                    <c:v>M</c:v>
                  </c:pt>
                  <c:pt idx="3">
                    <c:v>A</c:v>
                  </c:pt>
                  <c:pt idx="4">
                    <c:v>M</c:v>
                  </c:pt>
                  <c:pt idx="5">
                    <c:v>J</c:v>
                  </c:pt>
                  <c:pt idx="6">
                    <c:v>J</c:v>
                  </c:pt>
                  <c:pt idx="7">
                    <c:v>A</c:v>
                  </c:pt>
                  <c:pt idx="8">
                    <c:v>S</c:v>
                  </c:pt>
                  <c:pt idx="9">
                    <c:v>O</c:v>
                  </c:pt>
                  <c:pt idx="10">
                    <c:v>N</c:v>
                  </c:pt>
                  <c:pt idx="11">
                    <c:v>D</c:v>
                  </c:pt>
                </c:lvl>
              </c:multiLvlStrCache>
            </c:multiLvlStrRef>
          </c:cat>
          <c:val>
            <c:numRef>
              <c:f>Sheet1!$B$2:$B$13</c:f>
              <c:numCache>
                <c:formatCode>General</c:formatCode>
                <c:ptCount val="12"/>
                <c:pt idx="0">
                  <c:v>0.5</c:v>
                </c:pt>
                <c:pt idx="1">
                  <c:v>0.6</c:v>
                </c:pt>
                <c:pt idx="2">
                  <c:v>0</c:v>
                </c:pt>
                <c:pt idx="3">
                  <c:v>0</c:v>
                </c:pt>
                <c:pt idx="4">
                  <c:v>0</c:v>
                </c:pt>
                <c:pt idx="5">
                  <c:v>0</c:v>
                </c:pt>
                <c:pt idx="6">
                  <c:v>0</c:v>
                </c:pt>
                <c:pt idx="7">
                  <c:v>0</c:v>
                </c:pt>
                <c:pt idx="8">
                  <c:v>0</c:v>
                </c:pt>
                <c:pt idx="9">
                  <c:v>0</c:v>
                </c:pt>
                <c:pt idx="10">
                  <c:v>0</c:v>
                </c:pt>
                <c:pt idx="11">
                  <c:v>1</c:v>
                </c:pt>
              </c:numCache>
            </c:numRef>
          </c:val>
        </c:ser>
        <c:ser>
          <c:idx val="1"/>
          <c:order val="1"/>
          <c:tx>
            <c:strRef>
              <c:f>Sheet1!$C$1</c:f>
              <c:strCache>
                <c:ptCount val="1"/>
                <c:pt idx="0">
                  <c:v>Caution</c:v>
                </c:pt>
              </c:strCache>
            </c:strRef>
          </c:tx>
          <c:spPr>
            <a:solidFill>
              <a:srgbClr val="F2C14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c:v>
                  </c:pt>
                  <c:pt idx="1">
                    <c:v>F</c:v>
                  </c:pt>
                  <c:pt idx="2">
                    <c:v>M</c:v>
                  </c:pt>
                  <c:pt idx="3">
                    <c:v>A</c:v>
                  </c:pt>
                  <c:pt idx="4">
                    <c:v>M</c:v>
                  </c:pt>
                  <c:pt idx="5">
                    <c:v>J</c:v>
                  </c:pt>
                  <c:pt idx="6">
                    <c:v>J</c:v>
                  </c:pt>
                  <c:pt idx="7">
                    <c:v>A</c:v>
                  </c:pt>
                  <c:pt idx="8">
                    <c:v>S</c:v>
                  </c:pt>
                  <c:pt idx="9">
                    <c:v>O</c:v>
                  </c:pt>
                  <c:pt idx="10">
                    <c:v>N</c:v>
                  </c:pt>
                  <c:pt idx="11">
                    <c:v>D</c:v>
                  </c:pt>
                </c:lvl>
              </c:multiLvlStrCache>
            </c:multiLvlStrRef>
          </c:cat>
          <c:val>
            <c:numRef>
              <c:f>Sheet1!$C$2:$C$13</c:f>
              <c:numCache>
                <c:formatCode>General</c:formatCode>
                <c:ptCount val="12"/>
                <c:pt idx="0">
                  <c:v>62</c:v>
                </c:pt>
                <c:pt idx="1">
                  <c:v>29.3</c:v>
                </c:pt>
                <c:pt idx="2">
                  <c:v>13.5</c:v>
                </c:pt>
                <c:pt idx="3">
                  <c:v>1.9</c:v>
                </c:pt>
                <c:pt idx="4">
                  <c:v>0</c:v>
                </c:pt>
                <c:pt idx="5">
                  <c:v>0</c:v>
                </c:pt>
                <c:pt idx="6">
                  <c:v>6.3</c:v>
                </c:pt>
                <c:pt idx="7">
                  <c:v>2.8</c:v>
                </c:pt>
                <c:pt idx="8">
                  <c:v>6.3</c:v>
                </c:pt>
                <c:pt idx="9">
                  <c:v>3.2</c:v>
                </c:pt>
                <c:pt idx="10">
                  <c:v>2.2</c:v>
                </c:pt>
                <c:pt idx="11">
                  <c:v>34.6</c:v>
                </c:pt>
              </c:numCache>
            </c:numRef>
          </c:val>
        </c:ser>
        <c:ser>
          <c:idx val="2"/>
          <c:order val="2"/>
          <c:tx>
            <c:strRef>
              <c:f>Sheet1!$D$1</c:f>
              <c:strCache>
                <c:ptCount val="1"/>
                <c:pt idx="0">
                  <c:v>Extreme Caution</c:v>
                </c:pt>
              </c:strCache>
            </c:strRef>
          </c:tx>
          <c:spPr>
            <a:solidFill>
              <a:srgbClr val="F28C2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c:v>
                  </c:pt>
                  <c:pt idx="1">
                    <c:v>F</c:v>
                  </c:pt>
                  <c:pt idx="2">
                    <c:v>M</c:v>
                  </c:pt>
                  <c:pt idx="3">
                    <c:v>A</c:v>
                  </c:pt>
                  <c:pt idx="4">
                    <c:v>M</c:v>
                  </c:pt>
                  <c:pt idx="5">
                    <c:v>J</c:v>
                  </c:pt>
                  <c:pt idx="6">
                    <c:v>J</c:v>
                  </c:pt>
                  <c:pt idx="7">
                    <c:v>A</c:v>
                  </c:pt>
                  <c:pt idx="8">
                    <c:v>S</c:v>
                  </c:pt>
                  <c:pt idx="9">
                    <c:v>O</c:v>
                  </c:pt>
                  <c:pt idx="10">
                    <c:v>N</c:v>
                  </c:pt>
                  <c:pt idx="11">
                    <c:v>D</c:v>
                  </c:pt>
                </c:lvl>
              </c:multiLvlStrCache>
            </c:multiLvlStrRef>
          </c:cat>
          <c:val>
            <c:numRef>
              <c:f>Sheet1!$D$2:$D$13</c:f>
              <c:numCache>
                <c:formatCode>General</c:formatCode>
                <c:ptCount val="12"/>
                <c:pt idx="0">
                  <c:v>37.5</c:v>
                </c:pt>
                <c:pt idx="1">
                  <c:v>70.1</c:v>
                </c:pt>
                <c:pt idx="2">
                  <c:v>83.6</c:v>
                </c:pt>
                <c:pt idx="3">
                  <c:v>86</c:v>
                </c:pt>
                <c:pt idx="4">
                  <c:v>68.9</c:v>
                </c:pt>
                <c:pt idx="5">
                  <c:v>78.1</c:v>
                </c:pt>
                <c:pt idx="6">
                  <c:v>84.8</c:v>
                </c:pt>
                <c:pt idx="7">
                  <c:v>89.9</c:v>
                </c:pt>
                <c:pt idx="8">
                  <c:v>86.9</c:v>
                </c:pt>
                <c:pt idx="9">
                  <c:v>96.1</c:v>
                </c:pt>
                <c:pt idx="10">
                  <c:v>95.8</c:v>
                </c:pt>
                <c:pt idx="11">
                  <c:v>64.4</c:v>
                </c:pt>
              </c:numCache>
            </c:numRef>
          </c:val>
        </c:ser>
        <c:ser>
          <c:idx val="3"/>
          <c:order val="3"/>
          <c:tx>
            <c:strRef>
              <c:f>Sheet1!$E$1</c:f>
              <c:strCache>
                <c:ptCount val="1"/>
                <c:pt idx="0">
                  <c:v>Danger</c:v>
                </c:pt>
              </c:strCache>
            </c:strRef>
          </c:tx>
          <c:spPr>
            <a:solidFill>
              <a:srgbClr val="C039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J</c:v>
                  </c:pt>
                  <c:pt idx="1">
                    <c:v>F</c:v>
                  </c:pt>
                  <c:pt idx="2">
                    <c:v>M</c:v>
                  </c:pt>
                  <c:pt idx="3">
                    <c:v>A</c:v>
                  </c:pt>
                  <c:pt idx="4">
                    <c:v>M</c:v>
                  </c:pt>
                  <c:pt idx="5">
                    <c:v>J</c:v>
                  </c:pt>
                  <c:pt idx="6">
                    <c:v>J</c:v>
                  </c:pt>
                  <c:pt idx="7">
                    <c:v>A</c:v>
                  </c:pt>
                  <c:pt idx="8">
                    <c:v>S</c:v>
                  </c:pt>
                  <c:pt idx="9">
                    <c:v>O</c:v>
                  </c:pt>
                  <c:pt idx="10">
                    <c:v>N</c:v>
                  </c:pt>
                  <c:pt idx="11">
                    <c:v>D</c:v>
                  </c:pt>
                </c:lvl>
              </c:multiLvlStrCache>
            </c:multiLvlStrRef>
          </c:cat>
          <c:val>
            <c:numRef>
              <c:f>Sheet1!$E$2:$E$13</c:f>
              <c:numCache>
                <c:formatCode>General</c:formatCode>
                <c:ptCount val="12"/>
                <c:pt idx="0">
                  <c:v>0</c:v>
                </c:pt>
                <c:pt idx="1">
                  <c:v>0</c:v>
                </c:pt>
                <c:pt idx="2">
                  <c:v>2.9</c:v>
                </c:pt>
                <c:pt idx="3">
                  <c:v>12.1</c:v>
                </c:pt>
                <c:pt idx="4">
                  <c:v>31.1</c:v>
                </c:pt>
                <c:pt idx="5">
                  <c:v>21.9</c:v>
                </c:pt>
                <c:pt idx="6">
                  <c:v>8.9</c:v>
                </c:pt>
                <c:pt idx="7">
                  <c:v>7.3</c:v>
                </c:pt>
                <c:pt idx="8">
                  <c:v>6.8</c:v>
                </c:pt>
                <c:pt idx="9">
                  <c:v>0.8</c:v>
                </c:pt>
                <c:pt idx="10">
                  <c:v>2</c:v>
                </c:pt>
                <c:pt idx="11">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A675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9D9C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A67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E140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Macro F1 (core 3 levels)</c:v>
                </c:pt>
              </c:strCache>
            </c:strRef>
          </c:tx>
          <c:spPr>
            <a:solidFill>
              <a:srgbClr val="E9A26B"/>
            </a:solidFill>
            <a:effectLst/>
          </c:spPr>
          <c:invertIfNegative val="0"/>
          <c:dLbls>
            <c:numFmt formatCode="0.000" sourceLinked="0"/>
            <c:txPr>
              <a:bodyPr/>
              <a:lstStyle/>
              <a:p>
                <a:pPr>
                  <a:defRPr b="0" i="0" strike="noStrike" sz="1200" u="none">
                    <a:solidFill>
                      <a:srgbClr val="2E1406"/>
                    </a:solidFill>
                    <a:latin typeface="+mn-lt"/>
                  </a:defRPr>
                </a:pPr>
              </a:p>
            </c:txPr>
            <c:showLegendKey val="0"/>
            <c:showVal val="1"/>
            <c:showCatName val="0"/>
            <c:showSerName val="0"/>
            <c:showPercent val="0"/>
            <c:showBubbleSize val="0"/>
            <c:showLeaderLines val="0"/>
          </c:dLbls>
          <c:cat>
            <c:multiLvlStrRef>
              <c:f>Sheet1!$A$2:$A$5</c:f>
              <c:multiLvlStrCache>
                <c:ptCount val="4"/>
                <c:lvl>
                  <c:pt idx="0">
                    <c:v>Copy-today rule</c:v>
                  </c:pt>
                  <c:pt idx="1">
                    <c:v>Logistic Regression</c:v>
                  </c:pt>
                  <c:pt idx="2">
                    <c:v>Random Forest</c:v>
                  </c:pt>
                  <c:pt idx="3">
                    <c:v>Gradient Boosting</c:v>
                  </c:pt>
                </c:lvl>
              </c:multiLvlStrCache>
            </c:multiLvlStrRef>
          </c:cat>
          <c:val>
            <c:numRef>
              <c:f>Sheet1!$B$2:$B$5</c:f>
              <c:numCache>
                <c:formatCode>General</c:formatCode>
                <c:ptCount val="4"/>
                <c:pt idx="0">
                  <c:v>0.679</c:v>
                </c:pt>
                <c:pt idx="1">
                  <c:v>0.632</c:v>
                </c:pt>
                <c:pt idx="2">
                  <c:v>0.653</c:v>
                </c:pt>
                <c:pt idx="3">
                  <c:v>0.643</c:v>
                </c:pt>
              </c:numCache>
            </c:numRef>
          </c:val>
        </c:ser>
        <c:ser>
          <c:idx val="1"/>
          <c:order val="1"/>
          <c:tx>
            <c:strRef>
              <c:f>Sheet1!$C$1</c:f>
              <c:strCache>
                <c:ptCount val="1"/>
                <c:pt idx="0">
                  <c:v>Danger recall</c:v>
                </c:pt>
              </c:strCache>
            </c:strRef>
          </c:tx>
          <c:spPr>
            <a:solidFill>
              <a:srgbClr val="A63A0C"/>
            </a:solidFill>
            <a:effectLst/>
          </c:spPr>
          <c:invertIfNegative val="0"/>
          <c:dLbls>
            <c:numFmt formatCode="0.000" sourceLinked="0"/>
            <c:txPr>
              <a:bodyPr/>
              <a:lstStyle/>
              <a:p>
                <a:pPr>
                  <a:defRPr b="0" i="0" strike="noStrike" sz="1200" u="none">
                    <a:solidFill>
                      <a:srgbClr val="2E1406"/>
                    </a:solidFill>
                    <a:latin typeface="+mn-lt"/>
                  </a:defRPr>
                </a:pPr>
              </a:p>
            </c:txPr>
            <c:showLegendKey val="0"/>
            <c:showVal val="1"/>
            <c:showCatName val="0"/>
            <c:showSerName val="0"/>
            <c:showPercent val="0"/>
            <c:showBubbleSize val="0"/>
            <c:showLeaderLines val="0"/>
          </c:dLbls>
          <c:cat>
            <c:multiLvlStrRef>
              <c:f>Sheet1!$A$2:$A$5</c:f>
              <c:multiLvlStrCache>
                <c:ptCount val="4"/>
                <c:lvl>
                  <c:pt idx="0">
                    <c:v>Copy-today rule</c:v>
                  </c:pt>
                  <c:pt idx="1">
                    <c:v>Logistic Regression</c:v>
                  </c:pt>
                  <c:pt idx="2">
                    <c:v>Random Forest</c:v>
                  </c:pt>
                  <c:pt idx="3">
                    <c:v>Gradient Boosting</c:v>
                  </c:pt>
                </c:lvl>
              </c:multiLvlStrCache>
            </c:multiLvlStrRef>
          </c:cat>
          <c:val>
            <c:numRef>
              <c:f>Sheet1!$C$2:$C$5</c:f>
              <c:numCache>
                <c:formatCode>General</c:formatCode>
                <c:ptCount val="4"/>
                <c:pt idx="0">
                  <c:v>0.518</c:v>
                </c:pt>
                <c:pt idx="1">
                  <c:v>0.276</c:v>
                </c:pt>
                <c:pt idx="2">
                  <c:v>0.672</c:v>
                </c:pt>
                <c:pt idx="3">
                  <c:v>0.67</c:v>
                </c:pt>
              </c:numCache>
            </c:numRef>
          </c:val>
        </c:ser>
        <c:dLbls>
          <c:numFmt formatCode="0.000" sourceLinked="0"/>
          <c:txPr>
            <a:bodyPr/>
            <a:lstStyle/>
            <a:p>
              <a:pPr>
                <a:defRPr b="0" i="0" strike="noStrike" sz="1200" u="none">
                  <a:solidFill>
                    <a:srgbClr val="2E140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E1406"/>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2E140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(about 30 seconds)
Good morning. We are Edrian Tala, Harry Verdeflor and Marc Lawrence David. Our project is HeatCast NCR. Our question is simple: can machine learning predict tomorrow's heat level in Metro Manila better than just copying today's level? We will show you the data, how we compared three models fairly, the result on an untouched test year, and then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(about 1 minute)
Air temperature alone understates how hot it feels when it is humid; the heat index combines both. PAGASA groups it into five levels, shown at the bottom left. Danger starts at 42 degrees. Schools, employers of outdoor workers and city offices need to know a day ahead whether tomorrow will reach Danger. Our data: the 16 cities of the NCR, 29,168 city-days from 2021 to 2025, built from hourly ERA5 weather from Open-Meteo. Each row has five values about today plus the city, and the target is tomorrow's level in that same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(about 1 minute 30)
We looked at the training days only, so nothing from the test year guided a decision. Three findings mattered most. First, the levels are very unbalanced: Danger is only 7.9% of rows and Extreme Caution 78.5%, so a model that always says Extreme Caution would be 78% accurate. That is why we judge the models with macro F1 and Danger recall, not accuracy, and why we tried class weights. Second, the chart: Danger is seasonal. It peaks from April to June, 31% of May rows, and never happens from December to February. So our split follows time. Third, cities differ a lot: Malabon, Navotas and Valenzuela have Danger on 17% of days, Muntinlupa and San Juan on 2%, so every city keeps its own row and the city is an input. We also checked missing values and duplicates (none) and kept storm days, because they are real weather, not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(about 1 minute)
To compare the models fairly, all three used exactly the same setup. The data is time-ordered, so we split by date, never at random: 2021 to 2024 for training, and the last 365 days, 2025, for the final test, which we used only once. One day is skipped between them so the last training label is not the first test day. All tuning happened inside the training days, on five time-ordered folds: each fold learns from earlier days and is checked on the next block. Our main score is macro F1 over Caution, Extreme Caution and Danger. The rule we fixed in advance: a model must first catch more Danger days than the baseline, and among those the highest macro F1 wins. The baseline is simply copying today's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(about 1 minute 30, each of us says one line)
HARRY: These are the cross-validation results. The light bars are macro F1, the dark bars Danger recall. The copy-today rule, on the left, is hard to beat: macro F1 0.679. None of our models beat it on macro F1. My model, Logistic Regression, was the most precise when it called Danger, but it caught only 28% of Danger days.
EDRIAN: Random Forest with balanced class weights caught 67% of Danger days, more than the rule, and had the best macro F1 of the three, so by our rule it was selected.
MARC: Gradient Boosting was almost the same as Random Forest, 0.643 against 0.653, which is within the spread between folds.
HARRY: So the trees trade a little overall score for many more Danger days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 (about 1 minute)
Only after choosing the model did we touch the test year, and only once. On 2025 the Random Forest caught 293 of the 347 Danger days, 84%, while copying today's level caught 60%. The cost: only 36% of its Danger warnings were right, about two false alarms for every real Danger day. Its macro F1, 0.614, and accuracy, 0.731, are below the rule's 0.675 and 0.824. So it is not a better all-round forecaster, but it is a useful early warning for users who would rather prepare for a Danger day that does not come than miss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EDRIAN (about 2 minutes, live)
Now the app, live at heatcast-ncr.streamlit.app. (Open it before the talk; the first load can take a minute.)
1. Choose Manila and type a hot day: heat index 45.5, lowest temperature 29, rain 0, pressure 1008, sunshine 7000. Click the button: Danger, about 90%, and Manila turns red on the map. Point out the probability bars and the note that it is a decision aid, not a PAGASA advisory.
2. Change rain to -5: the app refuses it and shows the accepted range, with no prediction.
3. Clear all boxes and click: every missing value is named.
If the internet fails, use this screenshot, or run it locally: streamlit run app/streamlit_app.py.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(about 1 minute)
To answer our question: no, none of the three models beat simply copying today's level on overall score. Tomorrow's heat is mostly today's heat. But machine learning adds something specific: with balanced class weights, the Random Forest caught 84% of the Danger days in 2025, so we deployed it as an early-warning aid. Its limits: the data are weather-model estimates, not station readings, and we used only five years. Next we would add the month and the previous days' heat index, a weather forecast for tomorrow, more years of data, and let users choose their own Danger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Thank you. We are happy to take questions. Likely questions: why not accuracy (imbalance), why a chronological split (time-ordered data), why Random Forest over Gradient Boosting (selection rule; the two are almost tied), and why the model did not beat the rule (tomorrow mostly equals today; only today's values are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11480" y="347472"/>
            <a:ext cx="11368735" cy="6163056"/>
          </a:xfrm>
          <a:prstGeom prst="rect">
            <a:avLst/>
          </a:prstGeom>
          <a:ln w="2222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4EC"/>
        </a:solidFill>
      </p:bgPr>
    </p:bg>
    <p:spTree>
      <p:nvGrpSpPr>
        <p:cNvPr id="1" name=""/>
        <p:cNvGrpSpPr/>
        <p:nvPr/>
      </p:nvGrpSpPr>
      <p:grpSpPr>
        <a:xfrm>
          <a:off x="0" y="0"/>
          <a:ext cx="0" cy="0"/>
          <a:chOff x="0" y="0"/>
          <a:chExt cx="0" cy="0"/>
        </a:xfrm>
      </p:grpSpPr>
      <p:sp>
        <p:nvSpPr>
          <p:cNvPr id="2" name="Shape 0"/>
          <p:cNvSpPr/>
          <p:nvPr/>
        </p:nvSpPr>
        <p:spPr>
          <a:xfrm>
            <a:off x="411480" y="347472"/>
            <a:ext cx="11368735" cy="6163056"/>
          </a:xfrm>
          <a:prstGeom prst="rect">
            <a:avLst/>
          </a:prstGeom>
          <a:ln w="9525">
            <a:solidFill>
              <a:srgbClr val="2E1406"/>
            </a:solidFill>
            <a:prstDash val="solid"/>
          </a:ln>
        </p:spPr>
      </p:sp>
      <p:sp>
        <p:nvSpPr>
          <p:cNvPr id="3" name="Text 1"/>
          <p:cNvSpPr/>
          <p:nvPr>
            <p:ph idx="101" type="title" hasCustomPrompt="1"/>
          </p:nvPr>
        </p:nvSpPr>
        <p:spPr>
          <a:xfrm>
            <a:off x="868680" y="640080"/>
            <a:ext cx="10469880" cy="685800"/>
          </a:xfrm>
          <a:prstGeom prst="rect">
            <a:avLst/>
          </a:prstGeom>
          <a:noFill/>
          <a:ln/>
        </p:spPr>
        <p:txBody>
          <a:bodyPr wrap="square" rtlCol="0"/>
          <a:lstStyle>
            <a:lvl1pPr indent="0" marL="0">
              <a:buNone/>
              <a:defRPr lang="en-US" sz="3400" spc="500" kern="0" dirty="0">
                <a:solidFill>
                  <a:schemeClr val="tx1"/>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uthors"/>
          <p:cNvSpPr txBox="1"/>
          <p:nvPr/>
        </p:nvSpPr>
        <p:spPr>
          <a:xfrm>
            <a:off x="2804008" y="960120"/>
            <a:ext cx="6583680" cy="411480"/>
          </a:xfrm>
          <a:prstGeom prst="roundRect">
            <a:avLst>
              <a:gd name="adj" fmla="val 17778"/>
            </a:avLst>
          </a:prstGeom>
          <a:solidFill>
            <a:srgbClr val="FFFFFF"/>
          </a:solidFill>
          <a:ln/>
        </p:spPr>
        <p:txBody>
          <a:bodyPr wrap="square" rtlCol="0" anchor="ctr"/>
          <a:lstStyle/>
          <a:p>
            <a:pPr algn="ctr" indent="0" marL="0">
              <a:buNone/>
            </a:pPr>
            <a:r>
              <a:rPr lang="en-US" sz="1500" dirty="0">
                <a:solidFill>
                  <a:schemeClr val="tx1"/>
                </a:solidFill>
              </a:rPr>
              <a:t>Edrian Tala   ·   Harry Verdeflor   ·   Marc Lawrence David</a:t>
            </a:r>
            <a:endParaRPr lang="en-US" sz="1500" dirty="0"/>
          </a:p>
        </p:txBody>
      </p:sp>
      <p:sp>
        <p:nvSpPr>
          <p:cNvPr id="3" name="Title"/>
          <p:cNvSpPr txBox="1"/>
          <p:nvPr/>
        </p:nvSpPr>
        <p:spPr>
          <a:xfrm>
            <a:off x="822960" y="2240280"/>
            <a:ext cx="10545775" cy="1097280"/>
          </a:xfrm>
          <a:prstGeom prst="rect">
            <a:avLst/>
          </a:prstGeom>
          <a:noFill/>
          <a:ln/>
        </p:spPr>
        <p:txBody>
          <a:bodyPr wrap="square" rtlCol="0" anchor="ctr"/>
          <a:lstStyle/>
          <a:p>
            <a:pPr algn="ctr" indent="0" marL="0">
              <a:buNone/>
            </a:pPr>
            <a:r>
              <a:rPr lang="en-US" sz="6600" spc="1600" kern="0" dirty="0">
                <a:solidFill>
                  <a:schemeClr val="tx1"/>
                </a:solidFill>
                <a:latin typeface="Cambria" pitchFamily="34" charset="0"/>
                <a:ea typeface="Cambria" pitchFamily="34" charset="-122"/>
                <a:cs typeface="Cambria" pitchFamily="34" charset="-120"/>
              </a:rPr>
              <a:t>HEATCAST NCR</a:t>
            </a:r>
            <a:endParaRPr lang="en-US" sz="6600" dirty="0"/>
          </a:p>
        </p:txBody>
      </p:sp>
      <p:sp>
        <p:nvSpPr>
          <p:cNvPr id="4" name="Question"/>
          <p:cNvSpPr txBox="1"/>
          <p:nvPr/>
        </p:nvSpPr>
        <p:spPr>
          <a:xfrm>
            <a:off x="1463040" y="3429000"/>
            <a:ext cx="9265615" cy="822960"/>
          </a:xfrm>
          <a:prstGeom prst="rect">
            <a:avLst/>
          </a:prstGeom>
          <a:noFill/>
          <a:ln/>
        </p:spPr>
        <p:txBody>
          <a:bodyPr wrap="square" rtlCol="0" anchor="t"/>
          <a:lstStyle/>
          <a:p>
            <a:pPr algn="ctr" indent="0" marL="0">
              <a:buNone/>
            </a:pPr>
            <a:r>
              <a:rPr lang="en-US" sz="2400" i="1" dirty="0">
                <a:solidFill>
                  <a:srgbClr val="A63A0C"/>
                </a:solidFill>
                <a:latin typeface="Cambria" pitchFamily="34" charset="0"/>
                <a:ea typeface="Cambria" pitchFamily="34" charset="-122"/>
                <a:cs typeface="Cambria" pitchFamily="34" charset="-120"/>
              </a:rPr>
              <a:t>Can machine learning predict tomorrow's heat level in Metro Manila better than copying today's?</a:t>
            </a:r>
            <a:endParaRPr lang="en-US" sz="2400" dirty="0"/>
          </a:p>
        </p:txBody>
      </p:sp>
      <p:sp>
        <p:nvSpPr>
          <p:cNvPr id="5" name="Course"/>
          <p:cNvSpPr txBox="1"/>
          <p:nvPr/>
        </p:nvSpPr>
        <p:spPr>
          <a:xfrm>
            <a:off x="1371600" y="5577840"/>
            <a:ext cx="9448495" cy="365760"/>
          </a:xfrm>
          <a:prstGeom prst="rect">
            <a:avLst/>
          </a:prstGeom>
          <a:noFill/>
          <a:ln/>
        </p:spPr>
        <p:txBody>
          <a:bodyPr wrap="square" rtlCol="0" anchor="ctr"/>
          <a:lstStyle/>
          <a:p>
            <a:pPr algn="ctr" indent="0" marL="0">
              <a:buNone/>
            </a:pPr>
            <a:r>
              <a:rPr lang="en-US" sz="1400" dirty="0">
                <a:solidFill>
                  <a:schemeClr val="tx1"/>
                </a:solidFill>
              </a:rPr>
              <a:t>CCMACLRL Introduction to Machine Learning  ·  COM241ML  ·  Dr. Armida P. Salazar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indent="0" marL="0">
              <a:buNone/>
            </a:pPr>
            <a:r>
              <a:rPr lang="en-US" sz="3400" spc="500" kern="0" dirty="0">
                <a:solidFill>
                  <a:schemeClr val="tx1"/>
                </a:solidFill>
                <a:latin typeface="Cambria" pitchFamily="34" charset="0"/>
                <a:ea typeface="Cambria" pitchFamily="34" charset="-122"/>
                <a:cs typeface="Cambria" pitchFamily="34" charset="-120"/>
              </a:rPr>
              <a:t>THE PROBLEM AND THE DATA</a:t>
            </a:r>
            <a:endParaRPr lang="en-US" sz="3400" dirty="0"/>
          </a:p>
        </p:txBody>
      </p:sp>
      <p:sp>
        <p:nvSpPr>
          <p:cNvPr id="3" name="Subtitle pill"/>
          <p:cNvSpPr txBox="1"/>
          <p:nvPr/>
        </p:nvSpPr>
        <p:spPr>
          <a:xfrm>
            <a:off x="3261208" y="1417320"/>
            <a:ext cx="5669280" cy="402336"/>
          </a:xfrm>
          <a:prstGeom prst="rect">
            <a:avLst/>
          </a:prstGeom>
          <a:solidFill>
            <a:srgbClr val="F6C9A0"/>
          </a:solidFill>
          <a:ln/>
        </p:spPr>
        <p:txBody>
          <a:bodyPr wrap="square" lIns="50800" tIns="50800" rIns="50800" bIns="50800" rtlCol="0" anchor="ctr"/>
          <a:lstStyle/>
          <a:p>
            <a:pPr algn="ctr" indent="0" marL="0">
              <a:buNone/>
            </a:pPr>
            <a:r>
              <a:rPr lang="en-US" sz="1400" spc="100" kern="0" dirty="0">
                <a:solidFill>
                  <a:schemeClr val="tx1"/>
                </a:solidFill>
              </a:rPr>
              <a:t>Next-day heat risk for the 16 cities of Metro Manila</a:t>
            </a:r>
            <a:endParaRPr lang="en-US" sz="1400" dirty="0"/>
          </a:p>
        </p:txBody>
      </p:sp>
      <p:sp>
        <p:nvSpPr>
          <p:cNvPr id="4" name="Problem text"/>
          <p:cNvSpPr txBox="1"/>
          <p:nvPr/>
        </p:nvSpPr>
        <p:spPr>
          <a:xfrm>
            <a:off x="868680" y="2103120"/>
            <a:ext cx="4800600" cy="2194560"/>
          </a:xfrm>
          <a:prstGeom prst="rect">
            <a:avLst/>
          </a:prstGeom>
          <a:noFill/>
          <a:ln/>
        </p:spPr>
        <p:txBody>
          <a:bodyPr wrap="square" lIns="0" tIns="0" rIns="0" bIns="0" rtlCol="0" anchor="t"/>
          <a:lstStyle/>
          <a:p>
            <a:pPr indent="0" marL="0">
              <a:spcAft>
                <a:spcPts val="1200"/>
              </a:spcAft>
              <a:buNone/>
            </a:pPr>
            <a:r>
              <a:rPr lang="en-US" sz="1800" dirty="0">
                <a:solidFill>
                  <a:schemeClr val="tx1"/>
                </a:solidFill>
              </a:rPr>
              <a:t>Schools, employers of outdoor workers and city offices must decide a day ahead whether to move activities, prepare water and cooling, or warn residents.</a:t>
            </a:r>
            <a:endParaRPr lang="en-US" sz="1800" dirty="0"/>
          </a:p>
          <a:p>
            <a:pPr indent="0" marL="0">
              <a:buNone/>
            </a:pPr>
            <a:r>
              <a:rPr lang="en-US" sz="1800" dirty="0">
                <a:solidFill>
                  <a:schemeClr val="tx1"/>
                </a:solidFill>
              </a:rPr>
              <a:t>We predict the PAGASA level of tomorrow's highest heat index for each city, from today's weather in that city.</a:t>
            </a:r>
            <a:endParaRPr lang="en-US" sz="1800" dirty="0"/>
          </a:p>
        </p:txBody>
      </p:sp>
      <p:sp>
        <p:nvSpPr>
          <p:cNvPr id="5" name="Levels label"/>
          <p:cNvSpPr txBox="1"/>
          <p:nvPr/>
        </p:nvSpPr>
        <p:spPr>
          <a:xfrm>
            <a:off x="868680" y="4526280"/>
            <a:ext cx="4800600" cy="274320"/>
          </a:xfrm>
          <a:prstGeom prst="rect">
            <a:avLst/>
          </a:prstGeom>
          <a:noFill/>
          <a:ln/>
        </p:spPr>
        <p:txBody>
          <a:bodyPr wrap="square" lIns="0" tIns="0" rIns="0" bIns="0" rtlCol="0" anchor="ctr"/>
          <a:lstStyle/>
          <a:p>
            <a:pPr indent="0" marL="0">
              <a:buNone/>
            </a:pPr>
            <a:r>
              <a:rPr lang="en-US" sz="1200" dirty="0">
                <a:solidFill>
                  <a:srgbClr val="7A675C"/>
                </a:solidFill>
              </a:rPr>
              <a:t>The five PAGASA heat index levels</a:t>
            </a:r>
            <a:endParaRPr lang="en-US" sz="1200" dirty="0"/>
          </a:p>
        </p:txBody>
      </p:sp>
      <p:sp>
        <p:nvSpPr>
          <p:cNvPr id="6" name="Level Not Hazardous"/>
          <p:cNvSpPr txBox="1"/>
          <p:nvPr/>
        </p:nvSpPr>
        <p:spPr>
          <a:xfrm>
            <a:off x="868680" y="4846320"/>
            <a:ext cx="914400" cy="658368"/>
          </a:xfrm>
          <a:prstGeom prst="rect">
            <a:avLst/>
          </a:prstGeom>
          <a:solidFill>
            <a:srgbClr val="4C9BE8"/>
          </a:solidFill>
          <a:ln/>
        </p:spPr>
        <p:txBody>
          <a:bodyPr wrap="square" lIns="25400" tIns="25400" rIns="25400" bIns="25400" rtlCol="0" anchor="ctr"/>
          <a:lstStyle/>
          <a:p>
            <a:pPr algn="ctr" indent="0" marL="0">
              <a:buNone/>
            </a:pPr>
            <a:r>
              <a:rPr lang="en-US" sz="1100" b="1" dirty="0">
                <a:solidFill>
                  <a:srgbClr val="FFFFFF"/>
                </a:solidFill>
              </a:rPr>
              <a:t>Not Hazardous</a:t>
            </a:r>
            <a:endParaRPr lang="en-US" sz="1100" dirty="0"/>
          </a:p>
          <a:p>
            <a:pPr algn="ctr" indent="0" marL="0">
              <a:buNone/>
            </a:pPr>
            <a:r>
              <a:rPr lang="en-US" sz="1100" dirty="0">
                <a:solidFill>
                  <a:srgbClr val="FFFFFF"/>
                </a:solidFill>
              </a:rPr>
              <a:t>below 27 °C</a:t>
            </a:r>
            <a:endParaRPr lang="en-US" sz="1100" dirty="0"/>
          </a:p>
        </p:txBody>
      </p:sp>
      <p:sp>
        <p:nvSpPr>
          <p:cNvPr id="7" name="Level Caution"/>
          <p:cNvSpPr txBox="1"/>
          <p:nvPr/>
        </p:nvSpPr>
        <p:spPr>
          <a:xfrm>
            <a:off x="1842516" y="4846320"/>
            <a:ext cx="914400" cy="658368"/>
          </a:xfrm>
          <a:prstGeom prst="rect">
            <a:avLst/>
          </a:prstGeom>
          <a:solidFill>
            <a:srgbClr val="F2C14E"/>
          </a:solidFill>
          <a:ln/>
        </p:spPr>
        <p:txBody>
          <a:bodyPr wrap="square" lIns="25400" tIns="25400" rIns="25400" bIns="25400" rtlCol="0" anchor="ctr"/>
          <a:lstStyle/>
          <a:p>
            <a:pPr algn="ctr" indent="0" marL="0">
              <a:buNone/>
            </a:pPr>
            <a:r>
              <a:rPr lang="en-US" sz="1100" b="1" dirty="0">
                <a:solidFill>
                  <a:srgbClr val="2E1406"/>
                </a:solidFill>
              </a:rPr>
              <a:t>Caution</a:t>
            </a:r>
            <a:endParaRPr lang="en-US" sz="1100" dirty="0"/>
          </a:p>
          <a:p>
            <a:pPr algn="ctr" indent="0" marL="0">
              <a:buNone/>
            </a:pPr>
            <a:r>
              <a:rPr lang="en-US" sz="1100" dirty="0">
                <a:solidFill>
                  <a:srgbClr val="2E1406"/>
                </a:solidFill>
              </a:rPr>
              <a:t>27–32 °C</a:t>
            </a:r>
            <a:endParaRPr lang="en-US" sz="1100" dirty="0"/>
          </a:p>
        </p:txBody>
      </p:sp>
      <p:sp>
        <p:nvSpPr>
          <p:cNvPr id="8" name="Level Extreme Caution"/>
          <p:cNvSpPr txBox="1"/>
          <p:nvPr/>
        </p:nvSpPr>
        <p:spPr>
          <a:xfrm>
            <a:off x="2816352" y="4846320"/>
            <a:ext cx="914400" cy="658368"/>
          </a:xfrm>
          <a:prstGeom prst="rect">
            <a:avLst/>
          </a:prstGeom>
          <a:solidFill>
            <a:srgbClr val="F28C28"/>
          </a:solidFill>
          <a:ln/>
        </p:spPr>
        <p:txBody>
          <a:bodyPr wrap="square" lIns="25400" tIns="25400" rIns="25400" bIns="25400" rtlCol="0" anchor="ctr"/>
          <a:lstStyle/>
          <a:p>
            <a:pPr algn="ctr" indent="0" marL="0">
              <a:buNone/>
            </a:pPr>
            <a:r>
              <a:rPr lang="en-US" sz="1100" b="1" dirty="0">
                <a:solidFill>
                  <a:srgbClr val="2E1406"/>
                </a:solidFill>
              </a:rPr>
              <a:t>Extreme Caution</a:t>
            </a:r>
            <a:endParaRPr lang="en-US" sz="1100" dirty="0"/>
          </a:p>
          <a:p>
            <a:pPr algn="ctr" indent="0" marL="0">
              <a:buNone/>
            </a:pPr>
            <a:r>
              <a:rPr lang="en-US" sz="1100" dirty="0">
                <a:solidFill>
                  <a:srgbClr val="2E1406"/>
                </a:solidFill>
              </a:rPr>
              <a:t>33–41 °C</a:t>
            </a:r>
            <a:endParaRPr lang="en-US" sz="1100" dirty="0"/>
          </a:p>
        </p:txBody>
      </p:sp>
      <p:sp>
        <p:nvSpPr>
          <p:cNvPr id="9" name="Level Danger"/>
          <p:cNvSpPr txBox="1"/>
          <p:nvPr/>
        </p:nvSpPr>
        <p:spPr>
          <a:xfrm>
            <a:off x="3790188" y="4846320"/>
            <a:ext cx="914400" cy="658368"/>
          </a:xfrm>
          <a:prstGeom prst="rect">
            <a:avLst/>
          </a:prstGeom>
          <a:solidFill>
            <a:srgbClr val="C0392B"/>
          </a:solidFill>
          <a:ln/>
        </p:spPr>
        <p:txBody>
          <a:bodyPr wrap="square" lIns="25400" tIns="25400" rIns="25400" bIns="25400" rtlCol="0" anchor="ctr"/>
          <a:lstStyle/>
          <a:p>
            <a:pPr algn="ctr" indent="0" marL="0">
              <a:buNone/>
            </a:pPr>
            <a:r>
              <a:rPr lang="en-US" sz="1100" b="1" dirty="0">
                <a:solidFill>
                  <a:srgbClr val="FFFFFF"/>
                </a:solidFill>
              </a:rPr>
              <a:t>Danger</a:t>
            </a:r>
            <a:endParaRPr lang="en-US" sz="1100" dirty="0"/>
          </a:p>
          <a:p>
            <a:pPr algn="ctr" indent="0" marL="0">
              <a:buNone/>
            </a:pPr>
            <a:r>
              <a:rPr lang="en-US" sz="1100" dirty="0">
                <a:solidFill>
                  <a:srgbClr val="FFFFFF"/>
                </a:solidFill>
              </a:rPr>
              <a:t>42–51 °C</a:t>
            </a:r>
            <a:endParaRPr lang="en-US" sz="1100" dirty="0"/>
          </a:p>
        </p:txBody>
      </p:sp>
      <p:sp>
        <p:nvSpPr>
          <p:cNvPr id="10" name="Level Extreme Danger"/>
          <p:cNvSpPr txBox="1"/>
          <p:nvPr/>
        </p:nvSpPr>
        <p:spPr>
          <a:xfrm>
            <a:off x="4764024" y="4846320"/>
            <a:ext cx="914400" cy="658368"/>
          </a:xfrm>
          <a:prstGeom prst="rect">
            <a:avLst/>
          </a:prstGeom>
          <a:solidFill>
            <a:srgbClr val="6E0000"/>
          </a:solidFill>
          <a:ln/>
        </p:spPr>
        <p:txBody>
          <a:bodyPr wrap="square" lIns="25400" tIns="25400" rIns="25400" bIns="25400" rtlCol="0" anchor="ctr"/>
          <a:lstStyle/>
          <a:p>
            <a:pPr algn="ctr" indent="0" marL="0">
              <a:buNone/>
            </a:pPr>
            <a:r>
              <a:rPr lang="en-US" sz="1100" b="1" dirty="0">
                <a:solidFill>
                  <a:srgbClr val="FFFFFF"/>
                </a:solidFill>
              </a:rPr>
              <a:t>Extreme Danger</a:t>
            </a:r>
            <a:endParaRPr lang="en-US" sz="1100" dirty="0"/>
          </a:p>
          <a:p>
            <a:pPr algn="ctr" indent="0" marL="0">
              <a:buNone/>
            </a:pPr>
            <a:r>
              <a:rPr lang="en-US" sz="1100" dirty="0">
                <a:solidFill>
                  <a:srgbClr val="FFFFFF"/>
                </a:solidFill>
              </a:rPr>
              <a:t>52 °C and up</a:t>
            </a:r>
            <a:endParaRPr lang="en-US" sz="1100" dirty="0"/>
          </a:p>
        </p:txBody>
      </p:sp>
      <p:sp>
        <p:nvSpPr>
          <p:cNvPr id="11" name="Tile 16"/>
          <p:cNvSpPr/>
          <p:nvPr/>
        </p:nvSpPr>
        <p:spPr>
          <a:xfrm>
            <a:off x="6172200" y="2103120"/>
            <a:ext cx="2514600" cy="1600200"/>
          </a:xfrm>
          <a:prstGeom prst="rect">
            <a:avLst/>
          </a:prstGeom>
          <a:solidFill>
            <a:srgbClr val="FDEBDC"/>
          </a:solidFill>
          <a:ln/>
        </p:spPr>
      </p:sp>
      <p:sp>
        <p:nvSpPr>
          <p:cNvPr id="12" name="Text 10"/>
          <p:cNvSpPr txBox="1"/>
          <p:nvPr/>
        </p:nvSpPr>
        <p:spPr>
          <a:xfrm>
            <a:off x="6355080" y="2240280"/>
            <a:ext cx="2148840" cy="640080"/>
          </a:xfrm>
          <a:prstGeom prst="rect">
            <a:avLst/>
          </a:prstGeom>
          <a:noFill/>
          <a:ln/>
        </p:spPr>
        <p:txBody>
          <a:bodyPr wrap="square" lIns="0" tIns="0" rIns="0" bIns="0" rtlCol="0" anchor="ctr"/>
          <a:lstStyle/>
          <a:p>
            <a:pPr indent="0" marL="0">
              <a:buNone/>
            </a:pPr>
            <a:r>
              <a:rPr lang="en-US" sz="3800" dirty="0">
                <a:solidFill>
                  <a:srgbClr val="A63A0C"/>
                </a:solidFill>
                <a:latin typeface="Cambria" pitchFamily="34" charset="0"/>
                <a:ea typeface="Cambria" pitchFamily="34" charset="-122"/>
                <a:cs typeface="Cambria" pitchFamily="34" charset="-120"/>
              </a:rPr>
              <a:t>16</a:t>
            </a:r>
            <a:endParaRPr lang="en-US" sz="3800" dirty="0"/>
          </a:p>
        </p:txBody>
      </p:sp>
      <p:sp>
        <p:nvSpPr>
          <p:cNvPr id="13" name="Text 11"/>
          <p:cNvSpPr txBox="1"/>
          <p:nvPr/>
        </p:nvSpPr>
        <p:spPr>
          <a:xfrm>
            <a:off x="6355080" y="2907792"/>
            <a:ext cx="2148840" cy="685800"/>
          </a:xfrm>
          <a:prstGeom prst="rect">
            <a:avLst/>
          </a:prstGeom>
          <a:noFill/>
          <a:ln/>
        </p:spPr>
        <p:txBody>
          <a:bodyPr wrap="square" lIns="0" tIns="0" rIns="0" bIns="0" rtlCol="0" anchor="t"/>
          <a:lstStyle/>
          <a:p>
            <a:pPr indent="0" marL="0">
              <a:buNone/>
            </a:pPr>
            <a:r>
              <a:rPr lang="en-US" sz="1300" dirty="0">
                <a:solidFill>
                  <a:schemeClr val="tx1"/>
                </a:solidFill>
              </a:rPr>
              <a:t>cities of the National Capital Region, each with its own row</a:t>
            </a:r>
            <a:endParaRPr lang="en-US" sz="1300" dirty="0"/>
          </a:p>
        </p:txBody>
      </p:sp>
      <p:sp>
        <p:nvSpPr>
          <p:cNvPr id="14" name="Tile 29,168"/>
          <p:cNvSpPr/>
          <p:nvPr/>
        </p:nvSpPr>
        <p:spPr>
          <a:xfrm>
            <a:off x="8823960" y="2103120"/>
            <a:ext cx="2514600" cy="1600200"/>
          </a:xfrm>
          <a:prstGeom prst="rect">
            <a:avLst/>
          </a:prstGeom>
          <a:solidFill>
            <a:srgbClr val="FDEBDC"/>
          </a:solidFill>
          <a:ln/>
        </p:spPr>
      </p:sp>
      <p:sp>
        <p:nvSpPr>
          <p:cNvPr id="15" name="Text 13"/>
          <p:cNvSpPr txBox="1"/>
          <p:nvPr/>
        </p:nvSpPr>
        <p:spPr>
          <a:xfrm>
            <a:off x="9006840" y="2240280"/>
            <a:ext cx="2148840" cy="640080"/>
          </a:xfrm>
          <a:prstGeom prst="rect">
            <a:avLst/>
          </a:prstGeom>
          <a:noFill/>
          <a:ln/>
        </p:spPr>
        <p:txBody>
          <a:bodyPr wrap="square" lIns="0" tIns="0" rIns="0" bIns="0" rtlCol="0" anchor="ctr"/>
          <a:lstStyle/>
          <a:p>
            <a:pPr indent="0" marL="0">
              <a:buNone/>
            </a:pPr>
            <a:r>
              <a:rPr lang="en-US" sz="3800" dirty="0">
                <a:solidFill>
                  <a:srgbClr val="A63A0C"/>
                </a:solidFill>
                <a:latin typeface="Cambria" pitchFamily="34" charset="0"/>
                <a:ea typeface="Cambria" pitchFamily="34" charset="-122"/>
                <a:cs typeface="Cambria" pitchFamily="34" charset="-120"/>
              </a:rPr>
              <a:t>29,168</a:t>
            </a:r>
            <a:endParaRPr lang="en-US" sz="3800" dirty="0"/>
          </a:p>
        </p:txBody>
      </p:sp>
      <p:sp>
        <p:nvSpPr>
          <p:cNvPr id="16" name="Text 14"/>
          <p:cNvSpPr txBox="1"/>
          <p:nvPr/>
        </p:nvSpPr>
        <p:spPr>
          <a:xfrm>
            <a:off x="9006840" y="2907792"/>
            <a:ext cx="2148840" cy="685800"/>
          </a:xfrm>
          <a:prstGeom prst="rect">
            <a:avLst/>
          </a:prstGeom>
          <a:noFill/>
          <a:ln/>
        </p:spPr>
        <p:txBody>
          <a:bodyPr wrap="square" lIns="0" tIns="0" rIns="0" bIns="0" rtlCol="0" anchor="t"/>
          <a:lstStyle/>
          <a:p>
            <a:pPr indent="0" marL="0">
              <a:buNone/>
            </a:pPr>
            <a:r>
              <a:rPr lang="en-US" sz="1300" dirty="0">
                <a:solidFill>
                  <a:schemeClr val="tx1"/>
                </a:solidFill>
              </a:rPr>
              <a:t>city-days from 2021 to 2025 (ERA5 weather via Open-Meteo)</a:t>
            </a:r>
            <a:endParaRPr lang="en-US" sz="1300" dirty="0"/>
          </a:p>
        </p:txBody>
      </p:sp>
      <p:sp>
        <p:nvSpPr>
          <p:cNvPr id="17" name="Tile 5 + city"/>
          <p:cNvSpPr/>
          <p:nvPr/>
        </p:nvSpPr>
        <p:spPr>
          <a:xfrm>
            <a:off x="6172200" y="3858768"/>
            <a:ext cx="2514600" cy="1600200"/>
          </a:xfrm>
          <a:prstGeom prst="rect">
            <a:avLst/>
          </a:prstGeom>
          <a:solidFill>
            <a:srgbClr val="FDEBDC"/>
          </a:solidFill>
          <a:ln/>
        </p:spPr>
      </p:sp>
      <p:sp>
        <p:nvSpPr>
          <p:cNvPr id="18" name="Text 16"/>
          <p:cNvSpPr txBox="1"/>
          <p:nvPr/>
        </p:nvSpPr>
        <p:spPr>
          <a:xfrm>
            <a:off x="6355080" y="3995928"/>
            <a:ext cx="2148840" cy="640080"/>
          </a:xfrm>
          <a:prstGeom prst="rect">
            <a:avLst/>
          </a:prstGeom>
          <a:noFill/>
          <a:ln/>
        </p:spPr>
        <p:txBody>
          <a:bodyPr wrap="square" lIns="0" tIns="0" rIns="0" bIns="0" rtlCol="0" anchor="ctr"/>
          <a:lstStyle/>
          <a:p>
            <a:pPr indent="0" marL="0">
              <a:buNone/>
            </a:pPr>
            <a:r>
              <a:rPr lang="en-US" sz="3800" dirty="0">
                <a:solidFill>
                  <a:srgbClr val="A63A0C"/>
                </a:solidFill>
                <a:latin typeface="Cambria" pitchFamily="34" charset="0"/>
                <a:ea typeface="Cambria" pitchFamily="34" charset="-122"/>
                <a:cs typeface="Cambria" pitchFamily="34" charset="-120"/>
              </a:rPr>
              <a:t>5 + city</a:t>
            </a:r>
            <a:endParaRPr lang="en-US" sz="3800" dirty="0"/>
          </a:p>
        </p:txBody>
      </p:sp>
      <p:sp>
        <p:nvSpPr>
          <p:cNvPr id="19" name="Text 17"/>
          <p:cNvSpPr txBox="1"/>
          <p:nvPr/>
        </p:nvSpPr>
        <p:spPr>
          <a:xfrm>
            <a:off x="6355080" y="4663440"/>
            <a:ext cx="2148840" cy="685800"/>
          </a:xfrm>
          <a:prstGeom prst="rect">
            <a:avLst/>
          </a:prstGeom>
          <a:noFill/>
          <a:ln/>
        </p:spPr>
        <p:txBody>
          <a:bodyPr wrap="square" lIns="0" tIns="0" rIns="0" bIns="0" rtlCol="0" anchor="t"/>
          <a:lstStyle/>
          <a:p>
            <a:pPr indent="0" marL="0">
              <a:buNone/>
            </a:pPr>
            <a:r>
              <a:rPr lang="en-US" sz="1300" dirty="0">
                <a:solidFill>
                  <a:schemeClr val="tx1"/>
                </a:solidFill>
              </a:rPr>
              <a:t>inputs about today: heat index, lowest temperature, rain, pressure, sunshine</a:t>
            </a:r>
            <a:endParaRPr lang="en-US" sz="1300" dirty="0"/>
          </a:p>
        </p:txBody>
      </p:sp>
      <p:sp>
        <p:nvSpPr>
          <p:cNvPr id="20" name="Tile 1 day"/>
          <p:cNvSpPr/>
          <p:nvPr/>
        </p:nvSpPr>
        <p:spPr>
          <a:xfrm>
            <a:off x="8823960" y="3858768"/>
            <a:ext cx="2514600" cy="1600200"/>
          </a:xfrm>
          <a:prstGeom prst="rect">
            <a:avLst/>
          </a:prstGeom>
          <a:solidFill>
            <a:srgbClr val="FDEBDC"/>
          </a:solidFill>
          <a:ln/>
        </p:spPr>
      </p:sp>
      <p:sp>
        <p:nvSpPr>
          <p:cNvPr id="21" name="Text 19"/>
          <p:cNvSpPr txBox="1"/>
          <p:nvPr/>
        </p:nvSpPr>
        <p:spPr>
          <a:xfrm>
            <a:off x="9006840" y="3995928"/>
            <a:ext cx="2148840" cy="640080"/>
          </a:xfrm>
          <a:prstGeom prst="rect">
            <a:avLst/>
          </a:prstGeom>
          <a:noFill/>
          <a:ln/>
        </p:spPr>
        <p:txBody>
          <a:bodyPr wrap="square" lIns="0" tIns="0" rIns="0" bIns="0" rtlCol="0" anchor="ctr"/>
          <a:lstStyle/>
          <a:p>
            <a:pPr indent="0" marL="0">
              <a:buNone/>
            </a:pPr>
            <a:r>
              <a:rPr lang="en-US" sz="3800" dirty="0">
                <a:solidFill>
                  <a:srgbClr val="A63A0C"/>
                </a:solidFill>
                <a:latin typeface="Cambria" pitchFamily="34" charset="0"/>
                <a:ea typeface="Cambria" pitchFamily="34" charset="-122"/>
                <a:cs typeface="Cambria" pitchFamily="34" charset="-120"/>
              </a:rPr>
              <a:t>1 day</a:t>
            </a:r>
            <a:endParaRPr lang="en-US" sz="3800" dirty="0"/>
          </a:p>
        </p:txBody>
      </p:sp>
      <p:sp>
        <p:nvSpPr>
          <p:cNvPr id="22" name="Text 20"/>
          <p:cNvSpPr txBox="1"/>
          <p:nvPr/>
        </p:nvSpPr>
        <p:spPr>
          <a:xfrm>
            <a:off x="9006840" y="4663440"/>
            <a:ext cx="2148840" cy="685800"/>
          </a:xfrm>
          <a:prstGeom prst="rect">
            <a:avLst/>
          </a:prstGeom>
          <a:noFill/>
          <a:ln/>
        </p:spPr>
        <p:txBody>
          <a:bodyPr wrap="square" lIns="0" tIns="0" rIns="0" bIns="0" rtlCol="0" anchor="t"/>
          <a:lstStyle/>
          <a:p>
            <a:pPr indent="0" marL="0">
              <a:buNone/>
            </a:pPr>
            <a:r>
              <a:rPr lang="en-US" sz="1300" dirty="0">
                <a:solidFill>
                  <a:schemeClr val="tx1"/>
                </a:solidFill>
              </a:rPr>
              <a:t>ahead: the target is tomorrow's PAGASA level in that city</a:t>
            </a:r>
            <a:endParaRPr lang="en-US" sz="13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indent="0" marL="0">
              <a:buNone/>
            </a:pPr>
            <a:r>
              <a:rPr lang="en-US" sz="3400" spc="500" kern="0" dirty="0">
                <a:solidFill>
                  <a:schemeClr val="tx1"/>
                </a:solidFill>
                <a:latin typeface="Cambria" pitchFamily="34" charset="0"/>
                <a:ea typeface="Cambria" pitchFamily="34" charset="-122"/>
                <a:cs typeface="Cambria" pitchFamily="34" charset="-120"/>
              </a:rPr>
              <a:t>WHAT THE DATA SHOWED</a:t>
            </a:r>
            <a:endParaRPr lang="en-US" sz="3400" dirty="0"/>
          </a:p>
        </p:txBody>
      </p:sp>
      <p:sp>
        <p:nvSpPr>
          <p:cNvPr id="3" name="Subtitle pill"/>
          <p:cNvSpPr txBox="1"/>
          <p:nvPr/>
        </p:nvSpPr>
        <p:spPr>
          <a:xfrm>
            <a:off x="3261208" y="1417320"/>
            <a:ext cx="5669280" cy="402336"/>
          </a:xfrm>
          <a:prstGeom prst="rect">
            <a:avLst/>
          </a:prstGeom>
          <a:solidFill>
            <a:srgbClr val="F6C9A0"/>
          </a:solidFill>
          <a:ln/>
        </p:spPr>
        <p:txBody>
          <a:bodyPr wrap="square" lIns="50800" tIns="50800" rIns="50800" bIns="50800" rtlCol="0" anchor="ctr"/>
          <a:lstStyle/>
          <a:p>
            <a:pPr algn="ctr" indent="0" marL="0">
              <a:buNone/>
            </a:pPr>
            <a:r>
              <a:rPr lang="en-US" sz="1400" spc="100" kern="0" dirty="0">
                <a:solidFill>
                  <a:schemeClr val="tx1"/>
                </a:solidFill>
              </a:rPr>
              <a:t>Three findings, three decisions (training days only)</a:t>
            </a:r>
            <a:endParaRPr lang="en-US" sz="1400" dirty="0"/>
          </a:p>
        </p:txBody>
      </p:sp>
      <p:sp>
        <p:nvSpPr>
          <p:cNvPr id="4" name="Finding number 1"/>
          <p:cNvSpPr txBox="1"/>
          <p:nvPr/>
        </p:nvSpPr>
        <p:spPr>
          <a:xfrm>
            <a:off x="868680" y="2103120"/>
            <a:ext cx="1874520" cy="685800"/>
          </a:xfrm>
          <a:prstGeom prst="rect">
            <a:avLst/>
          </a:prstGeom>
          <a:noFill/>
          <a:ln/>
        </p:spPr>
        <p:txBody>
          <a:bodyPr wrap="square" lIns="0" tIns="0" rIns="0" bIns="0" rtlCol="0" anchor="t"/>
          <a:lstStyle/>
          <a:p>
            <a:pPr indent="0" marL="0">
              <a:buNone/>
            </a:pPr>
            <a:r>
              <a:rPr lang="en-US" sz="3000" dirty="0">
                <a:solidFill>
                  <a:srgbClr val="A63A0C"/>
                </a:solidFill>
                <a:latin typeface="Cambria" pitchFamily="34" charset="0"/>
                <a:ea typeface="Cambria" pitchFamily="34" charset="-122"/>
                <a:cs typeface="Cambria" pitchFamily="34" charset="-120"/>
              </a:rPr>
              <a:t>7.9%</a:t>
            </a:r>
            <a:endParaRPr lang="en-US" sz="3000" dirty="0"/>
          </a:p>
        </p:txBody>
      </p:sp>
      <p:sp>
        <p:nvSpPr>
          <p:cNvPr id="5" name="Finding text 1"/>
          <p:cNvSpPr txBox="1"/>
          <p:nvPr/>
        </p:nvSpPr>
        <p:spPr>
          <a:xfrm>
            <a:off x="2834640" y="2103120"/>
            <a:ext cx="3200400" cy="11887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of rows are Danger; 78.5% are Extreme Caution</a:t>
            </a:r>
            <a:endParaRPr lang="en-US" sz="1400" dirty="0"/>
          </a:p>
          <a:p>
            <a:pPr indent="0" marL="0">
              <a:spcAft>
                <a:spcPts val="400"/>
              </a:spcAft>
              <a:buNone/>
            </a:pPr>
            <a:r>
              <a:rPr lang="en-US" sz="1400" dirty="0">
                <a:solidFill>
                  <a:srgbClr val="7A675C"/>
                </a:solidFill>
              </a:rPr>
              <a:t>So we judge models by macro F1 and Danger recall, not accuracy, and try class weights.</a:t>
            </a:r>
            <a:endParaRPr lang="en-US" sz="1400" dirty="0"/>
          </a:p>
        </p:txBody>
      </p:sp>
      <p:sp>
        <p:nvSpPr>
          <p:cNvPr id="6" name="Finding number 2"/>
          <p:cNvSpPr txBox="1"/>
          <p:nvPr/>
        </p:nvSpPr>
        <p:spPr>
          <a:xfrm>
            <a:off x="868680" y="3429000"/>
            <a:ext cx="1874520" cy="685800"/>
          </a:xfrm>
          <a:prstGeom prst="rect">
            <a:avLst/>
          </a:prstGeom>
          <a:noFill/>
          <a:ln/>
        </p:spPr>
        <p:txBody>
          <a:bodyPr wrap="square" lIns="0" tIns="0" rIns="0" bIns="0" rtlCol="0" anchor="t"/>
          <a:lstStyle/>
          <a:p>
            <a:pPr indent="0" marL="0">
              <a:buNone/>
            </a:pPr>
            <a:r>
              <a:rPr lang="en-US" sz="3000" dirty="0">
                <a:solidFill>
                  <a:srgbClr val="A63A0C"/>
                </a:solidFill>
                <a:latin typeface="Cambria" pitchFamily="34" charset="0"/>
                <a:ea typeface="Cambria" pitchFamily="34" charset="-122"/>
                <a:cs typeface="Cambria" pitchFamily="34" charset="-120"/>
              </a:rPr>
              <a:t>Apr–Jun</a:t>
            </a:r>
            <a:endParaRPr lang="en-US" sz="3000" dirty="0"/>
          </a:p>
        </p:txBody>
      </p:sp>
      <p:sp>
        <p:nvSpPr>
          <p:cNvPr id="7" name="Finding text 2"/>
          <p:cNvSpPr txBox="1"/>
          <p:nvPr/>
        </p:nvSpPr>
        <p:spPr>
          <a:xfrm>
            <a:off x="2834640" y="3429000"/>
            <a:ext cx="3200400" cy="11887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Danger peaks in April to June (31% of May rows) and never occurs in December to February</a:t>
            </a:r>
            <a:endParaRPr lang="en-US" sz="1400" dirty="0"/>
          </a:p>
          <a:p>
            <a:pPr indent="0" marL="0">
              <a:spcAft>
                <a:spcPts val="400"/>
              </a:spcAft>
              <a:buNone/>
            </a:pPr>
            <a:r>
              <a:rPr lang="en-US" sz="1400" dirty="0">
                <a:solidFill>
                  <a:srgbClr val="7A675C"/>
                </a:solidFill>
              </a:rPr>
              <a:t>So the split follows time, never a random shuffle.</a:t>
            </a:r>
            <a:endParaRPr lang="en-US" sz="1400" dirty="0"/>
          </a:p>
        </p:txBody>
      </p:sp>
      <p:sp>
        <p:nvSpPr>
          <p:cNvPr id="8" name="Finding number 3"/>
          <p:cNvSpPr txBox="1"/>
          <p:nvPr/>
        </p:nvSpPr>
        <p:spPr>
          <a:xfrm>
            <a:off x="868680" y="4754880"/>
            <a:ext cx="1874520" cy="685800"/>
          </a:xfrm>
          <a:prstGeom prst="rect">
            <a:avLst/>
          </a:prstGeom>
          <a:noFill/>
          <a:ln/>
        </p:spPr>
        <p:txBody>
          <a:bodyPr wrap="square" lIns="0" tIns="0" rIns="0" bIns="0" rtlCol="0" anchor="t"/>
          <a:lstStyle/>
          <a:p>
            <a:pPr indent="0" marL="0">
              <a:buNone/>
            </a:pPr>
            <a:r>
              <a:rPr lang="en-US" sz="3000" dirty="0">
                <a:solidFill>
                  <a:srgbClr val="A63A0C"/>
                </a:solidFill>
                <a:latin typeface="Cambria" pitchFamily="34" charset="0"/>
                <a:ea typeface="Cambria" pitchFamily="34" charset="-122"/>
                <a:cs typeface="Cambria" pitchFamily="34" charset="-120"/>
              </a:rPr>
              <a:t>17% vs 2%</a:t>
            </a:r>
            <a:endParaRPr lang="en-US" sz="3000" dirty="0"/>
          </a:p>
        </p:txBody>
      </p:sp>
      <p:sp>
        <p:nvSpPr>
          <p:cNvPr id="9" name="Finding text 3"/>
          <p:cNvSpPr txBox="1"/>
          <p:nvPr/>
        </p:nvSpPr>
        <p:spPr>
          <a:xfrm>
            <a:off x="2834640" y="4754880"/>
            <a:ext cx="3200400" cy="118872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Danger rows in Malabon, Navotas and Valenzuela vs Muntinlupa and San Juan</a:t>
            </a:r>
            <a:endParaRPr lang="en-US" sz="1400" dirty="0"/>
          </a:p>
          <a:p>
            <a:pPr indent="0" marL="0">
              <a:spcAft>
                <a:spcPts val="400"/>
              </a:spcAft>
              <a:buNone/>
            </a:pPr>
            <a:r>
              <a:rPr lang="en-US" sz="1400" dirty="0">
                <a:solidFill>
                  <a:srgbClr val="7A675C"/>
                </a:solidFill>
              </a:rPr>
              <a:t>So every city keeps its own row, and the city is an input.</a:t>
            </a:r>
            <a:endParaRPr lang="en-US" sz="1400" dirty="0"/>
          </a:p>
        </p:txBody>
      </p:sp>
      <p:graphicFrame>
        <p:nvGraphicFramePr>
          <p:cNvPr id="10" name="Chart level by month" descr=""/>
          <p:cNvGraphicFramePr/>
          <p:nvPr/>
        </p:nvGraphicFramePr>
        <p:xfrm>
          <a:off x="6263640" y="2011680"/>
          <a:ext cx="5120640" cy="39776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indent="0" marL="0">
              <a:buNone/>
            </a:pPr>
            <a:r>
              <a:rPr lang="en-US" sz="3400" spc="500" kern="0" dirty="0">
                <a:solidFill>
                  <a:schemeClr val="tx1"/>
                </a:solidFill>
                <a:latin typeface="Cambria" pitchFamily="34" charset="0"/>
                <a:ea typeface="Cambria" pitchFamily="34" charset="-122"/>
                <a:cs typeface="Cambria" pitchFamily="34" charset="-120"/>
              </a:rPr>
              <a:t>HOW WE COMPARED FAIRLY</a:t>
            </a:r>
            <a:endParaRPr lang="en-US" sz="3400" dirty="0"/>
          </a:p>
        </p:txBody>
      </p:sp>
      <p:sp>
        <p:nvSpPr>
          <p:cNvPr id="3" name="Subtitle pill"/>
          <p:cNvSpPr txBox="1"/>
          <p:nvPr/>
        </p:nvSpPr>
        <p:spPr>
          <a:xfrm>
            <a:off x="3078328" y="1417320"/>
            <a:ext cx="6035040" cy="402336"/>
          </a:xfrm>
          <a:prstGeom prst="rect">
            <a:avLst/>
          </a:prstGeom>
          <a:solidFill>
            <a:srgbClr val="F6C9A0"/>
          </a:solidFill>
          <a:ln/>
        </p:spPr>
        <p:txBody>
          <a:bodyPr wrap="square" lIns="50800" tIns="50800" rIns="50800" bIns="50800" rtlCol="0" anchor="ctr"/>
          <a:lstStyle/>
          <a:p>
            <a:pPr algn="ctr" indent="0" marL="0">
              <a:buNone/>
            </a:pPr>
            <a:r>
              <a:rPr lang="en-US" sz="1400" spc="100" kern="0" dirty="0">
                <a:solidFill>
                  <a:schemeClr val="tx1"/>
                </a:solidFill>
              </a:rPr>
              <a:t>Same split, same folds and same scoring for every model</a:t>
            </a:r>
            <a:endParaRPr lang="en-US" sz="1400" dirty="0"/>
          </a:p>
        </p:txBody>
      </p:sp>
      <p:sp>
        <p:nvSpPr>
          <p:cNvPr id="4" name="Text 2"/>
          <p:cNvSpPr txBox="1"/>
          <p:nvPr/>
        </p:nvSpPr>
        <p:spPr>
          <a:xfrm>
            <a:off x="868680" y="2011680"/>
            <a:ext cx="914400" cy="274320"/>
          </a:xfrm>
          <a:prstGeom prst="rect">
            <a:avLst/>
          </a:prstGeom>
          <a:noFill/>
          <a:ln/>
        </p:spPr>
        <p:txBody>
          <a:bodyPr wrap="square" lIns="0" tIns="0" rIns="0" bIns="0" rtlCol="0" anchor="ctr"/>
          <a:lstStyle/>
          <a:p>
            <a:pPr indent="0" marL="0">
              <a:buNone/>
            </a:pPr>
            <a:r>
              <a:rPr lang="en-US" sz="1200" dirty="0">
                <a:solidFill>
                  <a:srgbClr val="7A675C"/>
                </a:solidFill>
              </a:rPr>
              <a:t>2021</a:t>
            </a:r>
            <a:endParaRPr lang="en-US" sz="1200" dirty="0"/>
          </a:p>
        </p:txBody>
      </p:sp>
      <p:sp>
        <p:nvSpPr>
          <p:cNvPr id="5" name="Text 3"/>
          <p:cNvSpPr txBox="1"/>
          <p:nvPr/>
        </p:nvSpPr>
        <p:spPr>
          <a:xfrm>
            <a:off x="2937510" y="2011680"/>
            <a:ext cx="914400" cy="274320"/>
          </a:xfrm>
          <a:prstGeom prst="rect">
            <a:avLst/>
          </a:prstGeom>
          <a:noFill/>
          <a:ln/>
        </p:spPr>
        <p:txBody>
          <a:bodyPr wrap="square" lIns="0" tIns="0" rIns="0" bIns="0" rtlCol="0" anchor="ctr"/>
          <a:lstStyle/>
          <a:p>
            <a:pPr indent="0" marL="0">
              <a:buNone/>
            </a:pPr>
            <a:r>
              <a:rPr lang="en-US" sz="1200" dirty="0">
                <a:solidFill>
                  <a:srgbClr val="7A675C"/>
                </a:solidFill>
              </a:rPr>
              <a:t>2022</a:t>
            </a:r>
            <a:endParaRPr lang="en-US" sz="1200" dirty="0"/>
          </a:p>
        </p:txBody>
      </p:sp>
      <p:sp>
        <p:nvSpPr>
          <p:cNvPr id="6" name="Text 4"/>
          <p:cNvSpPr txBox="1"/>
          <p:nvPr/>
        </p:nvSpPr>
        <p:spPr>
          <a:xfrm>
            <a:off x="5006340" y="2011680"/>
            <a:ext cx="914400" cy="274320"/>
          </a:xfrm>
          <a:prstGeom prst="rect">
            <a:avLst/>
          </a:prstGeom>
          <a:noFill/>
          <a:ln/>
        </p:spPr>
        <p:txBody>
          <a:bodyPr wrap="square" lIns="0" tIns="0" rIns="0" bIns="0" rtlCol="0" anchor="ctr"/>
          <a:lstStyle/>
          <a:p>
            <a:pPr indent="0" marL="0">
              <a:buNone/>
            </a:pPr>
            <a:r>
              <a:rPr lang="en-US" sz="1200" dirty="0">
                <a:solidFill>
                  <a:srgbClr val="7A675C"/>
                </a:solidFill>
              </a:rPr>
              <a:t>2023</a:t>
            </a:r>
            <a:endParaRPr lang="en-US" sz="1200" dirty="0"/>
          </a:p>
        </p:txBody>
      </p:sp>
      <p:sp>
        <p:nvSpPr>
          <p:cNvPr id="7" name="Text 5"/>
          <p:cNvSpPr txBox="1"/>
          <p:nvPr/>
        </p:nvSpPr>
        <p:spPr>
          <a:xfrm>
            <a:off x="7075170" y="2011680"/>
            <a:ext cx="914400" cy="274320"/>
          </a:xfrm>
          <a:prstGeom prst="rect">
            <a:avLst/>
          </a:prstGeom>
          <a:noFill/>
          <a:ln/>
        </p:spPr>
        <p:txBody>
          <a:bodyPr wrap="square" lIns="0" tIns="0" rIns="0" bIns="0" rtlCol="0" anchor="ctr"/>
          <a:lstStyle/>
          <a:p>
            <a:pPr indent="0" marL="0">
              <a:buNone/>
            </a:pPr>
            <a:r>
              <a:rPr lang="en-US" sz="1200" dirty="0">
                <a:solidFill>
                  <a:srgbClr val="7A675C"/>
                </a:solidFill>
              </a:rPr>
              <a:t>2024</a:t>
            </a:r>
            <a:endParaRPr lang="en-US" sz="1200" dirty="0"/>
          </a:p>
        </p:txBody>
      </p:sp>
      <p:sp>
        <p:nvSpPr>
          <p:cNvPr id="8" name="Text 6"/>
          <p:cNvSpPr txBox="1"/>
          <p:nvPr/>
        </p:nvSpPr>
        <p:spPr>
          <a:xfrm>
            <a:off x="9253728" y="2011680"/>
            <a:ext cx="914400" cy="274320"/>
          </a:xfrm>
          <a:prstGeom prst="rect">
            <a:avLst/>
          </a:prstGeom>
          <a:noFill/>
          <a:ln/>
        </p:spPr>
        <p:txBody>
          <a:bodyPr wrap="square" lIns="0" tIns="0" rIns="0" bIns="0" rtlCol="0" anchor="ctr"/>
          <a:lstStyle/>
          <a:p>
            <a:pPr indent="0" marL="0">
              <a:buNone/>
            </a:pPr>
            <a:r>
              <a:rPr lang="en-US" sz="1200" dirty="0">
                <a:solidFill>
                  <a:srgbClr val="7A675C"/>
                </a:solidFill>
              </a:rPr>
              <a:t>2025</a:t>
            </a:r>
            <a:endParaRPr lang="en-US" sz="1200" dirty="0"/>
          </a:p>
        </p:txBody>
      </p:sp>
      <p:sp>
        <p:nvSpPr>
          <p:cNvPr id="9" name="Training bar"/>
          <p:cNvSpPr txBox="1"/>
          <p:nvPr/>
        </p:nvSpPr>
        <p:spPr>
          <a:xfrm>
            <a:off x="868680" y="2331720"/>
            <a:ext cx="8275320" cy="502920"/>
          </a:xfrm>
          <a:prstGeom prst="rect">
            <a:avLst/>
          </a:prstGeom>
          <a:solidFill>
            <a:srgbClr val="F6C9A0"/>
          </a:solidFill>
          <a:ln/>
        </p:spPr>
        <p:txBody>
          <a:bodyPr wrap="square" rtlCol="0" anchor="ctr"/>
          <a:lstStyle/>
          <a:p>
            <a:pPr algn="ctr" indent="0" marL="0">
              <a:buNone/>
            </a:pPr>
            <a:r>
              <a:rPr lang="en-US" sz="1500" dirty="0">
                <a:solidFill>
                  <a:schemeClr val="tx1"/>
                </a:solidFill>
              </a:rPr>
              <a:t>Training days: 2021-01-01 to 2024-12-27 (23,312 rows)</a:t>
            </a:r>
            <a:endParaRPr lang="en-US" sz="1500" dirty="0"/>
          </a:p>
        </p:txBody>
      </p:sp>
      <p:sp>
        <p:nvSpPr>
          <p:cNvPr id="10" name="Test bar"/>
          <p:cNvSpPr txBox="1"/>
          <p:nvPr/>
        </p:nvSpPr>
        <p:spPr>
          <a:xfrm>
            <a:off x="9253728" y="2331720"/>
            <a:ext cx="2084832" cy="502920"/>
          </a:xfrm>
          <a:prstGeom prst="rect">
            <a:avLst/>
          </a:prstGeom>
          <a:solidFill>
            <a:srgbClr val="A63A0C"/>
          </a:solidFill>
          <a:ln/>
        </p:spPr>
        <p:txBody>
          <a:bodyPr wrap="square" rtlCol="0" anchor="ctr"/>
          <a:lstStyle/>
          <a:p>
            <a:pPr algn="ctr" indent="0" marL="0">
              <a:buNone/>
            </a:pPr>
            <a:r>
              <a:rPr lang="en-US" sz="1500" b="1" dirty="0">
                <a:solidFill>
                  <a:srgbClr val="FFFFFF"/>
                </a:solidFill>
              </a:rPr>
              <a:t>Test: 2025, used once</a:t>
            </a:r>
            <a:endParaRPr lang="en-US" sz="1500" dirty="0"/>
          </a:p>
        </p:txBody>
      </p:sp>
      <p:sp>
        <p:nvSpPr>
          <p:cNvPr id="11" name="Text 9"/>
          <p:cNvSpPr txBox="1"/>
          <p:nvPr/>
        </p:nvSpPr>
        <p:spPr>
          <a:xfrm>
            <a:off x="7406640" y="2862072"/>
            <a:ext cx="3291840" cy="256032"/>
          </a:xfrm>
          <a:prstGeom prst="rect">
            <a:avLst/>
          </a:prstGeom>
          <a:noFill/>
          <a:ln/>
        </p:spPr>
        <p:txBody>
          <a:bodyPr wrap="square" lIns="0" tIns="0" rIns="0" bIns="0" rtlCol="0" anchor="ctr"/>
          <a:lstStyle/>
          <a:p>
            <a:pPr algn="r" indent="0" marL="0">
              <a:buNone/>
            </a:pPr>
            <a:r>
              <a:rPr lang="en-US" sz="1100" dirty="0">
                <a:solidFill>
                  <a:srgbClr val="7A675C"/>
                </a:solidFill>
              </a:rPr>
              <a:t>one day skipped between them</a:t>
            </a:r>
            <a:endParaRPr lang="en-US" sz="1100" dirty="0"/>
          </a:p>
        </p:txBody>
      </p:sp>
      <p:sp>
        <p:nvSpPr>
          <p:cNvPr id="12" name="Fold learn 1"/>
          <p:cNvSpPr/>
          <p:nvPr/>
        </p:nvSpPr>
        <p:spPr>
          <a:xfrm>
            <a:off x="868680" y="3200400"/>
            <a:ext cx="1397206" cy="182880"/>
          </a:xfrm>
          <a:prstGeom prst="rect">
            <a:avLst/>
          </a:prstGeom>
          <a:solidFill>
            <a:srgbClr val="EBC9A6"/>
          </a:solidFill>
          <a:ln/>
        </p:spPr>
      </p:sp>
      <p:sp>
        <p:nvSpPr>
          <p:cNvPr id="13" name="Fold check 1"/>
          <p:cNvSpPr/>
          <p:nvPr/>
        </p:nvSpPr>
        <p:spPr>
          <a:xfrm>
            <a:off x="2271565" y="3200400"/>
            <a:ext cx="1374487" cy="182880"/>
          </a:xfrm>
          <a:prstGeom prst="rect">
            <a:avLst/>
          </a:prstGeom>
          <a:solidFill>
            <a:srgbClr val="F28C28"/>
          </a:solidFill>
          <a:ln/>
        </p:spPr>
      </p:sp>
      <p:sp>
        <p:nvSpPr>
          <p:cNvPr id="14" name="Fold learn 2"/>
          <p:cNvSpPr/>
          <p:nvPr/>
        </p:nvSpPr>
        <p:spPr>
          <a:xfrm>
            <a:off x="868680" y="3447288"/>
            <a:ext cx="2771693" cy="182880"/>
          </a:xfrm>
          <a:prstGeom prst="rect">
            <a:avLst/>
          </a:prstGeom>
          <a:solidFill>
            <a:srgbClr val="EBC9A6"/>
          </a:solidFill>
          <a:ln/>
        </p:spPr>
      </p:sp>
      <p:sp>
        <p:nvSpPr>
          <p:cNvPr id="15" name="Fold check 2"/>
          <p:cNvSpPr/>
          <p:nvPr/>
        </p:nvSpPr>
        <p:spPr>
          <a:xfrm>
            <a:off x="3646052" y="3447288"/>
            <a:ext cx="1374487" cy="182880"/>
          </a:xfrm>
          <a:prstGeom prst="rect">
            <a:avLst/>
          </a:prstGeom>
          <a:solidFill>
            <a:srgbClr val="F28C28"/>
          </a:solidFill>
          <a:ln/>
        </p:spPr>
      </p:sp>
      <p:sp>
        <p:nvSpPr>
          <p:cNvPr id="16" name="Fold learn 3"/>
          <p:cNvSpPr/>
          <p:nvPr/>
        </p:nvSpPr>
        <p:spPr>
          <a:xfrm>
            <a:off x="868680" y="3694176"/>
            <a:ext cx="4146180" cy="182880"/>
          </a:xfrm>
          <a:prstGeom prst="rect">
            <a:avLst/>
          </a:prstGeom>
          <a:solidFill>
            <a:srgbClr val="EBC9A6"/>
          </a:solidFill>
          <a:ln/>
        </p:spPr>
      </p:sp>
      <p:sp>
        <p:nvSpPr>
          <p:cNvPr id="17" name="Fold check 3"/>
          <p:cNvSpPr/>
          <p:nvPr/>
        </p:nvSpPr>
        <p:spPr>
          <a:xfrm>
            <a:off x="5020539" y="3694176"/>
            <a:ext cx="1374487" cy="182880"/>
          </a:xfrm>
          <a:prstGeom prst="rect">
            <a:avLst/>
          </a:prstGeom>
          <a:solidFill>
            <a:srgbClr val="F28C28"/>
          </a:solidFill>
          <a:ln/>
        </p:spPr>
      </p:sp>
      <p:sp>
        <p:nvSpPr>
          <p:cNvPr id="18" name="Fold learn 4"/>
          <p:cNvSpPr/>
          <p:nvPr/>
        </p:nvSpPr>
        <p:spPr>
          <a:xfrm>
            <a:off x="868680" y="3941064"/>
            <a:ext cx="5520666" cy="182880"/>
          </a:xfrm>
          <a:prstGeom prst="rect">
            <a:avLst/>
          </a:prstGeom>
          <a:solidFill>
            <a:srgbClr val="EBC9A6"/>
          </a:solidFill>
          <a:ln/>
        </p:spPr>
      </p:sp>
      <p:sp>
        <p:nvSpPr>
          <p:cNvPr id="19" name="Fold check 4"/>
          <p:cNvSpPr/>
          <p:nvPr/>
        </p:nvSpPr>
        <p:spPr>
          <a:xfrm>
            <a:off x="6395026" y="3941064"/>
            <a:ext cx="1374487" cy="182880"/>
          </a:xfrm>
          <a:prstGeom prst="rect">
            <a:avLst/>
          </a:prstGeom>
          <a:solidFill>
            <a:srgbClr val="F28C28"/>
          </a:solidFill>
          <a:ln/>
        </p:spPr>
      </p:sp>
      <p:sp>
        <p:nvSpPr>
          <p:cNvPr id="20" name="Fold learn 5"/>
          <p:cNvSpPr/>
          <p:nvPr/>
        </p:nvSpPr>
        <p:spPr>
          <a:xfrm>
            <a:off x="868680" y="4187952"/>
            <a:ext cx="6895153" cy="182880"/>
          </a:xfrm>
          <a:prstGeom prst="rect">
            <a:avLst/>
          </a:prstGeom>
          <a:solidFill>
            <a:srgbClr val="EBC9A6"/>
          </a:solidFill>
          <a:ln/>
        </p:spPr>
      </p:sp>
      <p:sp>
        <p:nvSpPr>
          <p:cNvPr id="21" name="Fold check 5"/>
          <p:cNvSpPr/>
          <p:nvPr/>
        </p:nvSpPr>
        <p:spPr>
          <a:xfrm>
            <a:off x="7769513" y="4187952"/>
            <a:ext cx="1374487" cy="182880"/>
          </a:xfrm>
          <a:prstGeom prst="rect">
            <a:avLst/>
          </a:prstGeom>
          <a:solidFill>
            <a:srgbClr val="F28C28"/>
          </a:solidFill>
          <a:ln/>
        </p:spPr>
      </p:sp>
      <p:sp>
        <p:nvSpPr>
          <p:cNvPr id="22" name="Shape 20"/>
          <p:cNvSpPr/>
          <p:nvPr/>
        </p:nvSpPr>
        <p:spPr>
          <a:xfrm>
            <a:off x="9253728" y="3273552"/>
            <a:ext cx="201168" cy="164592"/>
          </a:xfrm>
          <a:prstGeom prst="rect">
            <a:avLst/>
          </a:prstGeom>
          <a:solidFill>
            <a:srgbClr val="EBC9A6"/>
          </a:solidFill>
          <a:ln/>
        </p:spPr>
      </p:sp>
      <p:sp>
        <p:nvSpPr>
          <p:cNvPr id="23" name="Text 21"/>
          <p:cNvSpPr txBox="1"/>
          <p:nvPr/>
        </p:nvSpPr>
        <p:spPr>
          <a:xfrm>
            <a:off x="9528048" y="3200400"/>
            <a:ext cx="1828800" cy="292608"/>
          </a:xfrm>
          <a:prstGeom prst="rect">
            <a:avLst/>
          </a:prstGeom>
          <a:noFill/>
          <a:ln/>
        </p:spPr>
        <p:txBody>
          <a:bodyPr wrap="square" lIns="0" tIns="0" rIns="0" bIns="0" rtlCol="0" anchor="ctr"/>
          <a:lstStyle/>
          <a:p>
            <a:pPr indent="0" marL="0">
              <a:buNone/>
            </a:pPr>
            <a:r>
              <a:rPr lang="en-US" sz="1100" dirty="0">
                <a:solidFill>
                  <a:schemeClr val="tx1"/>
                </a:solidFill>
              </a:rPr>
              <a:t>5 folds: learn from earlier days</a:t>
            </a:r>
            <a:endParaRPr lang="en-US" sz="1100" dirty="0"/>
          </a:p>
        </p:txBody>
      </p:sp>
      <p:sp>
        <p:nvSpPr>
          <p:cNvPr id="24" name="Shape 22"/>
          <p:cNvSpPr/>
          <p:nvPr/>
        </p:nvSpPr>
        <p:spPr>
          <a:xfrm>
            <a:off x="9253728" y="3639312"/>
            <a:ext cx="201168" cy="164592"/>
          </a:xfrm>
          <a:prstGeom prst="rect">
            <a:avLst/>
          </a:prstGeom>
          <a:solidFill>
            <a:srgbClr val="F28C28"/>
          </a:solidFill>
          <a:ln/>
        </p:spPr>
      </p:sp>
      <p:sp>
        <p:nvSpPr>
          <p:cNvPr id="25" name="Text 23"/>
          <p:cNvSpPr txBox="1"/>
          <p:nvPr/>
        </p:nvSpPr>
        <p:spPr>
          <a:xfrm>
            <a:off x="9528048" y="3566160"/>
            <a:ext cx="1828800" cy="292608"/>
          </a:xfrm>
          <a:prstGeom prst="rect">
            <a:avLst/>
          </a:prstGeom>
          <a:noFill/>
          <a:ln/>
        </p:spPr>
        <p:txBody>
          <a:bodyPr wrap="square" lIns="0" tIns="0" rIns="0" bIns="0" rtlCol="0" anchor="ctr"/>
          <a:lstStyle/>
          <a:p>
            <a:pPr indent="0" marL="0">
              <a:buNone/>
            </a:pPr>
            <a:r>
              <a:rPr lang="en-US" sz="1100" dirty="0">
                <a:solidFill>
                  <a:schemeClr val="tx1"/>
                </a:solidFill>
              </a:rPr>
              <a:t>check on the next block</a:t>
            </a:r>
            <a:endParaRPr lang="en-US" sz="1100" dirty="0"/>
          </a:p>
        </p:txBody>
      </p:sp>
      <p:sp>
        <p:nvSpPr>
          <p:cNvPr id="26" name="Card Primary metric"/>
          <p:cNvSpPr/>
          <p:nvPr/>
        </p:nvSpPr>
        <p:spPr>
          <a:xfrm>
            <a:off x="868680" y="4617720"/>
            <a:ext cx="3374136" cy="1325880"/>
          </a:xfrm>
          <a:prstGeom prst="rect">
            <a:avLst/>
          </a:prstGeom>
          <a:solidFill>
            <a:srgbClr val="FDEBDC"/>
          </a:solidFill>
          <a:ln/>
        </p:spPr>
      </p:sp>
      <p:sp>
        <p:nvSpPr>
          <p:cNvPr id="27" name="Text 25"/>
          <p:cNvSpPr txBox="1"/>
          <p:nvPr/>
        </p:nvSpPr>
        <p:spPr>
          <a:xfrm>
            <a:off x="1051560" y="4709160"/>
            <a:ext cx="3017520" cy="1143000"/>
          </a:xfrm>
          <a:prstGeom prst="rect">
            <a:avLst/>
          </a:prstGeom>
          <a:noFill/>
          <a:ln/>
        </p:spPr>
        <p:txBody>
          <a:bodyPr wrap="square" lIns="0" tIns="0" rIns="0" bIns="0" rtlCol="0" anchor="t"/>
          <a:lstStyle/>
          <a:p>
            <a:pPr indent="0" marL="0">
              <a:spcAft>
                <a:spcPts val="400"/>
              </a:spcAft>
              <a:buNone/>
            </a:pPr>
            <a:r>
              <a:rPr lang="en-US" sz="1800" dirty="0">
                <a:solidFill>
                  <a:srgbClr val="A63A0C"/>
                </a:solidFill>
                <a:latin typeface="Cambria" pitchFamily="34" charset="0"/>
                <a:ea typeface="Cambria" pitchFamily="34" charset="-122"/>
                <a:cs typeface="Cambria" pitchFamily="34" charset="-120"/>
              </a:rPr>
              <a:t>Primary metric</a:t>
            </a:r>
            <a:endParaRPr lang="en-US" sz="1800" dirty="0"/>
          </a:p>
          <a:p>
            <a:pPr indent="0" marL="0">
              <a:spcAft>
                <a:spcPts val="400"/>
              </a:spcAft>
              <a:buNone/>
            </a:pPr>
            <a:r>
              <a:rPr lang="en-US" sz="1400" dirty="0">
                <a:solidFill>
                  <a:srgbClr val="2E1406"/>
                </a:solidFill>
              </a:rPr>
              <a:t>Macro F1 over Caution, Extreme Caution and Danger, so every level counts equally.</a:t>
            </a:r>
            <a:endParaRPr lang="en-US" sz="1800" dirty="0"/>
          </a:p>
        </p:txBody>
      </p:sp>
      <p:sp>
        <p:nvSpPr>
          <p:cNvPr id="28" name="Card Selection rule"/>
          <p:cNvSpPr/>
          <p:nvPr/>
        </p:nvSpPr>
        <p:spPr>
          <a:xfrm>
            <a:off x="4416552" y="4617720"/>
            <a:ext cx="3374136" cy="1325880"/>
          </a:xfrm>
          <a:prstGeom prst="rect">
            <a:avLst/>
          </a:prstGeom>
          <a:solidFill>
            <a:srgbClr val="FDEBDC"/>
          </a:solidFill>
          <a:ln/>
        </p:spPr>
      </p:sp>
      <p:sp>
        <p:nvSpPr>
          <p:cNvPr id="29" name="Text 27"/>
          <p:cNvSpPr txBox="1"/>
          <p:nvPr/>
        </p:nvSpPr>
        <p:spPr>
          <a:xfrm>
            <a:off x="4599432" y="4709160"/>
            <a:ext cx="3017520" cy="1143000"/>
          </a:xfrm>
          <a:prstGeom prst="rect">
            <a:avLst/>
          </a:prstGeom>
          <a:noFill/>
          <a:ln/>
        </p:spPr>
        <p:txBody>
          <a:bodyPr wrap="square" lIns="0" tIns="0" rIns="0" bIns="0" rtlCol="0" anchor="t"/>
          <a:lstStyle/>
          <a:p>
            <a:pPr indent="0" marL="0">
              <a:spcAft>
                <a:spcPts val="400"/>
              </a:spcAft>
              <a:buNone/>
            </a:pPr>
            <a:r>
              <a:rPr lang="en-US" sz="1800" dirty="0">
                <a:solidFill>
                  <a:srgbClr val="A63A0C"/>
                </a:solidFill>
                <a:latin typeface="Cambria" pitchFamily="34" charset="0"/>
                <a:ea typeface="Cambria" pitchFamily="34" charset="-122"/>
                <a:cs typeface="Cambria" pitchFamily="34" charset="-120"/>
              </a:rPr>
              <a:t>Selection rule</a:t>
            </a:r>
            <a:endParaRPr lang="en-US" sz="1800" dirty="0"/>
          </a:p>
          <a:p>
            <a:pPr indent="0" marL="0">
              <a:spcAft>
                <a:spcPts val="400"/>
              </a:spcAft>
              <a:buNone/>
            </a:pPr>
            <a:r>
              <a:rPr lang="en-US" sz="1400" dirty="0">
                <a:solidFill>
                  <a:srgbClr val="2E1406"/>
                </a:solidFill>
              </a:rPr>
              <a:t>First catch more Danger days than the baseline; then the highest macro F1 wins.</a:t>
            </a:r>
            <a:endParaRPr lang="en-US" sz="1800" dirty="0"/>
          </a:p>
        </p:txBody>
      </p:sp>
      <p:sp>
        <p:nvSpPr>
          <p:cNvPr id="30" name="Card Baseline to beat"/>
          <p:cNvSpPr/>
          <p:nvPr/>
        </p:nvSpPr>
        <p:spPr>
          <a:xfrm>
            <a:off x="7964424" y="4617720"/>
            <a:ext cx="3374136" cy="1325880"/>
          </a:xfrm>
          <a:prstGeom prst="rect">
            <a:avLst/>
          </a:prstGeom>
          <a:solidFill>
            <a:srgbClr val="FDEBDC"/>
          </a:solidFill>
          <a:ln/>
        </p:spPr>
      </p:sp>
      <p:sp>
        <p:nvSpPr>
          <p:cNvPr id="31" name="Text 29"/>
          <p:cNvSpPr txBox="1"/>
          <p:nvPr/>
        </p:nvSpPr>
        <p:spPr>
          <a:xfrm>
            <a:off x="8147304" y="4709160"/>
            <a:ext cx="3017520" cy="1143000"/>
          </a:xfrm>
          <a:prstGeom prst="rect">
            <a:avLst/>
          </a:prstGeom>
          <a:noFill/>
          <a:ln/>
        </p:spPr>
        <p:txBody>
          <a:bodyPr wrap="square" lIns="0" tIns="0" rIns="0" bIns="0" rtlCol="0" anchor="t"/>
          <a:lstStyle/>
          <a:p>
            <a:pPr indent="0" marL="0">
              <a:spcAft>
                <a:spcPts val="400"/>
              </a:spcAft>
              <a:buNone/>
            </a:pPr>
            <a:r>
              <a:rPr lang="en-US" sz="1800" dirty="0">
                <a:solidFill>
                  <a:srgbClr val="A63A0C"/>
                </a:solidFill>
                <a:latin typeface="Cambria" pitchFamily="34" charset="0"/>
                <a:ea typeface="Cambria" pitchFamily="34" charset="-122"/>
                <a:cs typeface="Cambria" pitchFamily="34" charset="-120"/>
              </a:rPr>
              <a:t>Baseline to beat</a:t>
            </a:r>
            <a:endParaRPr lang="en-US" sz="1800" dirty="0"/>
          </a:p>
          <a:p>
            <a:pPr indent="0" marL="0">
              <a:spcAft>
                <a:spcPts val="400"/>
              </a:spcAft>
              <a:buNone/>
            </a:pPr>
            <a:r>
              <a:rPr lang="en-US" sz="1400" dirty="0">
                <a:solidFill>
                  <a:srgbClr val="2E1406"/>
                </a:solidFill>
              </a:rPr>
              <a:t>Copy today: tomorrow's level is today's level in the same city.</a:t>
            </a:r>
            <a:endParaRPr lang="en-US" sz="18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indent="0" marL="0">
              <a:buNone/>
            </a:pPr>
            <a:r>
              <a:rPr lang="en-US" sz="3400" spc="500" kern="0" dirty="0">
                <a:solidFill>
                  <a:schemeClr val="tx1"/>
                </a:solidFill>
                <a:latin typeface="Cambria" pitchFamily="34" charset="0"/>
                <a:ea typeface="Cambria" pitchFamily="34" charset="-122"/>
                <a:cs typeface="Cambria" pitchFamily="34" charset="-120"/>
              </a:rPr>
              <a:t>THREE MODELS VS. THE RULE</a:t>
            </a:r>
            <a:endParaRPr lang="en-US" sz="3400" dirty="0"/>
          </a:p>
        </p:txBody>
      </p:sp>
      <p:sp>
        <p:nvSpPr>
          <p:cNvPr id="3" name="Subtitle pill"/>
          <p:cNvSpPr txBox="1"/>
          <p:nvPr/>
        </p:nvSpPr>
        <p:spPr>
          <a:xfrm>
            <a:off x="3078328" y="1417320"/>
            <a:ext cx="6035040" cy="402336"/>
          </a:xfrm>
          <a:prstGeom prst="rect">
            <a:avLst/>
          </a:prstGeom>
          <a:solidFill>
            <a:srgbClr val="F6C9A0"/>
          </a:solidFill>
          <a:ln/>
        </p:spPr>
        <p:txBody>
          <a:bodyPr wrap="square" lIns="50800" tIns="50800" rIns="50800" bIns="50800" rtlCol="0" anchor="ctr"/>
          <a:lstStyle/>
          <a:p>
            <a:pPr algn="ctr" indent="0" marL="0">
              <a:buNone/>
            </a:pPr>
            <a:r>
              <a:rPr lang="en-US" sz="1400" spc="100" kern="0" dirty="0">
                <a:solidFill>
                  <a:schemeClr val="tx1"/>
                </a:solidFill>
              </a:rPr>
              <a:t>Five-fold cross-validation on 2021 to 2024: mean over the folds</a:t>
            </a:r>
            <a:endParaRPr lang="en-US" sz="1400" dirty="0"/>
          </a:p>
        </p:txBody>
      </p:sp>
      <p:graphicFrame>
        <p:nvGraphicFramePr>
          <p:cNvPr id="4" name="Chart models" descr=""/>
          <p:cNvGraphicFramePr/>
          <p:nvPr/>
        </p:nvGraphicFramePr>
        <p:xfrm>
          <a:off x="777240" y="1965960"/>
          <a:ext cx="6126480" cy="4069080"/>
        </p:xfrm>
        <a:graphic xmlns:a="http://schemas.openxmlformats.org/drawingml/2006/main">
          <a:graphicData uri="http://schemas.openxmlformats.org/drawingml/2006/chart">
            <c:chart xmlns:c="http://schemas.openxmlformats.org/drawingml/2006/chart" r:id="rId1"/>
          </a:graphicData>
        </a:graphic>
      </p:graphicFrame>
      <p:sp>
        <p:nvSpPr>
          <p:cNvPr id="5" name="Model Logistic Regression"/>
          <p:cNvSpPr/>
          <p:nvPr/>
        </p:nvSpPr>
        <p:spPr>
          <a:xfrm>
            <a:off x="7223760" y="2011680"/>
            <a:ext cx="4114800" cy="1188720"/>
          </a:xfrm>
          <a:prstGeom prst="rect">
            <a:avLst/>
          </a:prstGeom>
          <a:solidFill>
            <a:srgbClr val="FDEBDC"/>
          </a:solidFill>
          <a:ln/>
        </p:spPr>
      </p:sp>
      <p:sp>
        <p:nvSpPr>
          <p:cNvPr id="6" name="Text 3"/>
          <p:cNvSpPr txBox="1"/>
          <p:nvPr/>
        </p:nvSpPr>
        <p:spPr>
          <a:xfrm>
            <a:off x="7406640" y="2084832"/>
            <a:ext cx="2926080" cy="105156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Logistic Regression</a:t>
            </a:r>
            <a:pPr indent="0" marL="0">
              <a:buNone/>
            </a:pPr>
            <a:r>
              <a:rPr lang="en-US" sz="1200" dirty="0">
                <a:solidFill>
                  <a:srgbClr val="7A675C"/>
                </a:solidFill>
              </a:rPr>
              <a:t>   Harry</a:t>
            </a:r>
            <a:endParaRPr lang="en-US" sz="1800" dirty="0"/>
          </a:p>
          <a:p>
            <a:pPr indent="0" marL="0">
              <a:buNone/>
            </a:pPr>
            <a:r>
              <a:rPr lang="en-US" sz="1200" dirty="0">
                <a:solidFill>
                  <a:srgbClr val="7A675C"/>
                </a:solidFill>
              </a:rPr>
              <a:t>C = 10, no class weights</a:t>
            </a:r>
            <a:endParaRPr lang="en-US" sz="1800" dirty="0"/>
          </a:p>
          <a:p>
            <a:pPr indent="0" marL="0">
              <a:buNone/>
            </a:pPr>
            <a:r>
              <a:rPr lang="en-US" sz="1400" dirty="0">
                <a:solidFill>
                  <a:srgbClr val="2E1406"/>
                </a:solidFill>
              </a:rPr>
              <a:t>Most precise, but caught only 28% of Danger days.</a:t>
            </a:r>
            <a:endParaRPr lang="en-US" sz="1800" dirty="0"/>
          </a:p>
        </p:txBody>
      </p:sp>
      <p:sp>
        <p:nvSpPr>
          <p:cNvPr id="7" name="Model Random Forest"/>
          <p:cNvSpPr/>
          <p:nvPr/>
        </p:nvSpPr>
        <p:spPr>
          <a:xfrm>
            <a:off x="7223760" y="3310128"/>
            <a:ext cx="4114800" cy="1188720"/>
          </a:xfrm>
          <a:prstGeom prst="rect">
            <a:avLst/>
          </a:prstGeom>
          <a:solidFill>
            <a:srgbClr val="F6C9A0"/>
          </a:solidFill>
          <a:ln/>
        </p:spPr>
      </p:sp>
      <p:sp>
        <p:nvSpPr>
          <p:cNvPr id="8" name="Text 5"/>
          <p:cNvSpPr txBox="1"/>
          <p:nvPr/>
        </p:nvSpPr>
        <p:spPr>
          <a:xfrm>
            <a:off x="7406640" y="3383280"/>
            <a:ext cx="2926080" cy="105156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Random Forest</a:t>
            </a:r>
            <a:pPr indent="0" marL="0">
              <a:buNone/>
            </a:pPr>
            <a:r>
              <a:rPr lang="en-US" sz="1200" dirty="0">
                <a:solidFill>
                  <a:srgbClr val="7A675C"/>
                </a:solidFill>
              </a:rPr>
              <a:t>   Edrian</a:t>
            </a:r>
            <a:endParaRPr lang="en-US" sz="1800" dirty="0"/>
          </a:p>
          <a:p>
            <a:pPr indent="0" marL="0">
              <a:buNone/>
            </a:pPr>
            <a:r>
              <a:rPr lang="en-US" sz="1200" dirty="0">
                <a:solidFill>
                  <a:srgbClr val="7A675C"/>
                </a:solidFill>
              </a:rPr>
              <a:t>500 trees, depth 12, balanced weights</a:t>
            </a:r>
            <a:endParaRPr lang="en-US" sz="1800" dirty="0"/>
          </a:p>
          <a:p>
            <a:pPr indent="0" marL="0">
              <a:buNone/>
            </a:pPr>
            <a:r>
              <a:rPr lang="en-US" sz="1400" dirty="0">
                <a:solidFill>
                  <a:srgbClr val="2E1406"/>
                </a:solidFill>
              </a:rPr>
              <a:t>Best macro F1 of the three and 67% of Danger days caught.</a:t>
            </a:r>
            <a:endParaRPr lang="en-US" sz="1800" dirty="0"/>
          </a:p>
        </p:txBody>
      </p:sp>
      <p:sp>
        <p:nvSpPr>
          <p:cNvPr id="9" name="Selected tag"/>
          <p:cNvSpPr txBox="1"/>
          <p:nvPr/>
        </p:nvSpPr>
        <p:spPr>
          <a:xfrm>
            <a:off x="10241280" y="3419856"/>
            <a:ext cx="960120" cy="292608"/>
          </a:xfrm>
          <a:prstGeom prst="rect">
            <a:avLst/>
          </a:prstGeom>
          <a:solidFill>
            <a:srgbClr val="A63A0C"/>
          </a:solidFill>
          <a:ln/>
        </p:spPr>
        <p:txBody>
          <a:bodyPr wrap="square" lIns="0" tIns="0" rIns="0" bIns="0" rtlCol="0" anchor="ctr"/>
          <a:lstStyle/>
          <a:p>
            <a:pPr algn="ctr" indent="0" marL="0">
              <a:buNone/>
            </a:pPr>
            <a:r>
              <a:rPr lang="en-US" sz="1100" b="1" spc="100" kern="0" dirty="0">
                <a:solidFill>
                  <a:srgbClr val="FFFFFF"/>
                </a:solidFill>
              </a:rPr>
              <a:t>SELECTED</a:t>
            </a:r>
            <a:endParaRPr lang="en-US" sz="1100" dirty="0"/>
          </a:p>
        </p:txBody>
      </p:sp>
      <p:sp>
        <p:nvSpPr>
          <p:cNvPr id="10" name="Model Gradient Boosting"/>
          <p:cNvSpPr/>
          <p:nvPr/>
        </p:nvSpPr>
        <p:spPr>
          <a:xfrm>
            <a:off x="7223760" y="4608576"/>
            <a:ext cx="4114800" cy="1188720"/>
          </a:xfrm>
          <a:prstGeom prst="rect">
            <a:avLst/>
          </a:prstGeom>
          <a:solidFill>
            <a:srgbClr val="FDEBDC"/>
          </a:solidFill>
          <a:ln/>
        </p:spPr>
      </p:sp>
      <p:sp>
        <p:nvSpPr>
          <p:cNvPr id="11" name="Text 8"/>
          <p:cNvSpPr txBox="1"/>
          <p:nvPr/>
        </p:nvSpPr>
        <p:spPr>
          <a:xfrm>
            <a:off x="7406640" y="4681728"/>
            <a:ext cx="2926080" cy="1051560"/>
          </a:xfrm>
          <a:prstGeom prst="rect">
            <a:avLst/>
          </a:prstGeom>
          <a:noFill/>
          <a:ln/>
        </p:spPr>
        <p:txBody>
          <a:bodyPr wrap="square" lIns="0" tIns="0" rIns="0" bIns="0" rtlCol="0" anchor="t"/>
          <a:lstStyle/>
          <a:p>
            <a:pPr indent="0" marL="0">
              <a:buNone/>
            </a:pPr>
            <a:r>
              <a:rPr lang="en-US" sz="1800" b="1" dirty="0">
                <a:solidFill>
                  <a:srgbClr val="2E1406"/>
                </a:solidFill>
                <a:latin typeface="Cambria" pitchFamily="34" charset="0"/>
                <a:ea typeface="Cambria" pitchFamily="34" charset="-122"/>
                <a:cs typeface="Cambria" pitchFamily="34" charset="-120"/>
              </a:rPr>
              <a:t>Gradient Boosting</a:t>
            </a:r>
            <a:pPr indent="0" marL="0">
              <a:buNone/>
            </a:pPr>
            <a:r>
              <a:rPr lang="en-US" sz="1200" dirty="0">
                <a:solidFill>
                  <a:srgbClr val="7A675C"/>
                </a:solidFill>
              </a:rPr>
              <a:t>   Marc</a:t>
            </a:r>
            <a:endParaRPr lang="en-US" sz="1800" dirty="0"/>
          </a:p>
          <a:p>
            <a:pPr indent="0" marL="0">
              <a:buNone/>
            </a:pPr>
            <a:r>
              <a:rPr lang="en-US" sz="1200" dirty="0">
                <a:solidFill>
                  <a:srgbClr val="7A675C"/>
                </a:solidFill>
              </a:rPr>
              <a:t>200 trees, depth 2, balanced weights</a:t>
            </a:r>
            <a:endParaRPr lang="en-US" sz="1800" dirty="0"/>
          </a:p>
          <a:p>
            <a:pPr indent="0" marL="0">
              <a:buNone/>
            </a:pPr>
            <a:r>
              <a:rPr lang="en-US" sz="1400" dirty="0">
                <a:solidFill>
                  <a:srgbClr val="2E1406"/>
                </a:solidFill>
              </a:rPr>
              <a:t>Almost the same as Random Forest (0.643 vs 0.653).</a:t>
            </a:r>
            <a:endParaRPr lang="en-US" sz="18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indent="0" marL="0">
              <a:buNone/>
            </a:pPr>
            <a:r>
              <a:rPr lang="en-US" sz="3400" spc="500" kern="0" dirty="0">
                <a:solidFill>
                  <a:schemeClr val="tx1"/>
                </a:solidFill>
                <a:latin typeface="Cambria" pitchFamily="34" charset="0"/>
                <a:ea typeface="Cambria" pitchFamily="34" charset="-122"/>
                <a:cs typeface="Cambria" pitchFamily="34" charset="-120"/>
              </a:rPr>
              <a:t>FINAL TEST ON 2025</a:t>
            </a:r>
            <a:endParaRPr lang="en-US" sz="3400" dirty="0"/>
          </a:p>
        </p:txBody>
      </p:sp>
      <p:sp>
        <p:nvSpPr>
          <p:cNvPr id="3" name="Subtitle pill"/>
          <p:cNvSpPr txBox="1"/>
          <p:nvPr/>
        </p:nvSpPr>
        <p:spPr>
          <a:xfrm>
            <a:off x="3078328" y="1417320"/>
            <a:ext cx="6035040" cy="402336"/>
          </a:xfrm>
          <a:prstGeom prst="rect">
            <a:avLst/>
          </a:prstGeom>
          <a:solidFill>
            <a:srgbClr val="F6C9A0"/>
          </a:solidFill>
          <a:ln/>
        </p:spPr>
        <p:txBody>
          <a:bodyPr wrap="square" lIns="50800" tIns="50800" rIns="50800" bIns="50800" rtlCol="0" anchor="ctr"/>
          <a:lstStyle/>
          <a:p>
            <a:pPr algn="ctr" indent="0" marL="0">
              <a:buNone/>
            </a:pPr>
            <a:r>
              <a:rPr lang="en-US" sz="1400" spc="100" kern="0" dirty="0">
                <a:solidFill>
                  <a:schemeClr val="tx1"/>
                </a:solidFill>
              </a:rPr>
              <a:t>The selected Random Forest, run once on 365 untouched days</a:t>
            </a:r>
            <a:endParaRPr lang="en-US" sz="1400" dirty="0"/>
          </a:p>
        </p:txBody>
      </p:sp>
      <p:sp>
        <p:nvSpPr>
          <p:cNvPr id="4" name="Stat 84%"/>
          <p:cNvSpPr/>
          <p:nvPr/>
        </p:nvSpPr>
        <p:spPr>
          <a:xfrm>
            <a:off x="868680" y="2103120"/>
            <a:ext cx="3374136" cy="2468880"/>
          </a:xfrm>
          <a:prstGeom prst="rect">
            <a:avLst/>
          </a:prstGeom>
          <a:solidFill>
            <a:srgbClr val="FDEBDC"/>
          </a:solidFill>
          <a:ln/>
        </p:spPr>
      </p:sp>
      <p:sp>
        <p:nvSpPr>
          <p:cNvPr id="5" name="Text 3"/>
          <p:cNvSpPr txBox="1"/>
          <p:nvPr/>
        </p:nvSpPr>
        <p:spPr>
          <a:xfrm>
            <a:off x="1097280" y="2240280"/>
            <a:ext cx="2926080" cy="1143000"/>
          </a:xfrm>
          <a:prstGeom prst="rect">
            <a:avLst/>
          </a:prstGeom>
          <a:noFill/>
          <a:ln/>
        </p:spPr>
        <p:txBody>
          <a:bodyPr wrap="square" lIns="0" tIns="0" rIns="0" bIns="0" rtlCol="0" anchor="ctr"/>
          <a:lstStyle/>
          <a:p>
            <a:pPr indent="0" marL="0">
              <a:buNone/>
            </a:pPr>
            <a:r>
              <a:rPr lang="en-US" sz="6600" dirty="0">
                <a:solidFill>
                  <a:srgbClr val="C0392B"/>
                </a:solidFill>
                <a:latin typeface="Cambria" pitchFamily="34" charset="0"/>
                <a:ea typeface="Cambria" pitchFamily="34" charset="-122"/>
                <a:cs typeface="Cambria" pitchFamily="34" charset="-120"/>
              </a:rPr>
              <a:t>84%</a:t>
            </a:r>
            <a:endParaRPr lang="en-US" sz="6600" dirty="0"/>
          </a:p>
        </p:txBody>
      </p:sp>
      <p:sp>
        <p:nvSpPr>
          <p:cNvPr id="6" name="Text 4"/>
          <p:cNvSpPr txBox="1"/>
          <p:nvPr/>
        </p:nvSpPr>
        <p:spPr>
          <a:xfrm>
            <a:off x="1097280" y="3429000"/>
            <a:ext cx="2926080" cy="411480"/>
          </a:xfrm>
          <a:prstGeom prst="rect">
            <a:avLst/>
          </a:prstGeom>
          <a:noFill/>
          <a:ln/>
        </p:spPr>
        <p:txBody>
          <a:bodyPr wrap="square" lIns="0" tIns="0" rIns="0" bIns="0" rtlCol="0" anchor="t"/>
          <a:lstStyle/>
          <a:p>
            <a:pPr indent="0" marL="0">
              <a:buNone/>
            </a:pPr>
            <a:r>
              <a:rPr lang="en-US" sz="1700" b="1" dirty="0">
                <a:solidFill>
                  <a:srgbClr val="2E1406"/>
                </a:solidFill>
              </a:rPr>
              <a:t>of Danger days caught</a:t>
            </a:r>
            <a:endParaRPr lang="en-US" sz="1700" dirty="0"/>
          </a:p>
        </p:txBody>
      </p:sp>
      <p:sp>
        <p:nvSpPr>
          <p:cNvPr id="7" name="Text 5"/>
          <p:cNvSpPr txBox="1"/>
          <p:nvPr/>
        </p:nvSpPr>
        <p:spPr>
          <a:xfrm>
            <a:off x="1097280" y="3886200"/>
            <a:ext cx="2926080" cy="548640"/>
          </a:xfrm>
          <a:prstGeom prst="rect">
            <a:avLst/>
          </a:prstGeom>
          <a:noFill/>
          <a:ln/>
        </p:spPr>
        <p:txBody>
          <a:bodyPr wrap="square" lIns="0" tIns="0" rIns="0" bIns="0" rtlCol="0" anchor="t"/>
          <a:lstStyle/>
          <a:p>
            <a:pPr indent="0" marL="0">
              <a:buNone/>
            </a:pPr>
            <a:r>
              <a:rPr lang="en-US" sz="1300" dirty="0">
                <a:solidFill>
                  <a:srgbClr val="7A675C"/>
                </a:solidFill>
              </a:rPr>
              <a:t>293 of 347  ·  copy-today rule: 60%</a:t>
            </a:r>
            <a:endParaRPr lang="en-US" sz="1300" dirty="0"/>
          </a:p>
        </p:txBody>
      </p:sp>
      <p:sp>
        <p:nvSpPr>
          <p:cNvPr id="8" name="Stat 36%"/>
          <p:cNvSpPr/>
          <p:nvPr/>
        </p:nvSpPr>
        <p:spPr>
          <a:xfrm>
            <a:off x="4416552" y="2103120"/>
            <a:ext cx="3374136" cy="2468880"/>
          </a:xfrm>
          <a:prstGeom prst="rect">
            <a:avLst/>
          </a:prstGeom>
          <a:solidFill>
            <a:srgbClr val="FDEBDC"/>
          </a:solidFill>
          <a:ln/>
        </p:spPr>
      </p:sp>
      <p:sp>
        <p:nvSpPr>
          <p:cNvPr id="9" name="Text 7"/>
          <p:cNvSpPr txBox="1"/>
          <p:nvPr/>
        </p:nvSpPr>
        <p:spPr>
          <a:xfrm>
            <a:off x="4645152" y="2240280"/>
            <a:ext cx="2926080" cy="1143000"/>
          </a:xfrm>
          <a:prstGeom prst="rect">
            <a:avLst/>
          </a:prstGeom>
          <a:noFill/>
          <a:ln/>
        </p:spPr>
        <p:txBody>
          <a:bodyPr wrap="square" lIns="0" tIns="0" rIns="0" bIns="0" rtlCol="0" anchor="ctr"/>
          <a:lstStyle/>
          <a:p>
            <a:pPr indent="0" marL="0">
              <a:buNone/>
            </a:pPr>
            <a:r>
              <a:rPr lang="en-US" sz="6600" dirty="0">
                <a:solidFill>
                  <a:srgbClr val="A63A0C"/>
                </a:solidFill>
                <a:latin typeface="Cambria" pitchFamily="34" charset="0"/>
                <a:ea typeface="Cambria" pitchFamily="34" charset="-122"/>
                <a:cs typeface="Cambria" pitchFamily="34" charset="-120"/>
              </a:rPr>
              <a:t>36%</a:t>
            </a:r>
            <a:endParaRPr lang="en-US" sz="6600" dirty="0"/>
          </a:p>
        </p:txBody>
      </p:sp>
      <p:sp>
        <p:nvSpPr>
          <p:cNvPr id="10" name="Text 8"/>
          <p:cNvSpPr txBox="1"/>
          <p:nvPr/>
        </p:nvSpPr>
        <p:spPr>
          <a:xfrm>
            <a:off x="4645152" y="3429000"/>
            <a:ext cx="2926080" cy="411480"/>
          </a:xfrm>
          <a:prstGeom prst="rect">
            <a:avLst/>
          </a:prstGeom>
          <a:noFill/>
          <a:ln/>
        </p:spPr>
        <p:txBody>
          <a:bodyPr wrap="square" lIns="0" tIns="0" rIns="0" bIns="0" rtlCol="0" anchor="t"/>
          <a:lstStyle/>
          <a:p>
            <a:pPr indent="0" marL="0">
              <a:buNone/>
            </a:pPr>
            <a:r>
              <a:rPr lang="en-US" sz="1700" b="1" dirty="0">
                <a:solidFill>
                  <a:srgbClr val="2E1406"/>
                </a:solidFill>
              </a:rPr>
              <a:t>of Danger warnings right</a:t>
            </a:r>
            <a:endParaRPr lang="en-US" sz="1700" dirty="0"/>
          </a:p>
        </p:txBody>
      </p:sp>
      <p:sp>
        <p:nvSpPr>
          <p:cNvPr id="11" name="Text 9"/>
          <p:cNvSpPr txBox="1"/>
          <p:nvPr/>
        </p:nvSpPr>
        <p:spPr>
          <a:xfrm>
            <a:off x="4645152" y="3886200"/>
            <a:ext cx="2926080" cy="548640"/>
          </a:xfrm>
          <a:prstGeom prst="rect">
            <a:avLst/>
          </a:prstGeom>
          <a:noFill/>
          <a:ln/>
        </p:spPr>
        <p:txBody>
          <a:bodyPr wrap="square" lIns="0" tIns="0" rIns="0" bIns="0" rtlCol="0" anchor="t"/>
          <a:lstStyle/>
          <a:p>
            <a:pPr indent="0" marL="0">
              <a:buNone/>
            </a:pPr>
            <a:r>
              <a:rPr lang="en-US" sz="1300" dirty="0">
                <a:solidFill>
                  <a:srgbClr val="7A675C"/>
                </a:solidFill>
              </a:rPr>
              <a:t>293 of 816  ·  about 2 false alarms per hit</a:t>
            </a:r>
            <a:endParaRPr lang="en-US" sz="1300" dirty="0"/>
          </a:p>
        </p:txBody>
      </p:sp>
      <p:sp>
        <p:nvSpPr>
          <p:cNvPr id="12" name="Stat 0.614"/>
          <p:cNvSpPr/>
          <p:nvPr/>
        </p:nvSpPr>
        <p:spPr>
          <a:xfrm>
            <a:off x="7964424" y="2103120"/>
            <a:ext cx="3374136" cy="2468880"/>
          </a:xfrm>
          <a:prstGeom prst="rect">
            <a:avLst/>
          </a:prstGeom>
          <a:solidFill>
            <a:srgbClr val="FDEBDC"/>
          </a:solidFill>
          <a:ln/>
        </p:spPr>
      </p:sp>
      <p:sp>
        <p:nvSpPr>
          <p:cNvPr id="13" name="Text 11"/>
          <p:cNvSpPr txBox="1"/>
          <p:nvPr/>
        </p:nvSpPr>
        <p:spPr>
          <a:xfrm>
            <a:off x="8193024" y="2240280"/>
            <a:ext cx="2926080" cy="1143000"/>
          </a:xfrm>
          <a:prstGeom prst="rect">
            <a:avLst/>
          </a:prstGeom>
          <a:noFill/>
          <a:ln/>
        </p:spPr>
        <p:txBody>
          <a:bodyPr wrap="square" lIns="0" tIns="0" rIns="0" bIns="0" rtlCol="0" anchor="ctr"/>
          <a:lstStyle/>
          <a:p>
            <a:pPr indent="0" marL="0">
              <a:buNone/>
            </a:pPr>
            <a:r>
              <a:rPr lang="en-US" sz="6600" dirty="0">
                <a:solidFill>
                  <a:srgbClr val="2E1406"/>
                </a:solidFill>
                <a:latin typeface="Cambria" pitchFamily="34" charset="0"/>
                <a:ea typeface="Cambria" pitchFamily="34" charset="-122"/>
                <a:cs typeface="Cambria" pitchFamily="34" charset="-120"/>
              </a:rPr>
              <a:t>0.614</a:t>
            </a:r>
            <a:endParaRPr lang="en-US" sz="6600" dirty="0"/>
          </a:p>
        </p:txBody>
      </p:sp>
      <p:sp>
        <p:nvSpPr>
          <p:cNvPr id="14" name="Text 12"/>
          <p:cNvSpPr txBox="1"/>
          <p:nvPr/>
        </p:nvSpPr>
        <p:spPr>
          <a:xfrm>
            <a:off x="8193024" y="3429000"/>
            <a:ext cx="2926080" cy="411480"/>
          </a:xfrm>
          <a:prstGeom prst="rect">
            <a:avLst/>
          </a:prstGeom>
          <a:noFill/>
          <a:ln/>
        </p:spPr>
        <p:txBody>
          <a:bodyPr wrap="square" lIns="0" tIns="0" rIns="0" bIns="0" rtlCol="0" anchor="t"/>
          <a:lstStyle/>
          <a:p>
            <a:pPr indent="0" marL="0">
              <a:buNone/>
            </a:pPr>
            <a:r>
              <a:rPr lang="en-US" sz="1700" b="1" dirty="0">
                <a:solidFill>
                  <a:srgbClr val="2E1406"/>
                </a:solidFill>
              </a:rPr>
              <a:t>macro F1 (core 3 levels)</a:t>
            </a:r>
            <a:endParaRPr lang="en-US" sz="1700" dirty="0"/>
          </a:p>
        </p:txBody>
      </p:sp>
      <p:sp>
        <p:nvSpPr>
          <p:cNvPr id="15" name="Text 13"/>
          <p:cNvSpPr txBox="1"/>
          <p:nvPr/>
        </p:nvSpPr>
        <p:spPr>
          <a:xfrm>
            <a:off x="8193024" y="3886200"/>
            <a:ext cx="2926080" cy="548640"/>
          </a:xfrm>
          <a:prstGeom prst="rect">
            <a:avLst/>
          </a:prstGeom>
          <a:noFill/>
          <a:ln/>
        </p:spPr>
        <p:txBody>
          <a:bodyPr wrap="square" lIns="0" tIns="0" rIns="0" bIns="0" rtlCol="0" anchor="t"/>
          <a:lstStyle/>
          <a:p>
            <a:pPr indent="0" marL="0">
              <a:buNone/>
            </a:pPr>
            <a:r>
              <a:rPr lang="en-US" sz="1300" dirty="0">
                <a:solidFill>
                  <a:srgbClr val="7A675C"/>
                </a:solidFill>
              </a:rPr>
              <a:t>copy-today rule: 0.675  ·  accuracy 0.731 vs 0.824</a:t>
            </a:r>
            <a:endParaRPr lang="en-US" sz="1300" dirty="0"/>
          </a:p>
        </p:txBody>
      </p:sp>
      <p:sp>
        <p:nvSpPr>
          <p:cNvPr id="16" name="Takeaway"/>
          <p:cNvSpPr txBox="1"/>
          <p:nvPr/>
        </p:nvSpPr>
        <p:spPr>
          <a:xfrm>
            <a:off x="868680" y="4846320"/>
            <a:ext cx="10469880" cy="1005840"/>
          </a:xfrm>
          <a:prstGeom prst="rect">
            <a:avLst/>
          </a:prstGeom>
          <a:solidFill>
            <a:srgbClr val="2E1406"/>
          </a:solidFill>
          <a:ln/>
        </p:spPr>
        <p:txBody>
          <a:bodyPr wrap="square" lIns="228600" tIns="228600" rIns="228600" bIns="228600" rtlCol="0" anchor="ctr"/>
          <a:lstStyle/>
          <a:p>
            <a:pPr algn="ctr" indent="0" marL="0">
              <a:buNone/>
            </a:pPr>
            <a:r>
              <a:rPr lang="en-US" sz="2000" i="1" dirty="0">
                <a:solidFill>
                  <a:srgbClr val="FBF4EC"/>
                </a:solidFill>
                <a:latin typeface="Cambria" pitchFamily="34" charset="0"/>
                <a:ea typeface="Cambria" pitchFamily="34" charset="-122"/>
                <a:cs typeface="Cambria" pitchFamily="34" charset="-120"/>
              </a:rPr>
              <a:t>An early-warning aid, not a better all-round forecaster: it catches far more Danger days than the rule, at the price of more false alarms.</a:t>
            </a:r>
            <a:endParaRPr lang="en-US" sz="20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indent="0" marL="0">
              <a:buNone/>
            </a:pPr>
            <a:r>
              <a:rPr lang="en-US" sz="3400" spc="500" kern="0" dirty="0">
                <a:solidFill>
                  <a:schemeClr val="tx1"/>
                </a:solidFill>
                <a:latin typeface="Cambria" pitchFamily="34" charset="0"/>
                <a:ea typeface="Cambria" pitchFamily="34" charset="-122"/>
                <a:cs typeface="Cambria" pitchFamily="34" charset="-120"/>
              </a:rPr>
              <a:t>LIVE DEMO</a:t>
            </a:r>
            <a:endParaRPr lang="en-US" sz="3400" dirty="0"/>
          </a:p>
        </p:txBody>
      </p:sp>
      <p:sp>
        <p:nvSpPr>
          <p:cNvPr id="3" name="Subtitle pill"/>
          <p:cNvSpPr txBox="1"/>
          <p:nvPr/>
        </p:nvSpPr>
        <p:spPr>
          <a:xfrm>
            <a:off x="4267048" y="1417320"/>
            <a:ext cx="3657600" cy="402336"/>
          </a:xfrm>
          <a:prstGeom prst="rect">
            <a:avLst/>
          </a:prstGeom>
          <a:solidFill>
            <a:srgbClr val="F6C9A0"/>
          </a:solidFill>
          <a:ln/>
        </p:spPr>
        <p:txBody>
          <a:bodyPr wrap="square" lIns="50800" tIns="50800" rIns="50800" bIns="50800" rtlCol="0" anchor="ctr"/>
          <a:lstStyle/>
          <a:p>
            <a:pPr algn="ctr" indent="0" marL="0">
              <a:buNone/>
            </a:pPr>
            <a:r>
              <a:rPr lang="en-US" sz="1400" spc="100" kern="0" dirty="0">
                <a:solidFill>
                  <a:schemeClr val="tx1"/>
                </a:solidFill>
              </a:rPr>
              <a:t>heatcast-ncr.streamlit.app</a:t>
            </a:r>
            <a:endParaRPr lang="en-US" sz="1400" dirty="0"/>
          </a:p>
        </p:txBody>
      </p:sp>
      <p:sp>
        <p:nvSpPr>
          <p:cNvPr id="4" name="Step dot 1"/>
          <p:cNvSpPr/>
          <p:nvPr/>
        </p:nvSpPr>
        <p:spPr>
          <a:xfrm>
            <a:off x="868680" y="2148840"/>
            <a:ext cx="566928" cy="566928"/>
          </a:xfrm>
          <a:prstGeom prst="ellipse">
            <a:avLst/>
          </a:prstGeom>
          <a:solidFill>
            <a:srgbClr val="A63A0C"/>
          </a:solidFill>
          <a:ln/>
        </p:spPr>
      </p:sp>
      <p:sp>
        <p:nvSpPr>
          <p:cNvPr id="5" name="Text 3"/>
          <p:cNvSpPr txBox="1"/>
          <p:nvPr/>
        </p:nvSpPr>
        <p:spPr>
          <a:xfrm>
            <a:off x="868680" y="214884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1</a:t>
            </a:r>
            <a:endParaRPr lang="en-US" sz="2200" dirty="0"/>
          </a:p>
        </p:txBody>
      </p:sp>
      <p:sp>
        <p:nvSpPr>
          <p:cNvPr id="6" name="Step 1"/>
          <p:cNvSpPr txBox="1"/>
          <p:nvPr/>
        </p:nvSpPr>
        <p:spPr>
          <a:xfrm>
            <a:off x="1691640" y="2103120"/>
            <a:ext cx="5120640" cy="1051560"/>
          </a:xfrm>
          <a:prstGeom prst="rect">
            <a:avLst/>
          </a:prstGeom>
          <a:noFill/>
          <a:ln/>
        </p:spPr>
        <p:txBody>
          <a:bodyPr wrap="square" lIns="0" tIns="0" rIns="0" bIns="0" rtlCol="0" anchor="t"/>
          <a:lstStyle/>
          <a:p>
            <a:pPr indent="0" marL="0">
              <a:buNone/>
            </a:pPr>
            <a:r>
              <a:rPr lang="en-US" sz="1900" dirty="0">
                <a:solidFill>
                  <a:srgbClr val="2E1406"/>
                </a:solidFill>
                <a:latin typeface="Cambria" pitchFamily="34" charset="0"/>
                <a:ea typeface="Cambria" pitchFamily="34" charset="-122"/>
                <a:cs typeface="Cambria" pitchFamily="34" charset="-120"/>
              </a:rPr>
              <a:t>A hot day in Manila</a:t>
            </a:r>
            <a:endParaRPr lang="en-US" sz="1900" dirty="0"/>
          </a:p>
          <a:p>
            <a:pPr indent="0" marL="0">
              <a:buNone/>
            </a:pPr>
            <a:r>
              <a:rPr lang="en-US" sz="1400" dirty="0">
                <a:solidFill>
                  <a:srgbClr val="7A675C"/>
                </a:solidFill>
              </a:rPr>
              <a:t>Heat index 45.5 °C, lowest 29 °C, no rain, 1,008 hPa, 7,000 Wh/m²: Danger, about 90%</a:t>
            </a:r>
            <a:endParaRPr lang="en-US" sz="1900" dirty="0"/>
          </a:p>
        </p:txBody>
      </p:sp>
      <p:sp>
        <p:nvSpPr>
          <p:cNvPr id="7" name="Step dot 2"/>
          <p:cNvSpPr/>
          <p:nvPr/>
        </p:nvSpPr>
        <p:spPr>
          <a:xfrm>
            <a:off x="868680" y="3337560"/>
            <a:ext cx="566928" cy="566928"/>
          </a:xfrm>
          <a:prstGeom prst="ellipse">
            <a:avLst/>
          </a:prstGeom>
          <a:solidFill>
            <a:srgbClr val="A63A0C"/>
          </a:solidFill>
          <a:ln/>
        </p:spPr>
      </p:sp>
      <p:sp>
        <p:nvSpPr>
          <p:cNvPr id="8" name="Text 6"/>
          <p:cNvSpPr txBox="1"/>
          <p:nvPr/>
        </p:nvSpPr>
        <p:spPr>
          <a:xfrm>
            <a:off x="868680" y="333756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2</a:t>
            </a:r>
            <a:endParaRPr lang="en-US" sz="2200" dirty="0"/>
          </a:p>
        </p:txBody>
      </p:sp>
      <p:sp>
        <p:nvSpPr>
          <p:cNvPr id="9" name="Step 2"/>
          <p:cNvSpPr txBox="1"/>
          <p:nvPr/>
        </p:nvSpPr>
        <p:spPr>
          <a:xfrm>
            <a:off x="1691640" y="3291840"/>
            <a:ext cx="5120640" cy="1051560"/>
          </a:xfrm>
          <a:prstGeom prst="rect">
            <a:avLst/>
          </a:prstGeom>
          <a:noFill/>
          <a:ln/>
        </p:spPr>
        <p:txBody>
          <a:bodyPr wrap="square" lIns="0" tIns="0" rIns="0" bIns="0" rtlCol="0" anchor="t"/>
          <a:lstStyle/>
          <a:p>
            <a:pPr indent="0" marL="0">
              <a:buNone/>
            </a:pPr>
            <a:r>
              <a:rPr lang="en-US" sz="1900" dirty="0">
                <a:solidFill>
                  <a:srgbClr val="2E1406"/>
                </a:solidFill>
                <a:latin typeface="Cambria" pitchFamily="34" charset="0"/>
                <a:ea typeface="Cambria" pitchFamily="34" charset="-122"/>
                <a:cs typeface="Cambria" pitchFamily="34" charset="-120"/>
              </a:rPr>
              <a:t>An impossible value</a:t>
            </a:r>
            <a:endParaRPr lang="en-US" sz="1900" dirty="0"/>
          </a:p>
          <a:p>
            <a:pPr indent="0" marL="0">
              <a:buNone/>
            </a:pPr>
            <a:r>
              <a:rPr lang="en-US" sz="1400" dirty="0">
                <a:solidFill>
                  <a:srgbClr val="7A675C"/>
                </a:solidFill>
              </a:rPr>
              <a:t>Rain of −5 mm: an error with the accepted range, and no prediction</a:t>
            </a:r>
            <a:endParaRPr lang="en-US" sz="1900" dirty="0"/>
          </a:p>
        </p:txBody>
      </p:sp>
      <p:sp>
        <p:nvSpPr>
          <p:cNvPr id="10" name="Step dot 3"/>
          <p:cNvSpPr/>
          <p:nvPr/>
        </p:nvSpPr>
        <p:spPr>
          <a:xfrm>
            <a:off x="868680" y="4526280"/>
            <a:ext cx="566928" cy="566928"/>
          </a:xfrm>
          <a:prstGeom prst="ellipse">
            <a:avLst/>
          </a:prstGeom>
          <a:solidFill>
            <a:srgbClr val="A63A0C"/>
          </a:solidFill>
          <a:ln/>
        </p:spPr>
      </p:sp>
      <p:sp>
        <p:nvSpPr>
          <p:cNvPr id="11" name="Text 9"/>
          <p:cNvSpPr txBox="1"/>
          <p:nvPr/>
        </p:nvSpPr>
        <p:spPr>
          <a:xfrm>
            <a:off x="868680" y="4526280"/>
            <a:ext cx="566928" cy="566928"/>
          </a:xfrm>
          <a:prstGeom prst="rect">
            <a:avLst/>
          </a:prstGeom>
          <a:noFill/>
          <a:ln/>
        </p:spPr>
        <p:txBody>
          <a:bodyPr wrap="square" lIns="0" tIns="0" rIns="0" bIns="0" rtlCol="0" anchor="ctr"/>
          <a:lstStyle/>
          <a:p>
            <a:pPr algn="ctr" indent="0" marL="0">
              <a:buNone/>
            </a:pPr>
            <a:r>
              <a:rPr lang="en-US" sz="2200" dirty="0">
                <a:solidFill>
                  <a:srgbClr val="FFFFFF"/>
                </a:solidFill>
                <a:latin typeface="Cambria" pitchFamily="34" charset="0"/>
                <a:ea typeface="Cambria" pitchFamily="34" charset="-122"/>
                <a:cs typeface="Cambria" pitchFamily="34" charset="-120"/>
              </a:rPr>
              <a:t>3</a:t>
            </a:r>
            <a:endParaRPr lang="en-US" sz="2200" dirty="0"/>
          </a:p>
        </p:txBody>
      </p:sp>
      <p:sp>
        <p:nvSpPr>
          <p:cNvPr id="12" name="Step 3"/>
          <p:cNvSpPr txBox="1"/>
          <p:nvPr/>
        </p:nvSpPr>
        <p:spPr>
          <a:xfrm>
            <a:off x="1691640" y="4480560"/>
            <a:ext cx="5120640" cy="1051560"/>
          </a:xfrm>
          <a:prstGeom prst="rect">
            <a:avLst/>
          </a:prstGeom>
          <a:noFill/>
          <a:ln/>
        </p:spPr>
        <p:txBody>
          <a:bodyPr wrap="square" lIns="0" tIns="0" rIns="0" bIns="0" rtlCol="0" anchor="t"/>
          <a:lstStyle/>
          <a:p>
            <a:pPr indent="0" marL="0">
              <a:buNone/>
            </a:pPr>
            <a:r>
              <a:rPr lang="en-US" sz="1900" dirty="0">
                <a:solidFill>
                  <a:srgbClr val="2E1406"/>
                </a:solidFill>
                <a:latin typeface="Cambria" pitchFamily="34" charset="0"/>
                <a:ea typeface="Cambria" pitchFamily="34" charset="-122"/>
                <a:cs typeface="Cambria" pitchFamily="34" charset="-120"/>
              </a:rPr>
              <a:t>An empty form</a:t>
            </a:r>
            <a:endParaRPr lang="en-US" sz="1900" dirty="0"/>
          </a:p>
          <a:p>
            <a:pPr indent="0" marL="0">
              <a:buNone/>
            </a:pPr>
            <a:r>
              <a:rPr lang="en-US" sz="1400" dirty="0">
                <a:solidFill>
                  <a:srgbClr val="7A675C"/>
                </a:solidFill>
              </a:rPr>
              <a:t>Every missing value is named; nothing is filled in silently</a:t>
            </a:r>
            <a:endParaRPr lang="en-US" sz="1900" dirty="0"/>
          </a:p>
        </p:txBody>
      </p:sp>
      <p:sp>
        <p:nvSpPr>
          <p:cNvPr id="13" name="Text 11"/>
          <p:cNvSpPr txBox="1"/>
          <p:nvPr/>
        </p:nvSpPr>
        <p:spPr>
          <a:xfrm>
            <a:off x="868680" y="5715000"/>
            <a:ext cx="5943600" cy="502920"/>
          </a:xfrm>
          <a:prstGeom prst="rect">
            <a:avLst/>
          </a:prstGeom>
          <a:noFill/>
          <a:ln/>
        </p:spPr>
        <p:txBody>
          <a:bodyPr wrap="square" lIns="0" tIns="0" rIns="0" bIns="0" rtlCol="0" anchor="t"/>
          <a:lstStyle/>
          <a:p>
            <a:pPr indent="0" marL="0">
              <a:buNone/>
            </a:pPr>
            <a:r>
              <a:rPr lang="en-US" sz="1200" i="1" dirty="0">
                <a:solidFill>
                  <a:srgbClr val="7A675C"/>
                </a:solidFill>
              </a:rPr>
              <a:t>The app loads the saved Random Forest (the model we tested) and checks every input; 51 automated tests cover valid, invalid and boundary values.</a:t>
            </a:r>
            <a:endParaRPr lang="en-US" sz="1200" dirty="0"/>
          </a:p>
        </p:txBody>
      </p:sp>
      <p:pic>
        <p:nvPicPr>
          <p:cNvPr id="14" name="App screenshot" descr="Screenshot of the HeatCast NCR app: a Danger prediction for Manila, the map and the error messages">    </p:cNvPr>
          <p:cNvPicPr>
            <a:picLocks noChangeAspect="1"/>
          </p:cNvPicPr>
          <p:nvPr/>
        </p:nvPicPr>
        <p:blipFill>
          <a:blip r:embed="rId1"/>
          <a:stretch>
            <a:fillRect/>
          </a:stretch>
        </p:blipFill>
        <p:spPr>
          <a:xfrm>
            <a:off x="8212266" y="1965960"/>
            <a:ext cx="3126294" cy="4069080"/>
          </a:xfrm>
          <a:prstGeom prst="rect">
            <a:avLst/>
          </a:prstGeom>
        </p:spPr>
      </p:pic>
      <p:sp>
        <p:nvSpPr>
          <p:cNvPr id="15" name="Screenshot frame"/>
          <p:cNvSpPr/>
          <p:nvPr/>
        </p:nvSpPr>
        <p:spPr>
          <a:xfrm>
            <a:off x="8212266" y="1965960"/>
            <a:ext cx="3126294" cy="4069080"/>
          </a:xfrm>
          <a:prstGeom prst="rect">
            <a:avLst/>
          </a:prstGeom>
          <a:ln w="9525">
            <a:solidFill>
              <a:srgbClr val="E2CDBB"/>
            </a:solidFill>
            <a:prstDash val="solid"/>
          </a:ln>
        </p:spPr>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868680" y="640080"/>
            <a:ext cx="10469880" cy="685800"/>
          </a:xfrm>
          <a:prstGeom prst="rect">
            <a:avLst/>
          </a:prstGeom>
          <a:noFill/>
          <a:ln/>
        </p:spPr>
        <p:txBody>
          <a:bodyPr wrap="square" lIns="0" tIns="0" rIns="0" bIns="0" rtlCol="0" anchor="ctr"/>
          <a:lstStyle/>
          <a:p>
            <a:pPr indent="0" marL="0">
              <a:buNone/>
            </a:pPr>
            <a:r>
              <a:rPr lang="en-US" sz="3400" spc="500" kern="0" dirty="0">
                <a:solidFill>
                  <a:schemeClr val="tx1"/>
                </a:solidFill>
                <a:latin typeface="Cambria" pitchFamily="34" charset="0"/>
                <a:ea typeface="Cambria" pitchFamily="34" charset="-122"/>
                <a:cs typeface="Cambria" pitchFamily="34" charset="-120"/>
              </a:rPr>
              <a:t>CONCLUSION</a:t>
            </a:r>
            <a:endParaRPr lang="en-US" sz="3400" dirty="0"/>
          </a:p>
        </p:txBody>
      </p:sp>
      <p:sp>
        <p:nvSpPr>
          <p:cNvPr id="3" name="Subtitle pill"/>
          <p:cNvSpPr txBox="1"/>
          <p:nvPr/>
        </p:nvSpPr>
        <p:spPr>
          <a:xfrm>
            <a:off x="4632808" y="1417320"/>
            <a:ext cx="2926080" cy="402336"/>
          </a:xfrm>
          <a:prstGeom prst="rect">
            <a:avLst/>
          </a:prstGeom>
          <a:solidFill>
            <a:srgbClr val="F6C9A0"/>
          </a:solidFill>
          <a:ln/>
        </p:spPr>
        <p:txBody>
          <a:bodyPr wrap="square" lIns="50800" tIns="50800" rIns="50800" bIns="50800" rtlCol="0" anchor="ctr"/>
          <a:lstStyle/>
          <a:p>
            <a:pPr algn="ctr" indent="0" marL="0">
              <a:buNone/>
            </a:pPr>
            <a:r>
              <a:rPr lang="en-US" sz="1400" spc="100" kern="0" dirty="0">
                <a:solidFill>
                  <a:schemeClr val="tx1"/>
                </a:solidFill>
              </a:rPr>
              <a:t>What we learned</a:t>
            </a:r>
            <a:endParaRPr lang="en-US" sz="1400" dirty="0"/>
          </a:p>
        </p:txBody>
      </p:sp>
      <p:sp>
        <p:nvSpPr>
          <p:cNvPr id="4" name="Conclusion 01"/>
          <p:cNvSpPr/>
          <p:nvPr/>
        </p:nvSpPr>
        <p:spPr>
          <a:xfrm>
            <a:off x="868680" y="2103120"/>
            <a:ext cx="3374136" cy="3611880"/>
          </a:xfrm>
          <a:prstGeom prst="rect">
            <a:avLst/>
          </a:prstGeom>
          <a:solidFill>
            <a:srgbClr val="FDEBDC"/>
          </a:solidFill>
          <a:ln/>
        </p:spPr>
      </p:sp>
      <p:sp>
        <p:nvSpPr>
          <p:cNvPr id="5" name="Text 3"/>
          <p:cNvSpPr txBox="1"/>
          <p:nvPr/>
        </p:nvSpPr>
        <p:spPr>
          <a:xfrm>
            <a:off x="1143000"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01</a:t>
            </a:r>
            <a:endParaRPr lang="en-US" sz="4400" dirty="0"/>
          </a:p>
        </p:txBody>
      </p:sp>
      <p:sp>
        <p:nvSpPr>
          <p:cNvPr id="6" name="Text 4"/>
          <p:cNvSpPr txBox="1"/>
          <p:nvPr/>
        </p:nvSpPr>
        <p:spPr>
          <a:xfrm>
            <a:off x="1143000" y="3200400"/>
            <a:ext cx="2834640" cy="2377440"/>
          </a:xfrm>
          <a:prstGeom prst="rect">
            <a:avLst/>
          </a:prstGeom>
          <a:noFill/>
          <a:ln/>
        </p:spPr>
        <p:txBody>
          <a:bodyPr wrap="square" lIns="0" tIns="0" rIns="0" bIns="0" rtlCol="0" anchor="t"/>
          <a:lstStyle/>
          <a:p>
            <a:pPr indent="0" marL="0">
              <a:spcAft>
                <a:spcPts val="800"/>
              </a:spcAft>
              <a:buNone/>
            </a:pPr>
            <a:r>
              <a:rPr lang="en-US" sz="2000" dirty="0">
                <a:solidFill>
                  <a:srgbClr val="2E1406"/>
                </a:solidFill>
                <a:latin typeface="Cambria" pitchFamily="34" charset="0"/>
                <a:ea typeface="Cambria" pitchFamily="34" charset="-122"/>
                <a:cs typeface="Cambria" pitchFamily="34" charset="-120"/>
              </a:rPr>
              <a:t>The answer</a:t>
            </a:r>
            <a:endParaRPr lang="en-US" sz="2000" dirty="0"/>
          </a:p>
          <a:p>
            <a:pPr indent="0" marL="0">
              <a:spcAft>
                <a:spcPts val="800"/>
              </a:spcAft>
              <a:buNone/>
            </a:pPr>
            <a:r>
              <a:rPr lang="en-US" sz="1500" dirty="0">
                <a:solidFill>
                  <a:srgbClr val="2E1406"/>
                </a:solidFill>
              </a:rPr>
              <a:t>No model beat copying today's level on macro F1 or accuracy: tomorrow's heat is mostly today's heat.</a:t>
            </a:r>
            <a:endParaRPr lang="en-US" sz="2000" dirty="0"/>
          </a:p>
        </p:txBody>
      </p:sp>
      <p:sp>
        <p:nvSpPr>
          <p:cNvPr id="7" name="Conclusion 02"/>
          <p:cNvSpPr/>
          <p:nvPr/>
        </p:nvSpPr>
        <p:spPr>
          <a:xfrm>
            <a:off x="4416552" y="2103120"/>
            <a:ext cx="3374136" cy="3611880"/>
          </a:xfrm>
          <a:prstGeom prst="rect">
            <a:avLst/>
          </a:prstGeom>
          <a:solidFill>
            <a:srgbClr val="F6C9A0"/>
          </a:solidFill>
          <a:ln/>
        </p:spPr>
      </p:sp>
      <p:sp>
        <p:nvSpPr>
          <p:cNvPr id="8" name="Text 6"/>
          <p:cNvSpPr txBox="1"/>
          <p:nvPr/>
        </p:nvSpPr>
        <p:spPr>
          <a:xfrm>
            <a:off x="4690872"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02</a:t>
            </a:r>
            <a:endParaRPr lang="en-US" sz="4400" dirty="0"/>
          </a:p>
        </p:txBody>
      </p:sp>
      <p:sp>
        <p:nvSpPr>
          <p:cNvPr id="9" name="Text 7"/>
          <p:cNvSpPr txBox="1"/>
          <p:nvPr/>
        </p:nvSpPr>
        <p:spPr>
          <a:xfrm>
            <a:off x="4690872" y="3200400"/>
            <a:ext cx="2834640" cy="2377440"/>
          </a:xfrm>
          <a:prstGeom prst="rect">
            <a:avLst/>
          </a:prstGeom>
          <a:noFill/>
          <a:ln/>
        </p:spPr>
        <p:txBody>
          <a:bodyPr wrap="square" lIns="0" tIns="0" rIns="0" bIns="0" rtlCol="0" anchor="t"/>
          <a:lstStyle/>
          <a:p>
            <a:pPr indent="0" marL="0">
              <a:spcAft>
                <a:spcPts val="800"/>
              </a:spcAft>
              <a:buNone/>
            </a:pPr>
            <a:r>
              <a:rPr lang="en-US" sz="2000" dirty="0">
                <a:solidFill>
                  <a:srgbClr val="2E1406"/>
                </a:solidFill>
                <a:latin typeface="Cambria" pitchFamily="34" charset="0"/>
                <a:ea typeface="Cambria" pitchFamily="34" charset="-122"/>
                <a:cs typeface="Cambria" pitchFamily="34" charset="-120"/>
              </a:rPr>
              <a:t>What ML adds</a:t>
            </a:r>
            <a:endParaRPr lang="en-US" sz="2000" dirty="0"/>
          </a:p>
          <a:p>
            <a:pPr indent="0" marL="0">
              <a:spcAft>
                <a:spcPts val="800"/>
              </a:spcAft>
              <a:buNone/>
            </a:pPr>
            <a:r>
              <a:rPr lang="en-US" sz="1500" dirty="0">
                <a:solidFill>
                  <a:srgbClr val="2E1406"/>
                </a:solidFill>
              </a:rPr>
              <a:t>With balanced class weights, the Random Forest caught 84% of the 2025 Danger days, so we deployed it as an early-warning aid.</a:t>
            </a:r>
            <a:endParaRPr lang="en-US" sz="2000" dirty="0"/>
          </a:p>
        </p:txBody>
      </p:sp>
      <p:sp>
        <p:nvSpPr>
          <p:cNvPr id="10" name="Conclusion 03"/>
          <p:cNvSpPr/>
          <p:nvPr/>
        </p:nvSpPr>
        <p:spPr>
          <a:xfrm>
            <a:off x="7964424" y="2103120"/>
            <a:ext cx="3374136" cy="3611880"/>
          </a:xfrm>
          <a:prstGeom prst="rect">
            <a:avLst/>
          </a:prstGeom>
          <a:solidFill>
            <a:srgbClr val="FDEBDC"/>
          </a:solidFill>
          <a:ln/>
        </p:spPr>
      </p:sp>
      <p:sp>
        <p:nvSpPr>
          <p:cNvPr id="11" name="Text 9"/>
          <p:cNvSpPr txBox="1"/>
          <p:nvPr/>
        </p:nvSpPr>
        <p:spPr>
          <a:xfrm>
            <a:off x="8238744" y="2286000"/>
            <a:ext cx="1371600" cy="777240"/>
          </a:xfrm>
          <a:prstGeom prst="rect">
            <a:avLst/>
          </a:prstGeom>
          <a:noFill/>
          <a:ln/>
        </p:spPr>
        <p:txBody>
          <a:bodyPr wrap="square" lIns="0" tIns="0" rIns="0" bIns="0" rtlCol="0" anchor="t"/>
          <a:lstStyle/>
          <a:p>
            <a:pPr indent="0" marL="0">
              <a:buNone/>
            </a:pPr>
            <a:r>
              <a:rPr lang="en-US" sz="4400" dirty="0">
                <a:solidFill>
                  <a:srgbClr val="A63A0C"/>
                </a:solidFill>
                <a:latin typeface="Cambria" pitchFamily="34" charset="0"/>
                <a:ea typeface="Cambria" pitchFamily="34" charset="-122"/>
                <a:cs typeface="Cambria" pitchFamily="34" charset="-120"/>
              </a:rPr>
              <a:t>03</a:t>
            </a:r>
            <a:endParaRPr lang="en-US" sz="4400" dirty="0"/>
          </a:p>
        </p:txBody>
      </p:sp>
      <p:sp>
        <p:nvSpPr>
          <p:cNvPr id="12" name="Text 10"/>
          <p:cNvSpPr txBox="1"/>
          <p:nvPr/>
        </p:nvSpPr>
        <p:spPr>
          <a:xfrm>
            <a:off x="8238744" y="3200400"/>
            <a:ext cx="2834640" cy="2377440"/>
          </a:xfrm>
          <a:prstGeom prst="rect">
            <a:avLst/>
          </a:prstGeom>
          <a:noFill/>
          <a:ln/>
        </p:spPr>
        <p:txBody>
          <a:bodyPr wrap="square" lIns="0" tIns="0" rIns="0" bIns="0" rtlCol="0" anchor="t"/>
          <a:lstStyle/>
          <a:p>
            <a:pPr indent="0" marL="0">
              <a:spcAft>
                <a:spcPts val="800"/>
              </a:spcAft>
              <a:buNone/>
            </a:pPr>
            <a:r>
              <a:rPr lang="en-US" sz="2000" dirty="0">
                <a:solidFill>
                  <a:srgbClr val="2E1406"/>
                </a:solidFill>
                <a:latin typeface="Cambria" pitchFamily="34" charset="0"/>
                <a:ea typeface="Cambria" pitchFamily="34" charset="-122"/>
                <a:cs typeface="Cambria" pitchFamily="34" charset="-120"/>
              </a:rPr>
              <a:t>Limits and next steps</a:t>
            </a:r>
            <a:endParaRPr lang="en-US" sz="2000" dirty="0"/>
          </a:p>
          <a:p>
            <a:pPr indent="0" marL="0">
              <a:spcAft>
                <a:spcPts val="800"/>
              </a:spcAft>
              <a:buNone/>
            </a:pPr>
            <a:r>
              <a:rPr lang="en-US" sz="1500" dirty="0">
                <a:solidFill>
                  <a:srgbClr val="2E1406"/>
                </a:solidFill>
              </a:rPr>
              <a:t>Weather-model estimates, only five years. Next: month and recent-day inputs, a weather forecast input, more years, and a user-set Danger threshold.</a:t>
            </a:r>
            <a:endParaRPr lang="en-US" sz="2000" dirty="0"/>
          </a:p>
        </p:txBody>
      </p:sp>
      <p:sp>
        <p:nvSpPr>
          <p:cNvPr id="25" name="Slide Number Placeholder 0"/>
          <p:cNvSpPr>
            <a:spLocks noGrp="1"/>
          </p:cNvSpPr>
          <p:nvPr>
            <p:ph type="sldNum" sz="quarter" idx="4294967295"/>
          </p:nvPr>
        </p:nvSpPr>
        <p:spPr>
          <a:xfrm>
            <a:off x="10972800" y="6053328"/>
            <a:ext cx="50292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7A675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hank you"/>
          <p:cNvSpPr txBox="1"/>
          <p:nvPr/>
        </p:nvSpPr>
        <p:spPr>
          <a:xfrm>
            <a:off x="822960" y="2286000"/>
            <a:ext cx="10545775" cy="1097280"/>
          </a:xfrm>
          <a:prstGeom prst="rect">
            <a:avLst/>
          </a:prstGeom>
          <a:noFill/>
          <a:ln/>
        </p:spPr>
        <p:txBody>
          <a:bodyPr wrap="square" rtlCol="0" anchor="ctr"/>
          <a:lstStyle/>
          <a:p>
            <a:pPr algn="ctr" indent="0" marL="0">
              <a:buNone/>
            </a:pPr>
            <a:r>
              <a:rPr lang="en-US" sz="6600" spc="1600" kern="0" dirty="0">
                <a:solidFill>
                  <a:schemeClr val="tx1"/>
                </a:solidFill>
                <a:latin typeface="Cambria" pitchFamily="34" charset="0"/>
                <a:ea typeface="Cambria" pitchFamily="34" charset="-122"/>
                <a:cs typeface="Cambria" pitchFamily="34" charset="-120"/>
              </a:rPr>
              <a:t>THANK YOU</a:t>
            </a:r>
            <a:endParaRPr lang="en-US" sz="6600" dirty="0"/>
          </a:p>
        </p:txBody>
      </p:sp>
      <p:sp>
        <p:nvSpPr>
          <p:cNvPr id="3" name="Questions"/>
          <p:cNvSpPr txBox="1"/>
          <p:nvPr/>
        </p:nvSpPr>
        <p:spPr>
          <a:xfrm>
            <a:off x="822960" y="3383280"/>
            <a:ext cx="10545775" cy="640080"/>
          </a:xfrm>
          <a:prstGeom prst="rect">
            <a:avLst/>
          </a:prstGeom>
          <a:noFill/>
          <a:ln/>
        </p:spPr>
        <p:txBody>
          <a:bodyPr wrap="square" rtlCol="0" anchor="ctr"/>
          <a:lstStyle/>
          <a:p>
            <a:pPr algn="ctr" indent="0" marL="0">
              <a:buNone/>
            </a:pPr>
            <a:r>
              <a:rPr lang="en-US" sz="3000" i="1" dirty="0">
                <a:solidFill>
                  <a:srgbClr val="A63A0C"/>
                </a:solidFill>
                <a:latin typeface="Cambria" pitchFamily="34" charset="0"/>
                <a:ea typeface="Cambria" pitchFamily="34" charset="-122"/>
                <a:cs typeface="Cambria" pitchFamily="34" charset="-120"/>
              </a:rPr>
              <a:t>Questions?</a:t>
            </a:r>
            <a:endParaRPr lang="en-US" sz="3000" dirty="0"/>
          </a:p>
        </p:txBody>
      </p:sp>
      <p:sp>
        <p:nvSpPr>
          <p:cNvPr id="4" name="Links"/>
          <p:cNvSpPr txBox="1"/>
          <p:nvPr/>
        </p:nvSpPr>
        <p:spPr>
          <a:xfrm>
            <a:off x="2255368" y="4572000"/>
            <a:ext cx="7680960" cy="411480"/>
          </a:xfrm>
          <a:prstGeom prst="roundRect">
            <a:avLst>
              <a:gd name="adj" fmla="val 17778"/>
            </a:avLst>
          </a:prstGeom>
          <a:solidFill>
            <a:srgbClr val="FFFFFF"/>
          </a:solidFill>
          <a:ln/>
        </p:spPr>
        <p:txBody>
          <a:bodyPr wrap="square" rtlCol="0" anchor="ctr"/>
          <a:lstStyle/>
          <a:p>
            <a:pPr algn="ctr" indent="0" marL="0">
              <a:buNone/>
            </a:pPr>
            <a:r>
              <a:rPr lang="en-US" sz="1500" dirty="0">
                <a:solidFill>
                  <a:schemeClr val="tx1"/>
                </a:solidFill>
              </a:rPr>
              <a:t>heatcast-ncr.streamlit.app   ·   github.com/keyyum/heatcast-ncr-simple</a:t>
            </a:r>
            <a:endParaRPr lang="en-US" sz="1500" dirty="0"/>
          </a:p>
        </p:txBody>
      </p:sp>
    </p:spTree>
  </p:cSld>
  <p:clrMapOvr>
    <a:masterClrMapping/>
  </p:clrMapOvr>
</p:sld>
</file>

<file path=ppt/theme/theme1.xml><?xml version="1.0" encoding="utf-8"?>
<a:theme xmlns:a="http://schemas.openxmlformats.org/drawingml/2006/main" name="HeatCast NCR">
  <a:themeElements>
    <a:clrScheme name="HeatCast NCR">
      <a:dk1>
        <a:srgbClr val="2E1406"/>
      </a:dk1>
      <a:lt1>
        <a:srgbClr val="FFFFFF"/>
      </a:lt1>
      <a:dk2>
        <a:srgbClr val="A63A0C"/>
      </a:dk2>
      <a:lt2>
        <a:srgbClr val="FBF4EC"/>
      </a:lt2>
      <a:accent1>
        <a:srgbClr val="A63A0C"/>
      </a:accent1>
      <a:accent2>
        <a:srgbClr val="F28C28"/>
      </a:accent2>
      <a:accent3>
        <a:srgbClr val="F2C14E"/>
      </a:accent3>
      <a:accent4>
        <a:srgbClr val="C0392B"/>
      </a:accent4>
      <a:accent5>
        <a:srgbClr val="7A675C"/>
      </a:accent5>
      <a:accent6>
        <a:srgbClr val="4C9BE8"/>
      </a:accent6>
      <a:hlink>
        <a:srgbClr val="A63A0C"/>
      </a:hlink>
      <a:folHlink>
        <a:srgbClr val="7A675C"/>
      </a:folHlink>
    </a:clrScheme>
    <a:fontScheme name="HeatCast NC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HeatCast NCR</dc:title>
  <dc:subject>PptxGenJS Presentation</dc:subject>
  <dc:creator>Edrian Tala, Harry Verdeflor, Marc Lawrence David</dc:creator>
  <cp:lastModifiedBy>Edrian Tala, Harry Verdeflor, Marc Lawrence David</cp:lastModifiedBy>
  <cp:revision>1</cp:revision>
  <dcterms:created xsi:type="dcterms:W3CDTF">2026-10-14T15:41:09Z</dcterms:created>
  <dcterms:modified xsi:type="dcterms:W3CDTF">2026-10-14T15:41:09Z</dcterms:modified>
</cp:coreProperties>
</file>